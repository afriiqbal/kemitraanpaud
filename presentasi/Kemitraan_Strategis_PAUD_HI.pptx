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Persentase satuan PAUD</c:v>
                </c:pt>
              </c:strCache>
            </c:strRef>
          </c:tx>
          <c:spPr>
            <a:solidFill>
              <a:srgbClr val="2FA36B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375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A3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A3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A3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76C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76C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76C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871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0574B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Kelas orang tua</c:v>
                  </c:pt>
                  <c:pt idx="1">
                    <c:v>Pemantauan NIK</c:v>
                  </c:pt>
                  <c:pt idx="2">
                    <c:v>Penerapan PHBS</c:v>
                  </c:pt>
                  <c:pt idx="3">
                    <c:v>Pemantauan pertumbuhan</c:v>
                  </c:pt>
                  <c:pt idx="4">
                    <c:v>Pemantauan perkembangan</c:v>
                  </c:pt>
                  <c:pt idx="5">
                    <c:v>PMT &amp; makanan bergizi</c:v>
                  </c:pt>
                  <c:pt idx="6">
                    <c:v>Koordinasi lintas sektor</c:v>
                  </c:pt>
                  <c:pt idx="7">
                    <c:v>Sanitasi &amp; air bersih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98.59</c:v>
                </c:pt>
                <c:pt idx="1">
                  <c:v>95.86</c:v>
                </c:pt>
                <c:pt idx="2">
                  <c:v>94.75</c:v>
                </c:pt>
                <c:pt idx="3">
                  <c:v>90.84</c:v>
                </c:pt>
                <c:pt idx="4">
                  <c:v>89.12</c:v>
                </c:pt>
                <c:pt idx="5">
                  <c:v>86.94</c:v>
                </c:pt>
                <c:pt idx="6">
                  <c:v>75.46</c:v>
                </c:pt>
                <c:pt idx="7">
                  <c:v>8.95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7375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E5C7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1EB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93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pembuka. Sampaikan judul, tujuan besar sesi, dan ajak peserta melihat PAUD HI sebagai kerja bersama — bukan program tambahan.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alur lima bagian. Tekankan bahwa sesi ditutup dengan aksi nyata yang bisa langsung dikerjakan satuan.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Bacakan enam tujuan singkat. Minta peserta menandai satu tujuan yang paling mereka butuhkan.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Beri jeda 2 menit. Minta 2–3 peserta menjawab lisan. Jawaban mereka menjadi jangkar sepanjang sesi.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kontras: indikator berbasis kegiatan sudah di atas 85%, sementara sarana sanitasi baru 8,95%.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Hindari klaim angka yang tidak berdasar. Gunakan rumusan Perpres 60/2013: kualitas SDM ditentukan kualitas perkembangan anak usia dini.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Ajak peserta menandai hambatan mana yang paling terasa di satuan mereka.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tiga kata kunci: simultan, sistematis, terintegrasi. Ini yang membedakan PAUD HI dari kegiatan insidental.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Lima layanan esensial: pendidikan; kesehatan dan gizi; pengasuhan; perlindungan; kesejahteraan.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empat prinsip ini sebagai alat cek cepat saat menilai kegiatan di satuan.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Tidak perlu menghafal pasal. Cukup pahami: ada payung hukum yang mewajibkan koordinasi lintas sektor.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Bisa dijadikan kuis benar/salah interaktif: minta peserta angkat tangan sebelum jawaban dibuka.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peserta mencentang indikator yang sudah dan belum dipenuhi satuannya.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Fokuskan diskusi pada jurang antara indikator kegiatan dan indikator sarana fisik.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Bedakan kemitraan strategis dari bantuan insidental: ada rencana, kesepakatan, dan keberlanjutan.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Ajak peserta menyebut mitra yang sudah aktif dan mitra yang belum pernah dihubungi.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Delapan mitra ini bisa disesuaikan dengan konteks daerah masing-masing.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Trisentra: keluarga, satuan pendidikan, masyarakat. Semuanya perlu informasi yang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Tekankan: datang membawa data membuat mitra lebih mudah menyetujui kerja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 aturan penggunaan setiap sumber dana tetap mengikuti juknis yang berlaku.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peserta memilih satu pola yang paling mungkin dijalankan di satuannya bulan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Enam strategi ini saling menopang; mulai dari yang paling mungkin dikerjakan lebih dulu.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Dorong setiap satuan menetapkan tanggal dan nama penanggung jawab untuk setiap butir.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Lembar ini sejajar dengan 8 indikator PAUD HI sehingga langsung terhubung ke pelaporan Dapodik.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Sarankan satu format sederhana: satu halaman per semester berisi target, realisasi, dan tindak lanjut.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ajakan konkret: satu indikator, satu mitra, satu tanggal.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6-1.png"/><Relationship Id="rId3" Type="http://schemas.openxmlformats.org/officeDocument/2006/relationships/image" Target="../media/image-16-2.png"/><Relationship Id="rId4" Type="http://schemas.openxmlformats.org/officeDocument/2006/relationships/image" Target="../media/image-1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5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00491"/>
            <a:ext cx="12191695" cy="365750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95360" y="-1371600"/>
            <a:ext cx="5120640" cy="5120640"/>
          </a:xfrm>
          <a:prstGeom prst="ellipse">
            <a:avLst/>
          </a:prstGeom>
          <a:solidFill>
            <a:srgbClr val="1E76C8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-1463040" y="2011680"/>
            <a:ext cx="3108960" cy="3108960"/>
          </a:xfrm>
          <a:prstGeom prst="ellipse">
            <a:avLst/>
          </a:prstGeom>
          <a:solidFill>
            <a:srgbClr val="2FA36B">
              <a:alpha val="3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66928" y="50292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F5871F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502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PENGUATAN PAUD HI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6928" y="969264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Penguatan Kemitraan Strategis</a:t>
            </a:r>
            <a:endParaRPr lang="en-US" sz="36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PAUD Holistik Integratif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D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 Meningkatkan Mutu Layanan PAUD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66928" y="2761488"/>
            <a:ext cx="9729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5875">
            <a:solidFill>
              <a:srgbClr val="F587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2761488"/>
            <a:ext cx="97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Bagian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686154" y="2761488"/>
            <a:ext cx="972922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5875">
            <a:solidFill>
              <a:srgbClr val="2FA3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86154" y="2761488"/>
            <a:ext cx="97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Slide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05379" y="2761488"/>
            <a:ext cx="2765146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5875">
            <a:solidFill>
              <a:srgbClr val="1F9C9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05379" y="2761488"/>
            <a:ext cx="27651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Berbasis 8 Indikator PAUD HI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DCEDF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DCEDFB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PERJALANAN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Pembahasan Hari Ini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036003" cy="2395728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00784"/>
            <a:ext cx="603504" cy="603504"/>
          </a:xfrm>
          <a:prstGeom prst="ellipse">
            <a:avLst>
              <a:gd name="adj" fmla="val 18182"/>
            </a:avLst>
          </a:prstGeom>
          <a:solidFill>
            <a:srgbClr val="1E76C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01" y="1845625"/>
            <a:ext cx="313822" cy="3138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61683" y="16824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E76C8">
                    <a:alpha val="3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22960" y="2432304"/>
            <a:ext cx="15239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Ini Mendesak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2980944"/>
            <a:ext cx="15239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Potret layanan, urgensi usia dini, dan tantangan nyata di lapangan.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822387" y="1481328"/>
            <a:ext cx="2036003" cy="2395728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78419" y="1700784"/>
            <a:ext cx="603504" cy="603504"/>
          </a:xfrm>
          <a:prstGeom prst="ellipse">
            <a:avLst>
              <a:gd name="adj" fmla="val 18182"/>
            </a:avLst>
          </a:prstGeom>
          <a:solidFill>
            <a:srgbClr val="2FA3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260" y="1845625"/>
            <a:ext cx="313822" cy="31382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17142" y="16824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FA36B">
                    <a:alpha val="3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3078419" y="2432304"/>
            <a:ext cx="15239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PAUD HI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078419" y="2980944"/>
            <a:ext cx="15239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Definisi, lima layanan esensial, prinsip, regulasi, dan 8 indikator.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077846" y="1481328"/>
            <a:ext cx="2036003" cy="2395728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33878" y="1700784"/>
            <a:ext cx="603504" cy="603504"/>
          </a:xfrm>
          <a:prstGeom prst="ellipse">
            <a:avLst>
              <a:gd name="adj" fmla="val 18182"/>
            </a:avLst>
          </a:prstGeom>
          <a:solidFill>
            <a:srgbClr val="F5871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719" y="1845625"/>
            <a:ext cx="313822" cy="31382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72601" y="16824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5871F">
                    <a:alpha val="3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5333878" y="2432304"/>
            <a:ext cx="15239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5333878" y="2980944"/>
            <a:ext cx="15239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Konsep, pemangku kepentingan, trisentra, dan tahapan membangun mitra.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333305" y="1481328"/>
            <a:ext cx="2036003" cy="2395728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589337" y="1700784"/>
            <a:ext cx="603504" cy="603504"/>
          </a:xfrm>
          <a:prstGeom prst="ellipse">
            <a:avLst>
              <a:gd name="adj" fmla="val 18182"/>
            </a:avLst>
          </a:prstGeom>
          <a:solidFill>
            <a:srgbClr val="7A66B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178" y="1845625"/>
            <a:ext cx="313822" cy="31382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528060" y="16824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7A66B8">
                    <a:alpha val="3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7589337" y="2432304"/>
            <a:ext cx="15239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Baik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589337" y="2980944"/>
            <a:ext cx="15239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Pembelajaran nyata dari satuan PAUD dan faktor kunci keberhasilannya.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9588764" y="1481328"/>
            <a:ext cx="2036003" cy="2395728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9844796" y="1700784"/>
            <a:ext cx="603504" cy="603504"/>
          </a:xfrm>
          <a:prstGeom prst="ellipse">
            <a:avLst>
              <a:gd name="adj" fmla="val 18182"/>
            </a:avLst>
          </a:prstGeom>
          <a:solidFill>
            <a:srgbClr val="1F9C9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9637" y="1845625"/>
            <a:ext cx="313822" cy="31382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783519" y="16824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F9C9C">
                    <a:alpha val="3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34" name="Text 27"/>
          <p:cNvSpPr/>
          <p:nvPr/>
        </p:nvSpPr>
        <p:spPr>
          <a:xfrm>
            <a:off x="9844796" y="2432304"/>
            <a:ext cx="15239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&amp; Aksi Nyata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9844796" y="2980944"/>
            <a:ext cx="152393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 mutu, rencana 30–60–90 hari, lembar aksi, dan monitoring.</a:t>
            </a:r>
            <a:endParaRPr lang="en-US" sz="11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9887" y="3950208"/>
            <a:ext cx="4754880" cy="2377440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566928" y="4224528"/>
            <a:ext cx="5577840" cy="1463040"/>
          </a:xfrm>
          <a:prstGeom prst="roundRect">
            <a:avLst>
              <a:gd name="adj" fmla="val 8750"/>
            </a:avLst>
          </a:prstGeom>
          <a:solidFill>
            <a:srgbClr val="DCEDFB"/>
          </a:solidFill>
          <a:ln w="12700">
            <a:solidFill>
              <a:srgbClr val="B9DBF6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8" name="Text 30"/>
          <p:cNvSpPr/>
          <p:nvPr/>
        </p:nvSpPr>
        <p:spPr>
          <a:xfrm>
            <a:off x="877824" y="44074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benang merah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877824" y="4718304"/>
            <a:ext cx="4956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 layanan PAUD tidak dibangun sendirian. Setiap bagian sesi ini bergerak dari “memahami” menuju “melakukan bersama mitra”.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E3F6E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E3F6E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SESI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Akan Kita Capai Bersama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828800"/>
            <a:ext cx="548640" cy="548640"/>
          </a:xfrm>
          <a:prstGeom prst="ellipse">
            <a:avLst>
              <a:gd name="adj" fmla="val 20000"/>
            </a:avLst>
          </a:prstGeom>
          <a:solidFill>
            <a:srgbClr val="1E76C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196047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1664208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urgensi kemitraan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81328" y="2103120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satuan PAUD tidak bisa bekerja sendirian.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023360" y="1517904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61104" y="1828800"/>
            <a:ext cx="548640" cy="548640"/>
          </a:xfrm>
          <a:prstGeom prst="ellipse">
            <a:avLst>
              <a:gd name="adj" fmla="val 20000"/>
            </a:avLst>
          </a:prstGeom>
          <a:solidFill>
            <a:srgbClr val="2FA3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778" y="196047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37760" y="1664208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Menguasai konsep PAUD HI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37760" y="2103120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layanan esensial dan prinsip penyelenggaraannya.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66928" y="2926080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" y="3236976"/>
            <a:ext cx="548640" cy="548640"/>
          </a:xfrm>
          <a:prstGeom prst="ellipse">
            <a:avLst>
              <a:gd name="adj" fmla="val 20000"/>
            </a:avLst>
          </a:prstGeom>
          <a:solidFill>
            <a:srgbClr val="F5871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6" y="3368650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81328" y="3072384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Mengenali peran mitra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481328" y="3511296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berbuat apa dalam ekosistem layanan anak usia dini.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023360" y="2926080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261104" y="3236976"/>
            <a:ext cx="548640" cy="548640"/>
          </a:xfrm>
          <a:prstGeom prst="ellipse">
            <a:avLst>
              <a:gd name="adj" fmla="val 20000"/>
            </a:avLst>
          </a:prstGeom>
          <a:solidFill>
            <a:srgbClr val="7A66B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778" y="3368650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937760" y="3072384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dari praktik baik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937760" y="3511296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yang terbukti berjalan di satuan PAUD.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66928" y="4334256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4672" y="4645152"/>
            <a:ext cx="548640" cy="548640"/>
          </a:xfrm>
          <a:prstGeom prst="ellipse">
            <a:avLst>
              <a:gd name="adj" fmla="val 20000"/>
            </a:avLst>
          </a:prstGeom>
          <a:solidFill>
            <a:srgbClr val="1F9C9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6" y="4776826"/>
            <a:ext cx="285293" cy="28529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481328" y="448056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strategi mutu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481328" y="4919472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peningkatan layanan berbasis data.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023360" y="4334256"/>
            <a:ext cx="32004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261104" y="4645152"/>
            <a:ext cx="548640" cy="548640"/>
          </a:xfrm>
          <a:prstGeom prst="ellipse">
            <a:avLst>
              <a:gd name="adj" fmla="val 20000"/>
            </a:avLst>
          </a:prstGeom>
          <a:solidFill>
            <a:srgbClr val="E0574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2778" y="4776826"/>
            <a:ext cx="285293" cy="28529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937760" y="4480560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Merumuskan aksi nyata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4937760" y="4919472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30–60–90 hari yang siap dijalankan.</a:t>
            </a:r>
            <a:endParaRPr lang="en-US" sz="11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2926080"/>
            <a:ext cx="4114800" cy="260604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498080" y="16459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7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“Anak belajar paling baik ketika seluruh kebutuhannya terpenuhi — bukan hanya kebutuhan belajarnya.”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DCEDF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DCEDFB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REFLEKSI PEMBUKA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 Berhenti Sejenak dan Bertanya</a:t>
            </a:r>
            <a:endParaRPr lang="en-US" sz="3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393192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645920"/>
            <a:ext cx="6595567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285232" y="1956816"/>
            <a:ext cx="566928" cy="566928"/>
          </a:xfrm>
          <a:prstGeom prst="ellipse">
            <a:avLst/>
          </a:prstGeom>
          <a:solidFill>
            <a:srgbClr val="1E76C8"/>
          </a:solidFill>
          <a:ln/>
        </p:spPr>
      </p:sp>
      <p:sp>
        <p:nvSpPr>
          <p:cNvPr id="9" name="Text 6"/>
          <p:cNvSpPr/>
          <p:nvPr/>
        </p:nvSpPr>
        <p:spPr>
          <a:xfrm>
            <a:off x="5285232" y="1956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035040" y="1828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anak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35040" y="2139696"/>
            <a:ext cx="5166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Sudahkah anak di satuan kita terpenuhi kebutuhan pendidikan, kesehatan, gizi, pengasuhan, dan perlindungannya?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0" y="3035808"/>
            <a:ext cx="6595567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285232" y="3346704"/>
            <a:ext cx="566928" cy="566928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4" name="Text 11"/>
          <p:cNvSpPr/>
          <p:nvPr/>
        </p:nvSpPr>
        <p:spPr>
          <a:xfrm>
            <a:off x="5285232" y="3346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6035040" y="32186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mitra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35040" y="3529584"/>
            <a:ext cx="5166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mitra yang sudah bekerja bersama kita hari ini — dan siapa yang belum tersentuh sama sekali?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0" y="4425696"/>
            <a:ext cx="6595567" cy="1207008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285232" y="4736592"/>
            <a:ext cx="566928" cy="566928"/>
          </a:xfrm>
          <a:prstGeom prst="ellipse">
            <a:avLst/>
          </a:prstGeom>
          <a:solidFill>
            <a:srgbClr val="F5871F"/>
          </a:solidFill>
          <a:ln/>
        </p:spPr>
      </p:sp>
      <p:sp>
        <p:nvSpPr>
          <p:cNvPr id="19" name="Text 16"/>
          <p:cNvSpPr/>
          <p:nvPr/>
        </p:nvSpPr>
        <p:spPr>
          <a:xfrm>
            <a:off x="5285232" y="47365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035040" y="46085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terdekat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035040" y="4919472"/>
            <a:ext cx="5166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satu hal yang bisa kita perbaiki bulan depan tanpa menunggu anggaran baru?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4C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4464" y="4023360"/>
            <a:ext cx="6002767" cy="2834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85216" y="47548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6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566928" y="1572768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Kemitraan dan PAUD HI Mendesak?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66928" y="2706624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Potret layanan PAUD Indonesia, urgensi periode usia dini, dan tantangan yang dihadapi satuan.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DCEDF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DCEDFB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POTRET NASIONAL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Mana Posisi Layanan PAUD Kita?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615184" cy="2139696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4592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7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206.708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" y="230428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satuan PAUD di Indonesia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6384" y="263347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layanan terbesar untuk anak usia dini.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481328"/>
            <a:ext cx="2615184" cy="2139696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02736" y="164592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+18.819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602736" y="230428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satuan naik capaiannya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02736" y="263347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Memenuhi minimal 6 dari 8 indikator sepanjang 2025 (+9,84%).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9632" y="1481328"/>
            <a:ext cx="2615184" cy="2139696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19088" y="164592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5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8,95%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19088" y="230428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sanitasi &amp; air bersih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19088" y="263347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Indikator dengan pemenuhan terendah secara nasional.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15984" y="1481328"/>
            <a:ext cx="2615184" cy="2139696"/>
          </a:xfrm>
          <a:prstGeom prst="roundRect">
            <a:avLst>
              <a:gd name="adj" fmla="val 5983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35440" y="164592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1,05%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235440" y="230428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belum memutakhirkan data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35440" y="2633472"/>
            <a:ext cx="21762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2.175 satuan belum melaporkan capaian PAUD HI di Dapodik.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7876" y="3794760"/>
            <a:ext cx="2978331" cy="260604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66928" y="3886200"/>
            <a:ext cx="7772400" cy="2011680"/>
          </a:xfrm>
          <a:prstGeom prst="roundRect">
            <a:avLst>
              <a:gd name="adj" fmla="val 6364"/>
            </a:avLst>
          </a:prstGeom>
          <a:solidFill>
            <a:srgbClr val="DCEDFB"/>
          </a:solidFill>
          <a:ln w="12700">
            <a:solidFill>
              <a:srgbClr val="B9DBF6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96112" y="4078224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artinya bagi satuan PAUD?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896112" y="4443984"/>
            <a:ext cx="7040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nasional bergerak naik — momentum ini perlu dijaga dari tingkat satuan.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Ketimpangan antarindikator sangat lebar: layanan “lunak” tinggi, sarana fisik tertinggal jauh.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Sanitasi dan air bersih tidak bisa diselesaikan sekolah sendirian — di sinilah kemitraan bekerja.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66928" y="61447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Dapodik, cut off 31 Desember 2025 — Direktorat Pendidikan Anak Usia Dini.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E3F6E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E3F6E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URGENSI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 Dini adalah Fondasi Kualitas SDM</a:t>
            </a:r>
            <a:endParaRPr lang="en-US" sz="3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17904"/>
            <a:ext cx="384048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94960" y="1554480"/>
            <a:ext cx="6229807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32704" y="1792224"/>
            <a:ext cx="548640" cy="548640"/>
          </a:xfrm>
          <a:prstGeom prst="ellipse">
            <a:avLst>
              <a:gd name="adj" fmla="val 20000"/>
            </a:avLst>
          </a:prstGeom>
          <a:solidFill>
            <a:srgbClr val="2FA3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378" y="1923898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45936" y="17190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Periode yang tidak terulang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345936" y="2029968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Perkembangan anak sejak janin sampai usia 6 tahun menentukan kualitas SDM di masa depan.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394960" y="2724912"/>
            <a:ext cx="6229807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32704" y="2962656"/>
            <a:ext cx="548640" cy="548640"/>
          </a:xfrm>
          <a:prstGeom prst="ellipse">
            <a:avLst>
              <a:gd name="adj" fmla="val 20000"/>
            </a:avLst>
          </a:prstGeom>
          <a:solidFill>
            <a:srgbClr val="1E76C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378" y="3094330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45936" y="28895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berjalan serentak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345936" y="3200400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Gizi, kesehatan, pengasuhan, perlindungan, dan stimulasi harus dipenuhi secara simultan.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394960" y="3895344"/>
            <a:ext cx="6229807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632704" y="4133088"/>
            <a:ext cx="548640" cy="548640"/>
          </a:xfrm>
          <a:prstGeom prst="ellipse">
            <a:avLst>
              <a:gd name="adj" fmla="val 20000"/>
            </a:avLst>
          </a:prstGeom>
          <a:solidFill>
            <a:srgbClr val="F5871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378" y="4264762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45936" y="40599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Mencegah lebih murah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345936" y="4370832"/>
            <a:ext cx="4800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Intervensi dini jauh lebih hemat dibanding memperbaiki keterlambatan di usia sekolah.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66928" y="4956048"/>
            <a:ext cx="3503066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9050">
            <a:solidFill>
              <a:srgbClr val="1E76C8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804672" y="5084064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7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 tahun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04672" y="5394960"/>
            <a:ext cx="30458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Hari Pertama Kehidupan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44314" y="4956048"/>
            <a:ext cx="3503066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9050">
            <a:solidFill>
              <a:srgbClr val="2FA36B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4582058" y="5084064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tahun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4582058" y="5394960"/>
            <a:ext cx="30458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Perluasan stimulasi &amp; sosialisasi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8121701" y="4956048"/>
            <a:ext cx="3503066" cy="969264"/>
          </a:xfrm>
          <a:prstGeom prst="roundRect">
            <a:avLst>
              <a:gd name="adj" fmla="val 13208"/>
            </a:avLst>
          </a:prstGeom>
          <a:solidFill>
            <a:srgbClr val="FFFFFF"/>
          </a:solidFill>
          <a:ln w="19050">
            <a:solidFill>
              <a:srgbClr val="F5871F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359445" y="5084064"/>
            <a:ext cx="3045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tahun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8359445" y="5394960"/>
            <a:ext cx="30458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 layanan PAUD &amp; kesiapan sekolah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566928" y="61447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Rujukan: Perpres No. 60 Tahun 2013 tentang Pengembangan Anak Usia Dini Holistik Integratif.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FFF1E0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FFF1E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Hambatan yang Paling Sering Ditemui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3529584" cy="140817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828800"/>
            <a:ext cx="603504" cy="603504"/>
          </a:xfrm>
          <a:prstGeom prst="ellipse">
            <a:avLst>
              <a:gd name="adj" fmla="val 18182"/>
            </a:avLst>
          </a:prstGeom>
          <a:solidFill>
            <a:srgbClr val="1E76C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513" y="1973641"/>
            <a:ext cx="313822" cy="3138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99616" y="17007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masih terfragmentasi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499616" y="2176272"/>
            <a:ext cx="2359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Pendidikan, kesehatan, dan gizi berjalan sendiri-sendiri; jadwal dan data tidak saling terhubung.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52544" y="1517904"/>
            <a:ext cx="3529584" cy="140817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0288" y="1828800"/>
            <a:ext cx="603504" cy="603504"/>
          </a:xfrm>
          <a:prstGeom prst="ellipse">
            <a:avLst>
              <a:gd name="adj" fmla="val 18182"/>
            </a:avLst>
          </a:prstGeom>
          <a:solidFill>
            <a:srgbClr val="E0574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129" y="1973641"/>
            <a:ext cx="313822" cy="31382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85232" y="17007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Sarana dasar belum terpenuhi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285232" y="2176272"/>
            <a:ext cx="2359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Sanitasi dan air bersih baru dipenuhi 8,95% satuan — kebutuhan yang melampaui kemampuan sekolah.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66928" y="3163824"/>
            <a:ext cx="3529584" cy="140817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" y="3474720"/>
            <a:ext cx="603504" cy="603504"/>
          </a:xfrm>
          <a:prstGeom prst="ellipse">
            <a:avLst>
              <a:gd name="adj" fmla="val 18182"/>
            </a:avLst>
          </a:prstGeom>
          <a:solidFill>
            <a:srgbClr val="F5871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513" y="3619561"/>
            <a:ext cx="313822" cy="31382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99616" y="33467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Kapasitas pendidik terbatas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499616" y="3822192"/>
            <a:ext cx="2359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diposisikan sebagai penghubung PAUD HI, namun belum semua memperoleh penguatan kapasitas.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352544" y="3163824"/>
            <a:ext cx="3529584" cy="140817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90288" y="3474720"/>
            <a:ext cx="603504" cy="603504"/>
          </a:xfrm>
          <a:prstGeom prst="ellipse">
            <a:avLst>
              <a:gd name="adj" fmla="val 18182"/>
            </a:avLst>
          </a:prstGeom>
          <a:solidFill>
            <a:srgbClr val="7A66B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5129" y="3619561"/>
            <a:ext cx="313822" cy="31382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85232" y="33467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Koordinasi &amp; data belum rutin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285232" y="3822192"/>
            <a:ext cx="23591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Koordinasi lintas sektor baru 75,46%; pemutakhiran data capaian belum menjadi kebiasaan.</a:t>
            </a:r>
            <a:endParaRPr lang="en-US" sz="11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7479" y="1572768"/>
            <a:ext cx="3447288" cy="265176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66928" y="4590288"/>
            <a:ext cx="11057839" cy="1298448"/>
          </a:xfrm>
          <a:prstGeom prst="roundRect">
            <a:avLst>
              <a:gd name="adj" fmla="val 9859"/>
            </a:avLst>
          </a:prstGeom>
          <a:solidFill>
            <a:srgbClr val="FFF1E0"/>
          </a:solidFill>
          <a:ln w="12700">
            <a:solidFill>
              <a:srgbClr val="FFD9B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896112" y="47365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6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Benang merahnya sama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896112" y="5047488"/>
            <a:ext cx="1039947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Keempat hambatan di atas tidak dapat diselesaikan oleh satuan PAUD sendirian. Semuanya bermuara pada satu kebutuhan yang sama: kemitraan yang terencana, tercatat, dan berkelanjutan dengan pihak di luar sekolah.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6B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1600" y="4023360"/>
            <a:ext cx="3968496" cy="2834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85216" y="47548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6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566928" y="1572768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PAUD Holistik Integratif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66928" y="2706624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Definisi, lima layanan esensial, prinsip penyelenggaraan, kerangka regulasi, dan delapan indikator di satuan PAUD.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E3F6E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E3F6E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PAUD Holistik Integratif?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6675120" cy="2139696"/>
          </a:xfrm>
          <a:prstGeom prst="roundRect">
            <a:avLst>
              <a:gd name="adj" fmla="val 5983"/>
            </a:avLst>
          </a:prstGeom>
          <a:solidFill>
            <a:srgbClr val="E3F6EC"/>
          </a:solidFill>
          <a:ln w="12700">
            <a:solidFill>
              <a:srgbClr val="BCE8D1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5564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7373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Upaya pengembangan anak usia dini yang dilakukan untuk memenuhi kebutuhan esensial anak yang beragam dan saling terkait secara simultan, sistematis, dan terintegrasi.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63040" y="30540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Perpres No. 60 Tahun 2013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66928" y="3840480"/>
            <a:ext cx="667512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3986784"/>
            <a:ext cx="493776" cy="493776"/>
          </a:xfrm>
          <a:prstGeom prst="ellipse">
            <a:avLst>
              <a:gd name="adj" fmla="val 22222"/>
            </a:avLst>
          </a:prstGeom>
          <a:solidFill>
            <a:srgbClr val="1E76C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178" y="4105290"/>
            <a:ext cx="256764" cy="2567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950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852928" y="3950208"/>
            <a:ext cx="4261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anak dipenuhi pada waktu yang bersamaan, tidak bergiliran.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66928" y="4736592"/>
            <a:ext cx="667512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4882896"/>
            <a:ext cx="493776" cy="493776"/>
          </a:xfrm>
          <a:prstGeom prst="ellipse">
            <a:avLst>
              <a:gd name="adj" fmla="val 22222"/>
            </a:avLst>
          </a:prstGeom>
          <a:solidFill>
            <a:srgbClr val="F5871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178" y="5001402"/>
            <a:ext cx="256764" cy="2567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4846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Sistematis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2852928" y="4846320"/>
            <a:ext cx="4261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perencanaan, penanggung jawab, jadwal, dan pencatatan yang jelas.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66928" y="5632704"/>
            <a:ext cx="667512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4672" y="5779008"/>
            <a:ext cx="493776" cy="493776"/>
          </a:xfrm>
          <a:prstGeom prst="ellipse">
            <a:avLst>
              <a:gd name="adj" fmla="val 22222"/>
            </a:avLst>
          </a:prstGeom>
          <a:solidFill>
            <a:srgbClr val="7A66B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178" y="5897514"/>
            <a:ext cx="256764" cy="2567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5742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6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Terintegrasi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2852928" y="5742432"/>
            <a:ext cx="4261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pendidikan menyatu dengan layanan kesehatan, gizi, dan perlindungan.</a:t>
            </a:r>
            <a:endParaRPr lang="en-US" sz="11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8799" y="1737360"/>
            <a:ext cx="4315968" cy="308283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08799" y="4892040"/>
            <a:ext cx="4315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7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PAUD HI bukan program tambahan, melainkan cara satuan PAUD memandang dan melayani anak secara utuh.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DCEDF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DCEDFB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 LINGKUP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Layanan Esensial untuk Setiap Anak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2036003" cy="2487168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2594" y="1773936"/>
            <a:ext cx="804672" cy="804672"/>
          </a:xfrm>
          <a:prstGeom prst="ellipse">
            <a:avLst/>
          </a:prstGeom>
          <a:solidFill>
            <a:srgbClr val="1E76C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618" y="1965960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2743200"/>
            <a:ext cx="17433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49808" y="3090672"/>
            <a:ext cx="167024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Stimulasi dan pembelajaran bermakna melalui bermain.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22387" y="1517904"/>
            <a:ext cx="2036003" cy="2487168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38053" y="1773936"/>
            <a:ext cx="804672" cy="804672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077" y="1965960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68691" y="2743200"/>
            <a:ext cx="17433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Kesehatan &amp; Gizi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005267" y="3090672"/>
            <a:ext cx="167024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Pemantauan tumbuh kembang, PHBS, dan makanan bergizi.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77846" y="1517904"/>
            <a:ext cx="2036003" cy="2487168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93512" y="1773936"/>
            <a:ext cx="804672" cy="804672"/>
          </a:xfrm>
          <a:prstGeom prst="ellipse">
            <a:avLst/>
          </a:prstGeom>
          <a:solidFill>
            <a:srgbClr val="F5871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536" y="1965960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24150" y="2743200"/>
            <a:ext cx="17433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Pengasuhan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5260726" y="3090672"/>
            <a:ext cx="167024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Penguatan peran orang tua dan pengasuhan positif di rumah.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333305" y="1517904"/>
            <a:ext cx="2036003" cy="2487168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948971" y="1773936"/>
            <a:ext cx="804672" cy="804672"/>
          </a:xfrm>
          <a:prstGeom prst="ellipse">
            <a:avLst/>
          </a:prstGeom>
          <a:solidFill>
            <a:srgbClr val="7A66B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995" y="1965960"/>
            <a:ext cx="420624" cy="42062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79609" y="2743200"/>
            <a:ext cx="17433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Perlindungan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516185" y="3090672"/>
            <a:ext cx="167024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Lingkungan aman, bebas kekerasan, dan ramah anak.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9588764" y="1517904"/>
            <a:ext cx="2036003" cy="2487168"/>
          </a:xfrm>
          <a:prstGeom prst="roundRect">
            <a:avLst>
              <a:gd name="adj" fmla="val 6288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204430" y="1773936"/>
            <a:ext cx="804672" cy="804672"/>
          </a:xfrm>
          <a:prstGeom prst="ellipse">
            <a:avLst/>
          </a:prstGeom>
          <a:solidFill>
            <a:srgbClr val="1F9C9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6454" y="1965960"/>
            <a:ext cx="420624" cy="4206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735068" y="2743200"/>
            <a:ext cx="174339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Kesejahteraan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9771644" y="3090672"/>
            <a:ext cx="167024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Kepemilikan identitas dan akses bantuan bagi anak rentan.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566928" y="4261104"/>
            <a:ext cx="6766560" cy="1463040"/>
          </a:xfrm>
          <a:prstGeom prst="roundRect">
            <a:avLst>
              <a:gd name="adj" fmla="val 8750"/>
            </a:avLst>
          </a:prstGeom>
          <a:solidFill>
            <a:srgbClr val="DCEDFB"/>
          </a:solidFill>
          <a:ln w="12700">
            <a:solidFill>
              <a:srgbClr val="B9DBF6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2" name="Text 25"/>
          <p:cNvSpPr/>
          <p:nvPr/>
        </p:nvSpPr>
        <p:spPr>
          <a:xfrm>
            <a:off x="896112" y="444398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anak, tanpa terkecuali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896112" y="4754880"/>
            <a:ext cx="60899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Kelima layanan ini melekat pada setiap anak usia dini — termasuk anak dengan disabilitas, anak dari keluarga rentan, dan anak yang belum memiliki dokumen kependudukan. Satuan PAUD memastikan tidak ada anak yang terlewat.</a:t>
            </a:r>
            <a:endParaRPr lang="en-US" sz="12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4224528"/>
            <a:ext cx="1590185" cy="151790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189720" y="4425696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 pendidikan menjadi rumah kedua bagi anak — tempat layanan esensial lainnya ikut didorong pemenuhannya melalui koordinasi lintas sektor.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F0EBFA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F0EBF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6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Prinsip Penyelenggaraan PAUD HI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29184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847088"/>
            <a:ext cx="621792" cy="621792"/>
          </a:xfrm>
          <a:prstGeom prst="ellipse">
            <a:avLst>
              <a:gd name="adj" fmla="val 17647"/>
            </a:avLst>
          </a:prstGeom>
          <a:solidFill>
            <a:srgbClr val="1E76C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190" y="1996318"/>
            <a:ext cx="323332" cy="3233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72768" y="18105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72768" y="2157984"/>
            <a:ext cx="20665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Memperhatikan seluruh kebutuhan anak — fisik, kognitif, sosial, emosional, dan spiritual.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33088" y="1572768"/>
            <a:ext cx="329184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0" y="1847088"/>
            <a:ext cx="621792" cy="621792"/>
          </a:xfrm>
          <a:prstGeom prst="ellipse">
            <a:avLst>
              <a:gd name="adj" fmla="val 17647"/>
            </a:avLst>
          </a:prstGeom>
          <a:solidFill>
            <a:srgbClr val="2FA3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350" y="1996318"/>
            <a:ext cx="323332" cy="3233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38928" y="18105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Integratif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138928" y="2157984"/>
            <a:ext cx="20665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Terpadu antar layanan dan antar sektor, bukan kegiatan yang berdiri sendiri.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66928" y="3218688"/>
            <a:ext cx="329184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3493008"/>
            <a:ext cx="621792" cy="621792"/>
          </a:xfrm>
          <a:prstGeom prst="ellipse">
            <a:avLst>
              <a:gd name="adj" fmla="val 17647"/>
            </a:avLst>
          </a:prstGeom>
          <a:solidFill>
            <a:srgbClr val="F5871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90" y="3642238"/>
            <a:ext cx="323332" cy="3233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72768" y="34564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Kolaboratif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572768" y="3803904"/>
            <a:ext cx="20665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Bersama orang tua, masyarakat, pemerintah daerah, dan mitra pembangunan.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133088" y="3218688"/>
            <a:ext cx="329184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389120" y="3493008"/>
            <a:ext cx="621792" cy="621792"/>
          </a:xfrm>
          <a:prstGeom prst="ellipse">
            <a:avLst>
              <a:gd name="adj" fmla="val 17647"/>
            </a:avLst>
          </a:prstGeom>
          <a:solidFill>
            <a:srgbClr val="7A66B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8350" y="3642238"/>
            <a:ext cx="323332" cy="3233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38928" y="34564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6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Berkualitas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138928" y="3803904"/>
            <a:ext cx="20665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terbaik dan berkesinambungan, bukan sekadar memenuhi administrasi.</a:t>
            </a:r>
            <a:endParaRPr lang="en-US" sz="11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5974" y="1554480"/>
            <a:ext cx="3391593" cy="310896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66928" y="4626864"/>
            <a:ext cx="11057839" cy="1060704"/>
          </a:xfrm>
          <a:prstGeom prst="roundRect">
            <a:avLst>
              <a:gd name="adj" fmla="val 12069"/>
            </a:avLst>
          </a:prstGeom>
          <a:solidFill>
            <a:srgbClr val="F0EBFA"/>
          </a:solidFill>
          <a:ln w="12700">
            <a:solidFill>
              <a:srgbClr val="DED4F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896112" y="4864608"/>
            <a:ext cx="1039947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Keempat prinsip ini menjadi ukuran sederhana: bila satu layanan berjalan tanpa yang lain, atau berjalan tanpa mitra, penyelenggaraan kita belum benar-benar holistik integratif.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DCEDF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DCEDFB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LANDASAN HUKUM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Regulasi yang Mendasari PAUD HI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599560" y="2212848"/>
            <a:ext cx="8992575" cy="0"/>
          </a:xfrm>
          <a:prstGeom prst="line">
            <a:avLst/>
          </a:prstGeom>
          <a:noFill/>
          <a:ln w="31750">
            <a:solidFill>
              <a:srgbClr val="E1EBF3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215512" y="1828800"/>
            <a:ext cx="768096" cy="768096"/>
          </a:xfrm>
          <a:prstGeom prst="ellipse">
            <a:avLst/>
          </a:prstGeom>
          <a:solidFill>
            <a:srgbClr val="1E76C8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8392" y="2011680"/>
            <a:ext cx="402336" cy="402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" y="2798064"/>
            <a:ext cx="2065264" cy="2286000"/>
          </a:xfrm>
          <a:prstGeom prst="roundRect">
            <a:avLst>
              <a:gd name="adj" fmla="val 619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9808" y="2944368"/>
            <a:ext cx="169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7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 No. 20/2003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31520" y="3273552"/>
            <a:ext cx="173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Pendidikan Nasional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9808" y="3840480"/>
            <a:ext cx="169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PAUD sebagai bagian utuh sistem pendidikan nasional.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63656" y="1828800"/>
            <a:ext cx="768096" cy="768096"/>
          </a:xfrm>
          <a:prstGeom prst="ellipse">
            <a:avLst/>
          </a:prstGeom>
          <a:solidFill>
            <a:srgbClr val="2FA36B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536" y="2011680"/>
            <a:ext cx="402336" cy="40233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815072" y="2798064"/>
            <a:ext cx="2065264" cy="2286000"/>
          </a:xfrm>
          <a:prstGeom prst="roundRect">
            <a:avLst>
              <a:gd name="adj" fmla="val 619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2997952" y="2944368"/>
            <a:ext cx="169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Perpres No. 60/2013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2979664" y="3273552"/>
            <a:ext cx="173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PAUD Holistik Integratif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997952" y="3840480"/>
            <a:ext cx="169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Payung utama: kebutuhan esensial anak dipenuhi secara simultan dan terintegrasi.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711800" y="1828800"/>
            <a:ext cx="768096" cy="768096"/>
          </a:xfrm>
          <a:prstGeom prst="ellipse">
            <a:avLst/>
          </a:prstGeom>
          <a:solidFill>
            <a:srgbClr val="F5871F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680" y="2011680"/>
            <a:ext cx="402336" cy="40233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063216" y="2798064"/>
            <a:ext cx="2065264" cy="2286000"/>
          </a:xfrm>
          <a:prstGeom prst="roundRect">
            <a:avLst>
              <a:gd name="adj" fmla="val 619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5246096" y="2944368"/>
            <a:ext cx="169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Permenko PMK No. 1/2019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5227808" y="3273552"/>
            <a:ext cx="173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Gugus Tugas PAUD HI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246096" y="3840480"/>
            <a:ext cx="169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Kemendikdasmen sebagai sub gugus tugas bidang pendidikan.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959943" y="1828800"/>
            <a:ext cx="768096" cy="768096"/>
          </a:xfrm>
          <a:prstGeom prst="ellipse">
            <a:avLst/>
          </a:prstGeom>
          <a:solidFill>
            <a:srgbClr val="E0574B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823" y="2011680"/>
            <a:ext cx="402336" cy="402336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311360" y="2798064"/>
            <a:ext cx="2065264" cy="2286000"/>
          </a:xfrm>
          <a:prstGeom prst="roundRect">
            <a:avLst>
              <a:gd name="adj" fmla="val 619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7494240" y="2944368"/>
            <a:ext cx="169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05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Perpres No. 72/2021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7475952" y="3273552"/>
            <a:ext cx="173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Percepatan Penurunan Stunting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7494240" y="3840480"/>
            <a:ext cx="169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 pendidikan berkontribusi melalui intervensi sensitif.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10208087" y="1828800"/>
            <a:ext cx="768096" cy="768096"/>
          </a:xfrm>
          <a:prstGeom prst="ellipse">
            <a:avLst/>
          </a:prstGeom>
          <a:solidFill>
            <a:srgbClr val="7A66B8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0967" y="2011680"/>
            <a:ext cx="402336" cy="402336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9559503" y="2798064"/>
            <a:ext cx="2065264" cy="2286000"/>
          </a:xfrm>
          <a:prstGeom prst="roundRect">
            <a:avLst>
              <a:gd name="adj" fmla="val 619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9742383" y="2944368"/>
            <a:ext cx="169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A6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PAUD HI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9724095" y="3273552"/>
            <a:ext cx="173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Bidang Pendidikan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9742383" y="3840480"/>
            <a:ext cx="1699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Akses, kualitas layanan, dan kompetensi pendidik sebagai penghubung.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566928" y="526694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Regulasi menegaskan satu hal: PAUD HI adalah kerja bersama lintas sektor, bukan tugas satu instansi.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FDECEA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FDECE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5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LURUSKAN DULU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Miskonsepsi yang Sering Terjadi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1463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5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350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773936"/>
            <a:ext cx="5029200" cy="896112"/>
          </a:xfrm>
          <a:prstGeom prst="roundRect">
            <a:avLst>
              <a:gd name="adj" fmla="val 14286"/>
            </a:avLst>
          </a:prstGeom>
          <a:solidFill>
            <a:srgbClr val="FDECEA"/>
          </a:solidFill>
          <a:ln w="12700">
            <a:solidFill>
              <a:srgbClr val="F6D6D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048256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61872" y="190195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PAUD HI adalah salah satu jenis lembaga PAUD.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05856" y="2084832"/>
            <a:ext cx="274320" cy="274320"/>
          </a:xfrm>
          <a:prstGeom prst="rightArrow">
            <a:avLst/>
          </a:prstGeom>
          <a:solidFill>
            <a:srgbClr val="7A93A8"/>
          </a:solidFill>
          <a:ln/>
        </p:spPr>
      </p:sp>
      <p:sp>
        <p:nvSpPr>
          <p:cNvPr id="12" name="Shape 9"/>
          <p:cNvSpPr/>
          <p:nvPr/>
        </p:nvSpPr>
        <p:spPr>
          <a:xfrm>
            <a:off x="6035040" y="1773936"/>
            <a:ext cx="5589727" cy="896112"/>
          </a:xfrm>
          <a:prstGeom prst="roundRect">
            <a:avLst>
              <a:gd name="adj" fmla="val 14286"/>
            </a:avLst>
          </a:prstGeom>
          <a:solidFill>
            <a:srgbClr val="E3F6EC"/>
          </a:solidFill>
          <a:ln w="12700">
            <a:solidFill>
              <a:srgbClr val="BCE8D1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204825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29984" y="1883664"/>
            <a:ext cx="471190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PAUD HI adalah pendekatan layanan yang dijalankan semua satuan PAUD — bukan jenis lembaga baru.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66928" y="2798064"/>
            <a:ext cx="5029200" cy="896112"/>
          </a:xfrm>
          <a:prstGeom prst="roundRect">
            <a:avLst>
              <a:gd name="adj" fmla="val 14286"/>
            </a:avLst>
          </a:prstGeom>
          <a:solidFill>
            <a:srgbClr val="FDECEA"/>
          </a:solidFill>
          <a:ln w="12700">
            <a:solidFill>
              <a:srgbClr val="F6D6D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307238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61872" y="29260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PAUD HI adalah label atau predikat sekolah.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705856" y="3108960"/>
            <a:ext cx="274320" cy="274320"/>
          </a:xfrm>
          <a:prstGeom prst="rightArrow">
            <a:avLst/>
          </a:prstGeom>
          <a:solidFill>
            <a:srgbClr val="7A93A8"/>
          </a:solidFill>
          <a:ln/>
        </p:spPr>
      </p:sp>
      <p:sp>
        <p:nvSpPr>
          <p:cNvPr id="19" name="Shape 14"/>
          <p:cNvSpPr/>
          <p:nvPr/>
        </p:nvSpPr>
        <p:spPr>
          <a:xfrm>
            <a:off x="6035040" y="2798064"/>
            <a:ext cx="5589727" cy="896112"/>
          </a:xfrm>
          <a:prstGeom prst="roundRect">
            <a:avLst>
              <a:gd name="adj" fmla="val 14286"/>
            </a:avLst>
          </a:prstGeom>
          <a:solidFill>
            <a:srgbClr val="E3F6EC"/>
          </a:solidFill>
          <a:ln w="12700">
            <a:solidFill>
              <a:srgbClr val="BCE8D1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3072384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29984" y="2907792"/>
            <a:ext cx="471190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PAUD HI bukan label; ia terlihat dari praktik pemenuhan kebutuhan esensial anak sehari-hari.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66928" y="3822192"/>
            <a:ext cx="5029200" cy="896112"/>
          </a:xfrm>
          <a:prstGeom prst="roundRect">
            <a:avLst>
              <a:gd name="adj" fmla="val 14286"/>
            </a:avLst>
          </a:prstGeom>
          <a:solidFill>
            <a:srgbClr val="FDECEA"/>
          </a:solidFill>
          <a:ln w="12700">
            <a:solidFill>
              <a:srgbClr val="F6D6D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096512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61872" y="395020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PAUD HI hanya tugas dinas pendidikan.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5705856" y="4133088"/>
            <a:ext cx="274320" cy="274320"/>
          </a:xfrm>
          <a:prstGeom prst="rightArrow">
            <a:avLst/>
          </a:prstGeom>
          <a:solidFill>
            <a:srgbClr val="7A93A8"/>
          </a:solidFill>
          <a:ln/>
        </p:spPr>
      </p:sp>
      <p:sp>
        <p:nvSpPr>
          <p:cNvPr id="26" name="Shape 19"/>
          <p:cNvSpPr/>
          <p:nvPr/>
        </p:nvSpPr>
        <p:spPr>
          <a:xfrm>
            <a:off x="6035040" y="3822192"/>
            <a:ext cx="5589727" cy="896112"/>
          </a:xfrm>
          <a:prstGeom prst="roundRect">
            <a:avLst>
              <a:gd name="adj" fmla="val 14286"/>
            </a:avLst>
          </a:prstGeom>
          <a:solidFill>
            <a:srgbClr val="E3F6EC"/>
          </a:solidFill>
          <a:ln w="12700">
            <a:solidFill>
              <a:srgbClr val="BCE8D1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4096512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29984" y="3931920"/>
            <a:ext cx="471190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PAUD HI dijalankan lintas sektor: kesehatan, sosial, dukcapil, desa, dan masyarakat.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566928" y="4846320"/>
            <a:ext cx="5029200" cy="896112"/>
          </a:xfrm>
          <a:prstGeom prst="roundRect">
            <a:avLst>
              <a:gd name="adj" fmla="val 14286"/>
            </a:avLst>
          </a:prstGeom>
          <a:solidFill>
            <a:srgbClr val="FDECEA"/>
          </a:solidFill>
          <a:ln w="12700">
            <a:solidFill>
              <a:srgbClr val="F6D6D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5120640"/>
            <a:ext cx="347472" cy="34747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261872" y="497433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PAUD HI menjadi tugas utama guru.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5705856" y="5157216"/>
            <a:ext cx="274320" cy="274320"/>
          </a:xfrm>
          <a:prstGeom prst="rightArrow">
            <a:avLst/>
          </a:prstGeom>
          <a:solidFill>
            <a:srgbClr val="7A93A8"/>
          </a:solidFill>
          <a:ln/>
        </p:spPr>
      </p:sp>
      <p:sp>
        <p:nvSpPr>
          <p:cNvPr id="33" name="Shape 24"/>
          <p:cNvSpPr/>
          <p:nvPr/>
        </p:nvSpPr>
        <p:spPr>
          <a:xfrm>
            <a:off x="6035040" y="4846320"/>
            <a:ext cx="5589727" cy="896112"/>
          </a:xfrm>
          <a:prstGeom prst="roundRect">
            <a:avLst>
              <a:gd name="adj" fmla="val 14286"/>
            </a:avLst>
          </a:prstGeom>
          <a:solidFill>
            <a:srgbClr val="E3F6EC"/>
          </a:solidFill>
          <a:ln w="12700">
            <a:solidFill>
              <a:srgbClr val="BCE8D1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5120640"/>
            <a:ext cx="347472" cy="34747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729984" y="4956048"/>
            <a:ext cx="4711903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berperan sebagai penghubung layanan, bukan pelaksana tunggal seluruh layanan.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566928" y="58155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Kesimpulannya: PAUD HI adalah cara kerja bersama, bukan status, bukan beban satu orang.</a:t>
            </a:r>
            <a:endParaRPr lang="en-US" sz="1300" dirty="0"/>
          </a:p>
        </p:txBody>
      </p:sp>
      <p:sp>
        <p:nvSpPr>
          <p:cNvPr id="37" name="Text 27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E3F6E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E3F6E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DI SATUAN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Delapan Indikator PAUD HI di Satuan PAUD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596896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1700784"/>
            <a:ext cx="566928" cy="566928"/>
          </a:xfrm>
          <a:prstGeom prst="ellipse">
            <a:avLst>
              <a:gd name="adj" fmla="val 19355"/>
            </a:avLst>
          </a:prstGeom>
          <a:solidFill>
            <a:srgbClr val="1E76C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447" y="1836847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377440" y="16642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76C8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86384" y="2340864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Orang Tua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86384" y="277977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Wadah berbagi informasi kebutuhan esensial anak.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481328"/>
            <a:ext cx="2596896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02736" y="1700784"/>
            <a:ext cx="566928" cy="566928"/>
          </a:xfrm>
          <a:prstGeom prst="ellipse">
            <a:avLst>
              <a:gd name="adj" fmla="val 19355"/>
            </a:avLst>
          </a:prstGeom>
          <a:solidFill>
            <a:srgbClr val="2FA3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799" y="1836847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93792" y="16642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FA36B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602736" y="2340864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Pemantauan Pertumbuhan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3602736" y="277977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Berat badan, tinggi badan, dan lingkar kepala.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99632" y="1481328"/>
            <a:ext cx="2596896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19088" y="1700784"/>
            <a:ext cx="566928" cy="566928"/>
          </a:xfrm>
          <a:prstGeom prst="ellipse">
            <a:avLst>
              <a:gd name="adj" fmla="val 19355"/>
            </a:avLst>
          </a:prstGeom>
          <a:solidFill>
            <a:srgbClr val="F5871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151" y="1836847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10144" y="16642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871F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6419088" y="2340864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Pemantauan Perkembangan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419088" y="277977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DDTK/KPSP/KMS/KIA/KKA secara berkala.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9015984" y="1481328"/>
            <a:ext cx="2596896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235440" y="1700784"/>
            <a:ext cx="566928" cy="566928"/>
          </a:xfrm>
          <a:prstGeom prst="ellipse">
            <a:avLst>
              <a:gd name="adj" fmla="val 19355"/>
            </a:avLst>
          </a:prstGeom>
          <a:solidFill>
            <a:srgbClr val="7A66B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1503" y="1836847"/>
            <a:ext cx="294803" cy="29480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826496" y="16642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7A66B8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8" name="Text 22"/>
          <p:cNvSpPr/>
          <p:nvPr/>
        </p:nvSpPr>
        <p:spPr>
          <a:xfrm>
            <a:off x="9235440" y="2340864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Koordinasi Lintas Sektor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9235440" y="277977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Bersama unit lain terkait kesehatan dan gizi.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66928" y="3401568"/>
            <a:ext cx="2596896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86384" y="3621024"/>
            <a:ext cx="566928" cy="566928"/>
          </a:xfrm>
          <a:prstGeom prst="ellipse">
            <a:avLst>
              <a:gd name="adj" fmla="val 19355"/>
            </a:avLst>
          </a:prstGeom>
          <a:solidFill>
            <a:srgbClr val="1F9C9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447" y="3757087"/>
            <a:ext cx="294803" cy="29480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377440" y="35844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F9C9C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4" name="Text 27"/>
          <p:cNvSpPr/>
          <p:nvPr/>
        </p:nvSpPr>
        <p:spPr>
          <a:xfrm>
            <a:off x="786384" y="4261104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 PHBS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786384" y="47000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Perilaku hidup bersih dan sehat melalui pembiasaan.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3383280" y="3401568"/>
            <a:ext cx="2596896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3602736" y="3621024"/>
            <a:ext cx="566928" cy="566928"/>
          </a:xfrm>
          <a:prstGeom prst="ellipse">
            <a:avLst>
              <a:gd name="adj" fmla="val 19355"/>
            </a:avLst>
          </a:prstGeom>
          <a:solidFill>
            <a:srgbClr val="E0574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8799" y="3757087"/>
            <a:ext cx="294803" cy="294803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193792" y="35844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0574B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40" name="Text 32"/>
          <p:cNvSpPr/>
          <p:nvPr/>
        </p:nvSpPr>
        <p:spPr>
          <a:xfrm>
            <a:off x="3602736" y="4261104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PMT &amp; Makanan Bergizi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3602736" y="47000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Diberikan secara berkala, minimal tiga bulan sekali.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6199632" y="3401568"/>
            <a:ext cx="2596896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6419088" y="3621024"/>
            <a:ext cx="566928" cy="566928"/>
          </a:xfrm>
          <a:prstGeom prst="ellipse">
            <a:avLst>
              <a:gd name="adj" fmla="val 19355"/>
            </a:avLst>
          </a:prstGeom>
          <a:solidFill>
            <a:srgbClr val="0F4C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5151" y="3757087"/>
            <a:ext cx="294803" cy="294803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8010144" y="35844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F4C88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46" name="Text 37"/>
          <p:cNvSpPr/>
          <p:nvPr/>
        </p:nvSpPr>
        <p:spPr>
          <a:xfrm>
            <a:off x="6419088" y="4261104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Kepemilikan NIK</a:t>
            </a:r>
            <a:endParaRPr lang="en-US" sz="1250" dirty="0"/>
          </a:p>
        </p:txBody>
      </p:sp>
      <p:sp>
        <p:nvSpPr>
          <p:cNvPr id="47" name="Text 38"/>
          <p:cNvSpPr/>
          <p:nvPr/>
        </p:nvSpPr>
        <p:spPr>
          <a:xfrm>
            <a:off x="6419088" y="47000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Memastikan setiap peserta didik memiliki identitas.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9015984" y="3401568"/>
            <a:ext cx="2596896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9235440" y="3621024"/>
            <a:ext cx="566928" cy="566928"/>
          </a:xfrm>
          <a:prstGeom prst="ellipse">
            <a:avLst>
              <a:gd name="adj" fmla="val 19355"/>
            </a:avLst>
          </a:prstGeom>
          <a:solidFill>
            <a:srgbClr val="176B4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1503" y="3757087"/>
            <a:ext cx="294803" cy="294803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10826496" y="35844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76B44">
                    <a:alpha val="3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52" name="Text 42"/>
          <p:cNvSpPr/>
          <p:nvPr/>
        </p:nvSpPr>
        <p:spPr>
          <a:xfrm>
            <a:off x="9235440" y="4261104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Sanitasi &amp; Air Bersih</a:t>
            </a:r>
            <a:endParaRPr lang="en-US" sz="1250" dirty="0"/>
          </a:p>
        </p:txBody>
      </p:sp>
      <p:sp>
        <p:nvSpPr>
          <p:cNvPr id="53" name="Text 43"/>
          <p:cNvSpPr/>
          <p:nvPr/>
        </p:nvSpPr>
        <p:spPr>
          <a:xfrm>
            <a:off x="9235440" y="4700016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Fasilitas sederhana dengan air mengalir tersedia.</a:t>
            </a:r>
            <a:endParaRPr lang="en-US" sz="1000" dirty="0"/>
          </a:p>
        </p:txBody>
      </p:sp>
      <p:sp>
        <p:nvSpPr>
          <p:cNvPr id="54" name="Shape 44"/>
          <p:cNvSpPr/>
          <p:nvPr/>
        </p:nvSpPr>
        <p:spPr>
          <a:xfrm>
            <a:off x="566928" y="5193792"/>
            <a:ext cx="11057839" cy="786384"/>
          </a:xfrm>
          <a:prstGeom prst="roundRect">
            <a:avLst>
              <a:gd name="adj" fmla="val 16279"/>
            </a:avLst>
          </a:prstGeom>
          <a:solidFill>
            <a:srgbClr val="E3F6EC"/>
          </a:solidFill>
          <a:ln w="12700">
            <a:solidFill>
              <a:srgbClr val="BCE8D1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55" name="Text 45"/>
          <p:cNvSpPr/>
          <p:nvPr/>
        </p:nvSpPr>
        <p:spPr>
          <a:xfrm>
            <a:off x="896112" y="5303520"/>
            <a:ext cx="103994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Delapan indikator ini dilaporkan melalui Dapodik. Memutakhirkannya bukan pekerjaan administratif semata — ia menjadi dasar perencanaan dan dukungan yang diterima satuan.</a:t>
            </a:r>
            <a:endParaRPr lang="en-US" sz="1250" dirty="0"/>
          </a:p>
        </p:txBody>
      </p:sp>
      <p:sp>
        <p:nvSpPr>
          <p:cNvPr id="56" name="Text 46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57" name="Text 47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DCEDF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DCEDFB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NASIONAL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Pemenuhan Delapan Indikator PAUD HI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7223760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676656" y="1591056"/>
          <a:ext cx="7004304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028432" y="1481328"/>
            <a:ext cx="3596335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47888" y="1719072"/>
            <a:ext cx="512064" cy="512064"/>
          </a:xfrm>
          <a:prstGeom prst="ellipse">
            <a:avLst>
              <a:gd name="adj" fmla="val 21429"/>
            </a:avLst>
          </a:prstGeom>
          <a:solidFill>
            <a:srgbClr val="2FA3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0783" y="1841967"/>
            <a:ext cx="266273" cy="2662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887968" y="16824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Tertinggi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887968" y="1975104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orang tua 98,59% — budaya melibatkan orang tua sudah terbangun.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28432" y="2889504"/>
            <a:ext cx="3596335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47888" y="3127248"/>
            <a:ext cx="512064" cy="512064"/>
          </a:xfrm>
          <a:prstGeom prst="ellipse">
            <a:avLst>
              <a:gd name="adj" fmla="val 21429"/>
            </a:avLst>
          </a:prstGeom>
          <a:solidFill>
            <a:srgbClr val="E0574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783" y="3250143"/>
            <a:ext cx="266273" cy="2662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87968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5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Terendah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887968" y="3383280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Sanitasi &amp; air bersih 8,95% — 167.872 satuan belum memiliki fasilitas memadai.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028432" y="4297680"/>
            <a:ext cx="3596335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47888" y="4535424"/>
            <a:ext cx="512064" cy="512064"/>
          </a:xfrm>
          <a:prstGeom prst="ellipse">
            <a:avLst>
              <a:gd name="adj" fmla="val 21429"/>
            </a:avLst>
          </a:prstGeom>
          <a:solidFill>
            <a:srgbClr val="F5871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0783" y="4658319"/>
            <a:ext cx="266273" cy="26627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87968" y="4498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ungkit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887968" y="4791456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Koordinasi lintas sektor 75,46% — kunci menuju perbaikan indikator lain.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66928" y="61447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Dapodik, cut off 31 Desember 2025 (206.708 satuan PAUD).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26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8136" y="4023360"/>
            <a:ext cx="4535424" cy="2834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85216" y="47548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6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566928" y="1572768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Strategis: Kunci Layanan Holistik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66928" y="2706624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kemitraan, peta pemangku kepentingan, trisentra pendidikan, tahapan membangun, dan instrumen pendukungnya.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FFF1E0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FFF1E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Ciri Kemitraan yang Benar-benar Strategis</a:t>
            </a:r>
            <a:endParaRPr lang="en-US" sz="3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2286000"/>
            <a:ext cx="3491345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499616"/>
            <a:ext cx="4114800" cy="859536"/>
          </a:xfrm>
          <a:prstGeom prst="roundRect">
            <a:avLst>
              <a:gd name="adj" fmla="val 14894"/>
            </a:avLst>
          </a:prstGeom>
          <a:solidFill>
            <a:srgbClr val="FFF1E0"/>
          </a:solidFill>
          <a:ln w="12700">
            <a:solidFill>
              <a:srgbClr val="FFD9B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6384" y="1572768"/>
            <a:ext cx="3675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adalah kerja sama terencana antara satuan PAUD dan pihak lain untuk memenuhi kebutuhan esensial anak secara berkelanjutan.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0" y="1499616"/>
            <a:ext cx="6595567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248656" y="1645920"/>
            <a:ext cx="530352" cy="530352"/>
          </a:xfrm>
          <a:prstGeom prst="ellipse">
            <a:avLst>
              <a:gd name="adj" fmla="val 20690"/>
            </a:avLst>
          </a:prstGeom>
          <a:solidFill>
            <a:srgbClr val="1E76C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940" y="1773204"/>
            <a:ext cx="275783" cy="2757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25312" y="16276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Kesetaraan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863840" y="162763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pihak duduk sebagai mitra, bukan atasan dan bawahan.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0" y="2404872"/>
            <a:ext cx="6595567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248656" y="2551176"/>
            <a:ext cx="530352" cy="530352"/>
          </a:xfrm>
          <a:prstGeom prst="ellipse">
            <a:avLst>
              <a:gd name="adj" fmla="val 20690"/>
            </a:avLst>
          </a:prstGeom>
          <a:solidFill>
            <a:srgbClr val="2FA3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40" y="2678460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25312" y="25328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Kepercayaan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863840" y="253288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Dibangun melalui komunikasi rutin dan komitmen yang ditepati.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0" y="3310128"/>
            <a:ext cx="6595567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248656" y="3456432"/>
            <a:ext cx="530352" cy="530352"/>
          </a:xfrm>
          <a:prstGeom prst="ellipse">
            <a:avLst>
              <a:gd name="adj" fmla="val 20690"/>
            </a:avLst>
          </a:prstGeom>
          <a:solidFill>
            <a:srgbClr val="F5871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940" y="3583716"/>
            <a:ext cx="275783" cy="2757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25312" y="34381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Saling menguntungkan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863840" y="343814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pihak memperoleh manfaat sesuai tugas dan fungsinya.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029200" y="4215384"/>
            <a:ext cx="6595567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248656" y="4361688"/>
            <a:ext cx="530352" cy="530352"/>
          </a:xfrm>
          <a:prstGeom prst="ellipse">
            <a:avLst>
              <a:gd name="adj" fmla="val 20690"/>
            </a:avLst>
          </a:prstGeom>
          <a:solidFill>
            <a:srgbClr val="7A66B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5940" y="4488972"/>
            <a:ext cx="275783" cy="27578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925312" y="4343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6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Transparan &amp; akuntabel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863840" y="434340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Kegiatan, sumber daya, dan hasilnya dicatat serta dilaporkan.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029200" y="5120640"/>
            <a:ext cx="6595567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248656" y="5266944"/>
            <a:ext cx="530352" cy="530352"/>
          </a:xfrm>
          <a:prstGeom prst="ellipse">
            <a:avLst>
              <a:gd name="adj" fmla="val 20690"/>
            </a:avLst>
          </a:prstGeom>
          <a:solidFill>
            <a:srgbClr val="1F9C9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5940" y="5394228"/>
            <a:ext cx="275783" cy="27578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925312" y="52486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Berkelanjutan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863840" y="524865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Diikat kesepakatan tertulis agar tidak berhenti saat orangnya berganti.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DCEDF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DCEDFB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Pemangku Kepentingan Satuan PAUD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297680" y="1508760"/>
            <a:ext cx="4572000" cy="4572000"/>
          </a:xfrm>
          <a:prstGeom prst="ellipse">
            <a:avLst/>
          </a:prstGeom>
          <a:solidFill>
            <a:srgbClr val="DCEDFB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50992" y="2862072"/>
            <a:ext cx="1865376" cy="1865376"/>
          </a:xfrm>
          <a:prstGeom prst="ellipse">
            <a:avLst/>
          </a:prstGeom>
          <a:solidFill>
            <a:srgbClr val="1E76C8"/>
          </a:solidFill>
          <a:ln w="508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38100" dir="5400000">
              <a:srgbClr val="0F3352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0" y="3410712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SATUAN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017520" y="1783080"/>
            <a:ext cx="7132320" cy="4023360"/>
          </a:xfrm>
          <a:prstGeom prst="ellipse">
            <a:avLst/>
          </a:prstGeom>
          <a:ln w="22225">
            <a:solidFill>
              <a:srgbClr val="B9DBF6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>
            <a:off x="5513832" y="1499616"/>
            <a:ext cx="2139696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7780">
            <a:solidFill>
              <a:srgbClr val="0F4C88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86984" y="1572768"/>
            <a:ext cx="420624" cy="420624"/>
          </a:xfrm>
          <a:prstGeom prst="ellipse">
            <a:avLst/>
          </a:prstGeom>
          <a:solidFill>
            <a:srgbClr val="0F4C88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673352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62472" y="1536192"/>
            <a:ext cx="1517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Dinas Pendidikan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35488" y="2088823"/>
            <a:ext cx="2139696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7780">
            <a:solidFill>
              <a:srgbClr val="2FA36B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108640" y="2161975"/>
            <a:ext cx="420624" cy="420624"/>
          </a:xfrm>
          <a:prstGeom prst="ellipse">
            <a:avLst/>
          </a:prstGeom>
          <a:solidFill>
            <a:srgbClr val="2FA36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224" y="2262559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584128" y="2125399"/>
            <a:ext cx="1517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Puskesmas &amp; Dinkes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9079992" y="3511296"/>
            <a:ext cx="2139696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7780">
            <a:solidFill>
              <a:srgbClr val="1F9C9C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153144" y="3584448"/>
            <a:ext cx="420624" cy="420624"/>
          </a:xfrm>
          <a:prstGeom prst="ellipse">
            <a:avLst/>
          </a:prstGeom>
          <a:solidFill>
            <a:srgbClr val="1F9C9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28" y="368503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28632" y="3547872"/>
            <a:ext cx="1517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Posyandu &amp; Kader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8035488" y="4933769"/>
            <a:ext cx="2139696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7780">
            <a:solidFill>
              <a:srgbClr val="7A66B8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108640" y="5006921"/>
            <a:ext cx="420624" cy="420624"/>
          </a:xfrm>
          <a:prstGeom prst="ellipse">
            <a:avLst/>
          </a:prstGeom>
          <a:solidFill>
            <a:srgbClr val="7A66B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224" y="5107505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584128" y="4970345"/>
            <a:ext cx="1517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Dukcapil, Dinsos &amp; DP3A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513832" y="5522976"/>
            <a:ext cx="2139696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7780">
            <a:solidFill>
              <a:srgbClr val="F5871F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586984" y="5596128"/>
            <a:ext cx="420624" cy="420624"/>
          </a:xfrm>
          <a:prstGeom prst="ellipse">
            <a:avLst/>
          </a:prstGeom>
          <a:solidFill>
            <a:srgbClr val="F5871F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568" y="5696712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062472" y="5559552"/>
            <a:ext cx="1517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Tua &amp; Komite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2992176" y="4933769"/>
            <a:ext cx="2139696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7780">
            <a:solidFill>
              <a:srgbClr val="E0574B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065328" y="5006921"/>
            <a:ext cx="420624" cy="420624"/>
          </a:xfrm>
          <a:prstGeom prst="ellipse">
            <a:avLst/>
          </a:prstGeom>
          <a:solidFill>
            <a:srgbClr val="E0574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5912" y="5107505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40816" y="4970345"/>
            <a:ext cx="1517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Bunda PAUD &amp; TP PKK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1947672" y="3511296"/>
            <a:ext cx="2139696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7780">
            <a:solidFill>
              <a:srgbClr val="176B44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2020824" y="3584448"/>
            <a:ext cx="420624" cy="420624"/>
          </a:xfrm>
          <a:prstGeom prst="ellipse">
            <a:avLst/>
          </a:prstGeom>
          <a:solidFill>
            <a:srgbClr val="176B44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1408" y="3685032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496312" y="3547872"/>
            <a:ext cx="1517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Desa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2992176" y="2088823"/>
            <a:ext cx="2139696" cy="566928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 w="17780">
            <a:solidFill>
              <a:srgbClr val="1E76C8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3065328" y="2161975"/>
            <a:ext cx="420624" cy="420624"/>
          </a:xfrm>
          <a:prstGeom prst="ellipse">
            <a:avLst/>
          </a:prstGeom>
          <a:solidFill>
            <a:srgbClr val="1E76C8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5912" y="2262559"/>
            <a:ext cx="219456" cy="21945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3540816" y="2125399"/>
            <a:ext cx="15179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Dunia Usaha &amp; Mitra</a:t>
            </a:r>
            <a:endParaRPr lang="en-US" sz="1050" dirty="0"/>
          </a:p>
        </p:txBody>
      </p:sp>
      <p:sp>
        <p:nvSpPr>
          <p:cNvPr id="42" name="Shape 32"/>
          <p:cNvSpPr/>
          <p:nvPr/>
        </p:nvSpPr>
        <p:spPr>
          <a:xfrm>
            <a:off x="566928" y="1828800"/>
            <a:ext cx="2194560" cy="1554480"/>
          </a:xfrm>
          <a:prstGeom prst="roundRect">
            <a:avLst>
              <a:gd name="adj" fmla="val 8235"/>
            </a:avLst>
          </a:prstGeom>
          <a:solidFill>
            <a:srgbClr val="DCEDFB"/>
          </a:solidFill>
          <a:ln w="12700">
            <a:solidFill>
              <a:srgbClr val="B9DBF6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43" name="Text 33"/>
          <p:cNvSpPr/>
          <p:nvPr/>
        </p:nvSpPr>
        <p:spPr>
          <a:xfrm>
            <a:off x="749808" y="1956816"/>
            <a:ext cx="18288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4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Satuan PAUD berada di titik temu. Tugasnya bukan mengerjakan semua layanan, melainkan menghubungkan anak dengan layanan yang tersedia.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E3F6E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E3F6E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PEMBAGIAN PERAN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Berbuat Apa dalam Layanan PAUD HI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2596896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1755648"/>
            <a:ext cx="585216" cy="585216"/>
          </a:xfrm>
          <a:prstGeom prst="ellipse">
            <a:avLst>
              <a:gd name="adj" fmla="val 18750"/>
            </a:avLst>
          </a:prstGeom>
          <a:solidFill>
            <a:srgbClr val="0F4C8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836" y="1896100"/>
            <a:ext cx="304312" cy="304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6384" y="243230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Dinas Pendidikan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86384" y="281635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Regulasi daerah, pembinaan, penganggaran, dan pendampingan satuan.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1517904"/>
            <a:ext cx="2596896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02736" y="1755648"/>
            <a:ext cx="585216" cy="585216"/>
          </a:xfrm>
          <a:prstGeom prst="ellipse">
            <a:avLst>
              <a:gd name="adj" fmla="val 18750"/>
            </a:avLst>
          </a:prstGeom>
          <a:solidFill>
            <a:srgbClr val="2FA3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3188" y="1896100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02736" y="243230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Puskesmas &amp; Dinkes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602736" y="281635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Pemeriksaan berkala, imunisasi, penyuluhan gizi, dan rujukan kesehatan.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99632" y="1517904"/>
            <a:ext cx="2596896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19088" y="1755648"/>
            <a:ext cx="585216" cy="585216"/>
          </a:xfrm>
          <a:prstGeom prst="ellipse">
            <a:avLst>
              <a:gd name="adj" fmla="val 18750"/>
            </a:avLst>
          </a:prstGeom>
          <a:solidFill>
            <a:srgbClr val="1F9C9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540" y="1896100"/>
            <a:ext cx="304312" cy="304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9088" y="243230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Posyandu &amp; Kader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19088" y="281635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Penimbangan rutin, pemantauan tumbuh kembang, dan pencatatan KMS/KIA.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015984" y="1517904"/>
            <a:ext cx="2596896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235440" y="1755648"/>
            <a:ext cx="585216" cy="585216"/>
          </a:xfrm>
          <a:prstGeom prst="ellipse">
            <a:avLst>
              <a:gd name="adj" fmla="val 18750"/>
            </a:avLst>
          </a:prstGeom>
          <a:solidFill>
            <a:srgbClr val="7A66B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5892" y="1896100"/>
            <a:ext cx="304312" cy="3043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35440" y="2432304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Dukcapil, Dinsos &amp; DP3A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235440" y="281635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Pemenuhan NIK, bantuan sosial, dan penanganan kasus perlindungan anak.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66928" y="3456432"/>
            <a:ext cx="2596896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86384" y="3694176"/>
            <a:ext cx="585216" cy="585216"/>
          </a:xfrm>
          <a:prstGeom prst="ellipse">
            <a:avLst>
              <a:gd name="adj" fmla="val 18750"/>
            </a:avLst>
          </a:prstGeom>
          <a:solidFill>
            <a:srgbClr val="176B4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836" y="3834628"/>
            <a:ext cx="304312" cy="3043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86384" y="437083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 Desa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786384" y="47548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desa untuk sanitasi, air bersih, ruang bermain, dan insentif kader.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383280" y="3456432"/>
            <a:ext cx="2596896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602736" y="3694176"/>
            <a:ext cx="585216" cy="585216"/>
          </a:xfrm>
          <a:prstGeom prst="ellipse">
            <a:avLst>
              <a:gd name="adj" fmla="val 18750"/>
            </a:avLst>
          </a:prstGeom>
          <a:solidFill>
            <a:srgbClr val="E0574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3188" y="3834628"/>
            <a:ext cx="304312" cy="30431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602736" y="437083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Bunda PAUD &amp; TP PKK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3602736" y="47548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Advokasi, penggerak masyarakat, dan kampanye pengasuhan positif.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199632" y="3456432"/>
            <a:ext cx="2596896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419088" y="3694176"/>
            <a:ext cx="585216" cy="585216"/>
          </a:xfrm>
          <a:prstGeom prst="ellipse">
            <a:avLst>
              <a:gd name="adj" fmla="val 18750"/>
            </a:avLst>
          </a:prstGeom>
          <a:solidFill>
            <a:srgbClr val="F5871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9540" y="3834628"/>
            <a:ext cx="304312" cy="30431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419088" y="437083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Tua &amp; Komite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6419088" y="47548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orang tua, kesinambungan stimulasi di rumah, dan swadaya.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9015984" y="3456432"/>
            <a:ext cx="2596896" cy="1700784"/>
          </a:xfrm>
          <a:prstGeom prst="roundRect">
            <a:avLst>
              <a:gd name="adj" fmla="val 7527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235440" y="3694176"/>
            <a:ext cx="585216" cy="585216"/>
          </a:xfrm>
          <a:prstGeom prst="ellipse">
            <a:avLst>
              <a:gd name="adj" fmla="val 18750"/>
            </a:avLst>
          </a:prstGeom>
          <a:solidFill>
            <a:srgbClr val="1E76C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5892" y="3834628"/>
            <a:ext cx="304312" cy="30431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235440" y="437083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Dunia Usaha &amp; Mitra</a:t>
            </a:r>
            <a:endParaRPr lang="en-US" sz="1250" dirty="0"/>
          </a:p>
        </p:txBody>
      </p:sp>
      <p:sp>
        <p:nvSpPr>
          <p:cNvPr id="45" name="Text 35"/>
          <p:cNvSpPr/>
          <p:nvPr/>
        </p:nvSpPr>
        <p:spPr>
          <a:xfrm>
            <a:off x="9235440" y="475488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untuk sarana, buku, alat main, dan pelatihan pendidik.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566928" y="5230368"/>
            <a:ext cx="11057839" cy="749808"/>
          </a:xfrm>
          <a:prstGeom prst="roundRect">
            <a:avLst>
              <a:gd name="adj" fmla="val 17073"/>
            </a:avLst>
          </a:prstGeom>
          <a:solidFill>
            <a:srgbClr val="E3F6EC"/>
          </a:solidFill>
          <a:ln w="12700">
            <a:solidFill>
              <a:srgbClr val="BCE8D1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47" name="Text 37"/>
          <p:cNvSpPr/>
          <p:nvPr/>
        </p:nvSpPr>
        <p:spPr>
          <a:xfrm>
            <a:off x="896112" y="5340096"/>
            <a:ext cx="10399471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Tips: tuliskan nama dan nomor kontak penanggung jawab dari setiap mitra pada satu lembar. Kemitraan gagal paling sering bukan karena menolak, melainkan karena tidak pernah dihubungi.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49" name="Text 39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DCEDF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DCEDFB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 PENDIDIKAN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Trisentra: Tiga Pusat yang Harus Sejalan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499616"/>
            <a:ext cx="3503066" cy="1883664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19072"/>
            <a:ext cx="640080" cy="640080"/>
          </a:xfrm>
          <a:prstGeom prst="ellipse">
            <a:avLst>
              <a:gd name="adj" fmla="val 17143"/>
            </a:avLst>
          </a:prstGeom>
          <a:solidFill>
            <a:srgbClr val="F5871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872691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91056" y="1700784"/>
            <a:ext cx="2314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Keluarga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41248" y="2468880"/>
            <a:ext cx="2954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Pengasuhan positif, gizi seimbang di rumah, dan kesinambungan stimulasi setelah jam sekolah.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4314" y="1499616"/>
            <a:ext cx="3503066" cy="1883664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19072"/>
            <a:ext cx="640080" cy="640080"/>
          </a:xfrm>
          <a:prstGeom prst="ellipse">
            <a:avLst>
              <a:gd name="adj" fmla="val 17143"/>
            </a:avLst>
          </a:prstGeom>
          <a:solidFill>
            <a:srgbClr val="1E76C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966" y="1872691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68442" y="1700784"/>
            <a:ext cx="2314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7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Satuan PAUD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18634" y="2468880"/>
            <a:ext cx="2954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Pembelajaran bermakna, pemantauan tumbuh kembang, dan penghubung seluruh layanan esensial.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21701" y="1499616"/>
            <a:ext cx="3503066" cy="1883664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19072"/>
            <a:ext cx="640080" cy="640080"/>
          </a:xfrm>
          <a:prstGeom prst="ellipse">
            <a:avLst>
              <a:gd name="adj" fmla="val 17143"/>
            </a:avLst>
          </a:prstGeom>
          <a:solidFill>
            <a:srgbClr val="2FA3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1872691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5829" y="1700784"/>
            <a:ext cx="23143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Masyarakat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396021" y="2468880"/>
            <a:ext cx="29544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Posyandu, puskesmas, desa, dan dunia usaha yang menopang kebutuhan anak di luar sekolah.</a:t>
            </a:r>
            <a:endParaRPr lang="en-US" sz="11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9608" y="3474720"/>
            <a:ext cx="8412480" cy="2523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" y="6053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Iklim partisipatif tumbuh saat ketiganya bergerak dengan informasi dan tujuan yang sama.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FFF1E0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FFF1E0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PRAKTIS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Tahap Membangun Kemitraan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2050633" cy="2743200"/>
          </a:xfrm>
          <a:prstGeom prst="roundRect">
            <a:avLst>
              <a:gd name="adj" fmla="val 6243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26485" y="1444752"/>
            <a:ext cx="731520" cy="731520"/>
          </a:xfrm>
          <a:prstGeom prst="ellipse">
            <a:avLst/>
          </a:prstGeom>
          <a:solidFill>
            <a:srgbClr val="1E76C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6485" y="14447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6213" y="2377440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017520"/>
            <a:ext cx="17214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Identifikasi &amp; Pemetaan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9808" y="3584448"/>
            <a:ext cx="1684873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Petakan kebutuhan anak dari data 8 indikator, lalu daftar calon mitra yang relevan.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635849" y="2962656"/>
            <a:ext cx="164592" cy="201168"/>
          </a:xfrm>
          <a:prstGeom prst="rightArrow">
            <a:avLst/>
          </a:prstGeom>
          <a:solidFill>
            <a:srgbClr val="B9DBF6"/>
          </a:solidFill>
          <a:ln/>
        </p:spPr>
      </p:sp>
      <p:sp>
        <p:nvSpPr>
          <p:cNvPr id="13" name="Shape 10"/>
          <p:cNvSpPr/>
          <p:nvPr/>
        </p:nvSpPr>
        <p:spPr>
          <a:xfrm>
            <a:off x="2818729" y="1737360"/>
            <a:ext cx="2050633" cy="2743200"/>
          </a:xfrm>
          <a:prstGeom prst="roundRect">
            <a:avLst>
              <a:gd name="adj" fmla="val 6243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8286" y="1444752"/>
            <a:ext cx="731520" cy="731520"/>
          </a:xfrm>
          <a:prstGeom prst="ellipse">
            <a:avLst/>
          </a:prstGeom>
          <a:solidFill>
            <a:srgbClr val="2FA36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8286" y="14447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014" y="2377440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83321" y="3017520"/>
            <a:ext cx="17214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Inisiasi &amp; Komunikasi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001609" y="3584448"/>
            <a:ext cx="1684873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Audiensi ke puskesmas, desa, dan dinas. Bawa data, bukan sekadar permohonan.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887651" y="2962656"/>
            <a:ext cx="164592" cy="201168"/>
          </a:xfrm>
          <a:prstGeom prst="rightArrow">
            <a:avLst/>
          </a:prstGeom>
          <a:solidFill>
            <a:srgbClr val="B9DBF6"/>
          </a:solidFill>
          <a:ln/>
        </p:spPr>
      </p:sp>
      <p:sp>
        <p:nvSpPr>
          <p:cNvPr id="20" name="Shape 16"/>
          <p:cNvSpPr/>
          <p:nvPr/>
        </p:nvSpPr>
        <p:spPr>
          <a:xfrm>
            <a:off x="5070531" y="1737360"/>
            <a:ext cx="2050633" cy="2743200"/>
          </a:xfrm>
          <a:prstGeom prst="roundRect">
            <a:avLst>
              <a:gd name="adj" fmla="val 6243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730088" y="1444752"/>
            <a:ext cx="731520" cy="731520"/>
          </a:xfrm>
          <a:prstGeom prst="ellipse">
            <a:avLst/>
          </a:prstGeom>
          <a:solidFill>
            <a:srgbClr val="F5871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730088" y="14447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16" y="2377440"/>
            <a:ext cx="512064" cy="51206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35123" y="3017520"/>
            <a:ext cx="17214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Kesepakatan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253411" y="3584448"/>
            <a:ext cx="1684873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Tuangkan dalam PKS/MoU sederhana: siapa, melakukan apa, kapan, dan dengan sumber daya apa.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7139452" y="2962656"/>
            <a:ext cx="164592" cy="201168"/>
          </a:xfrm>
          <a:prstGeom prst="rightArrow">
            <a:avLst/>
          </a:prstGeom>
          <a:solidFill>
            <a:srgbClr val="B9DBF6"/>
          </a:solidFill>
          <a:ln/>
        </p:spPr>
      </p:sp>
      <p:sp>
        <p:nvSpPr>
          <p:cNvPr id="27" name="Shape 22"/>
          <p:cNvSpPr/>
          <p:nvPr/>
        </p:nvSpPr>
        <p:spPr>
          <a:xfrm>
            <a:off x="7322332" y="1737360"/>
            <a:ext cx="2050633" cy="2743200"/>
          </a:xfrm>
          <a:prstGeom prst="roundRect">
            <a:avLst>
              <a:gd name="adj" fmla="val 6243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981889" y="1444752"/>
            <a:ext cx="731520" cy="731520"/>
          </a:xfrm>
          <a:prstGeom prst="ellipse">
            <a:avLst/>
          </a:prstGeom>
          <a:solidFill>
            <a:srgbClr val="7A66B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981889" y="14447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1617" y="2377440"/>
            <a:ext cx="512064" cy="51206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86924" y="3017520"/>
            <a:ext cx="17214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Pelaksanaan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505212" y="3584448"/>
            <a:ext cx="1684873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lewat kalender kegiatan terpadu agar tidak bertabrakan dengan agenda belajar.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9391254" y="2962656"/>
            <a:ext cx="164592" cy="201168"/>
          </a:xfrm>
          <a:prstGeom prst="rightArrow">
            <a:avLst/>
          </a:prstGeom>
          <a:solidFill>
            <a:srgbClr val="B9DBF6"/>
          </a:solidFill>
          <a:ln/>
        </p:spPr>
      </p:sp>
      <p:sp>
        <p:nvSpPr>
          <p:cNvPr id="34" name="Shape 28"/>
          <p:cNvSpPr/>
          <p:nvPr/>
        </p:nvSpPr>
        <p:spPr>
          <a:xfrm>
            <a:off x="9574134" y="1737360"/>
            <a:ext cx="2050633" cy="2743200"/>
          </a:xfrm>
          <a:prstGeom prst="roundRect">
            <a:avLst>
              <a:gd name="adj" fmla="val 6243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10233690" y="1444752"/>
            <a:ext cx="731520" cy="731520"/>
          </a:xfrm>
          <a:prstGeom prst="ellipse">
            <a:avLst/>
          </a:prstGeom>
          <a:solidFill>
            <a:srgbClr val="1F9C9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10233690" y="144475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3418" y="2377440"/>
            <a:ext cx="512064" cy="51206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738726" y="3017520"/>
            <a:ext cx="17214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&amp; Keberlanjutan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9757014" y="3584448"/>
            <a:ext cx="1684873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Refleksi bersama, laporkan hasil, apresiasi mitra, lalu perluas cakupan.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566928" y="4718304"/>
            <a:ext cx="11057839" cy="969264"/>
          </a:xfrm>
          <a:prstGeom prst="roundRect">
            <a:avLst>
              <a:gd name="adj" fmla="val 13208"/>
            </a:avLst>
          </a:prstGeom>
          <a:solidFill>
            <a:srgbClr val="FFF1E0"/>
          </a:solidFill>
          <a:ln w="12700">
            <a:solidFill>
              <a:srgbClr val="FFD9B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41" name="Text 34"/>
          <p:cNvSpPr/>
          <p:nvPr/>
        </p:nvSpPr>
        <p:spPr>
          <a:xfrm>
            <a:off x="896112" y="4882896"/>
            <a:ext cx="103994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tahap 3: kesepakatan tertulis. Satu lembar PKS membuat kemitraan tetap berjalan meski kepala satuan, kepala puskesmas, atau kepala desa berganti.</a:t>
            </a:r>
            <a:endParaRPr lang="en-US" sz="1250" dirty="0"/>
          </a:p>
        </p:txBody>
      </p:sp>
      <p:sp>
        <p:nvSpPr>
          <p:cNvPr id="42" name="Text 35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DCEDF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DCEDFB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 dan Sumber Daya Kemitraan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85216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7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 KERJA SAMA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73936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956816"/>
            <a:ext cx="548640" cy="548640"/>
          </a:xfrm>
          <a:prstGeom prst="ellipse">
            <a:avLst>
              <a:gd name="adj" fmla="val 20000"/>
            </a:avLst>
          </a:prstGeom>
          <a:solidFill>
            <a:srgbClr val="1E76C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088490"/>
            <a:ext cx="285293" cy="2852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9019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Perjanjian Kerja Sama / MoU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63040" y="2194560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satu halaman: ruang lingkup, peran, jadwal, dan penanggung jawab.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" y="2779776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86384" y="2962656"/>
            <a:ext cx="548640" cy="548640"/>
          </a:xfrm>
          <a:prstGeom prst="ellipse">
            <a:avLst>
              <a:gd name="adj" fmla="val 20000"/>
            </a:avLst>
          </a:prstGeom>
          <a:solidFill>
            <a:srgbClr val="1E76C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58" y="3094330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63040" y="29077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Koordinasi PAUD HI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463040" y="3200400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rutin tingkat desa atau kecamatan bersama seluruh mitra.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66928" y="3785616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86384" y="3968496"/>
            <a:ext cx="548640" cy="548640"/>
          </a:xfrm>
          <a:prstGeom prst="ellipse">
            <a:avLst>
              <a:gd name="adj" fmla="val 20000"/>
            </a:avLst>
          </a:prstGeom>
          <a:solidFill>
            <a:srgbClr val="1E76C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4100170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91363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Kalender Kegiatan Terpadu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463040" y="4206240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kalender bersama: posyandu, kelas orang tua, pemeriksaan, dan PMT.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66928" y="4791456"/>
            <a:ext cx="539496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86384" y="4974336"/>
            <a:ext cx="548640" cy="548640"/>
          </a:xfrm>
          <a:prstGeom prst="ellipse">
            <a:avLst>
              <a:gd name="adj" fmla="val 20000"/>
            </a:avLst>
          </a:prstGeom>
          <a:solidFill>
            <a:srgbClr val="1E76C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8" y="5106010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63040" y="491947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Pelaporan Bersama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463040" y="5212080"/>
            <a:ext cx="4334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Dapodik dan catatan tumbuh kembang sebagai rujukan yang sama bagi semua pihak.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345936" y="1463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PEMBIAYAAN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345936" y="1773936"/>
            <a:ext cx="5278831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565392" y="1956816"/>
            <a:ext cx="548640" cy="548640"/>
          </a:xfrm>
          <a:prstGeom prst="ellipse">
            <a:avLst>
              <a:gd name="adj" fmla="val 20000"/>
            </a:avLst>
          </a:prstGeom>
          <a:solidFill>
            <a:srgbClr val="2FA3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7066" y="2088490"/>
            <a:ext cx="285293" cy="28529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42048" y="19019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 PAUD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242048" y="21945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Pembelian bahan PMT, alat kebersihan, dan penguatan kapasitas pendidik.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345936" y="2779776"/>
            <a:ext cx="5278831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565392" y="2962656"/>
            <a:ext cx="548640" cy="548640"/>
          </a:xfrm>
          <a:prstGeom prst="ellipse">
            <a:avLst>
              <a:gd name="adj" fmla="val 20000"/>
            </a:avLst>
          </a:prstGeom>
          <a:solidFill>
            <a:srgbClr val="2FA3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7066" y="3094330"/>
            <a:ext cx="285293" cy="285293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242048" y="29077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Desa / ADD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7242048" y="32004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Pembangunan sarana sanitasi, air bersih, dan ruang bermain ramah anak.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6345936" y="3785616"/>
            <a:ext cx="5278831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6565392" y="3968496"/>
            <a:ext cx="548640" cy="548640"/>
          </a:xfrm>
          <a:prstGeom prst="ellipse">
            <a:avLst>
              <a:gd name="adj" fmla="val 20000"/>
            </a:avLst>
          </a:prstGeom>
          <a:solidFill>
            <a:srgbClr val="2FA3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7066" y="4100170"/>
            <a:ext cx="285293" cy="285293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242048" y="39136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&amp; Mitra Pembangunan</a:t>
            </a:r>
            <a:endParaRPr lang="en-US" sz="1300" dirty="0"/>
          </a:p>
        </p:txBody>
      </p:sp>
      <p:sp>
        <p:nvSpPr>
          <p:cNvPr id="42" name="Text 33"/>
          <p:cNvSpPr/>
          <p:nvPr/>
        </p:nvSpPr>
        <p:spPr>
          <a:xfrm>
            <a:off x="7242048" y="420624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Buku, alat main edukatif, wastafel, dan pelatihan bagi pendidik.</a:t>
            </a:r>
            <a:endParaRPr lang="en-US" sz="1100" dirty="0"/>
          </a:p>
        </p:txBody>
      </p:sp>
      <p:sp>
        <p:nvSpPr>
          <p:cNvPr id="43" name="Shape 34"/>
          <p:cNvSpPr/>
          <p:nvPr/>
        </p:nvSpPr>
        <p:spPr>
          <a:xfrm>
            <a:off x="6345936" y="4791456"/>
            <a:ext cx="5278831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6565392" y="4974336"/>
            <a:ext cx="548640" cy="548640"/>
          </a:xfrm>
          <a:prstGeom prst="ellipse">
            <a:avLst>
              <a:gd name="adj" fmla="val 20000"/>
            </a:avLst>
          </a:prstGeom>
          <a:solidFill>
            <a:srgbClr val="2FA3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7066" y="5106010"/>
            <a:ext cx="285293" cy="285293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7242048" y="49194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Swadaya &amp; Gotong Royong</a:t>
            </a:r>
            <a:endParaRPr lang="en-US" sz="1300" dirty="0"/>
          </a:p>
        </p:txBody>
      </p:sp>
      <p:sp>
        <p:nvSpPr>
          <p:cNvPr id="47" name="Text 37"/>
          <p:cNvSpPr/>
          <p:nvPr/>
        </p:nvSpPr>
        <p:spPr>
          <a:xfrm>
            <a:off x="7242048" y="521208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Tenaga, bahan lokal, dan kebun gizi yang dikelola bersama orang tua.</a:t>
            </a:r>
            <a:endParaRPr lang="en-US" sz="1100" dirty="0"/>
          </a:p>
        </p:txBody>
      </p:sp>
      <p:sp>
        <p:nvSpPr>
          <p:cNvPr id="48" name="Text 38"/>
          <p:cNvSpPr/>
          <p:nvPr/>
        </p:nvSpPr>
        <p:spPr>
          <a:xfrm>
            <a:off x="566928" y="579729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Prinsipnya: mulai dari yang tersedia. Banyak perbaikan layanan tidak memerlukan anggaran baru, melainkan koordinasi yang lebih baik.</a:t>
            </a:r>
            <a:endParaRPr lang="en-US" sz="1250" dirty="0"/>
          </a:p>
        </p:txBody>
      </p:sp>
      <p:sp>
        <p:nvSpPr>
          <p:cNvPr id="49" name="Text 39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50" name="Text 40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7A66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9868" y="4023360"/>
            <a:ext cx="4251960" cy="2834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1097280" y="-1280160"/>
            <a:ext cx="3840480" cy="38404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85216" y="47548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6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566928" y="1572768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Baik dan Aksi Nyata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66928" y="2706624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Pembelajaran dari satuan PAUD, strategi peningkatan mutu, rencana 30–60–90 hari, serta monitoring dan evaluasi.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F0EBFA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F0EBF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6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DARI LAPANGAN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Pola Praktik Baik yang Bisa Ditiru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596896" cy="331012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609344"/>
            <a:ext cx="1664208" cy="1280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04088" y="292608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1F9C9C"/>
          </a:solidFill>
          <a:ln/>
        </p:spPr>
      </p:sp>
      <p:sp>
        <p:nvSpPr>
          <p:cNvPr id="9" name="Text 6"/>
          <p:cNvSpPr/>
          <p:nvPr/>
        </p:nvSpPr>
        <p:spPr>
          <a:xfrm>
            <a:off x="704088" y="29260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9808" y="3236976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Posyandu Masuk Satuan PAUD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9808" y="3767328"/>
            <a:ext cx="22311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bulanan bersama kader: penimbangan, pengukuran, dan pencatatan dilakukan di sekolah sehingga tidak ada anak yang terlewat.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383280" y="1481328"/>
            <a:ext cx="2596896" cy="331012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1609344"/>
            <a:ext cx="1792224" cy="12801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520440" y="292608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7A66B8"/>
          </a:solidFill>
          <a:ln/>
        </p:spPr>
      </p:sp>
      <p:sp>
        <p:nvSpPr>
          <p:cNvPr id="15" name="Text 11"/>
          <p:cNvSpPr/>
          <p:nvPr/>
        </p:nvSpPr>
        <p:spPr>
          <a:xfrm>
            <a:off x="3520440" y="29260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66160" y="3236976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Orang Tua Rutin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66160" y="3767328"/>
            <a:ext cx="22311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Parenting bulanan bersama bidan atau petugas puskesmas membuat stimulasi di rumah berjalan sejalan dengan di sekolah.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99632" y="1481328"/>
            <a:ext cx="2596896" cy="331012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09344"/>
            <a:ext cx="1920240" cy="128016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336792" y="292608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1E76C8"/>
          </a:solidFill>
          <a:ln/>
        </p:spPr>
      </p:sp>
      <p:sp>
        <p:nvSpPr>
          <p:cNvPr id="21" name="Text 16"/>
          <p:cNvSpPr/>
          <p:nvPr/>
        </p:nvSpPr>
        <p:spPr>
          <a:xfrm>
            <a:off x="6336792" y="29260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382512" y="3236976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Gotong Royong Sanitasi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382512" y="3767328"/>
            <a:ext cx="22311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desa dipadukan dengan swadaya wali murid untuk membangun wastafel dan sumber air bersih sederhana.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015984" y="1481328"/>
            <a:ext cx="2596896" cy="331012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1609344"/>
            <a:ext cx="1792224" cy="128016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153144" y="292608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</p:sp>
      <p:sp>
        <p:nvSpPr>
          <p:cNvPr id="27" name="Text 21"/>
          <p:cNvSpPr/>
          <p:nvPr/>
        </p:nvSpPr>
        <p:spPr>
          <a:xfrm>
            <a:off x="9153144" y="29260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9198864" y="3236976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Makan Bergizi Bersama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198864" y="3767328"/>
            <a:ext cx="22311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bahan lokal disiapkan bergilir oleh orang tua, dilengkapi kebun gizi sekolah dan pembiasaan PHBS.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66928" y="4956048"/>
            <a:ext cx="11057839" cy="1115568"/>
          </a:xfrm>
          <a:prstGeom prst="roundRect">
            <a:avLst>
              <a:gd name="adj" fmla="val 11475"/>
            </a:avLst>
          </a:prstGeom>
          <a:solidFill>
            <a:srgbClr val="F0EBFA"/>
          </a:solidFill>
          <a:ln w="12700">
            <a:solidFill>
              <a:srgbClr val="DED4F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877824" y="50657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7A6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FAKTOR KUNCI KEBERHASILAN</a:t>
            </a:r>
            <a:endParaRPr lang="en-US" sz="105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431536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88720" y="537667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Komitmen pimpinan satuan</a:t>
            </a:r>
            <a:endParaRPr lang="en-US" sz="1100" dirty="0"/>
          </a:p>
        </p:txBody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6836" y="5431536"/>
            <a:ext cx="237744" cy="23774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797732" y="537667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sebagai dasar ajakan</a:t>
            </a:r>
            <a:endParaRPr lang="en-US" sz="11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848" y="5431536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06744" y="537667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rutin dengan mitra</a:t>
            </a:r>
            <a:endParaRPr lang="en-US" sz="110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4859" y="5431536"/>
            <a:ext cx="237744" cy="23774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9015755" y="5376672"/>
            <a:ext cx="22249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&amp; apresiasi</a:t>
            </a:r>
            <a:endParaRPr lang="en-US" sz="1100" dirty="0"/>
          </a:p>
        </p:txBody>
      </p:sp>
      <p:sp>
        <p:nvSpPr>
          <p:cNvPr id="40" name="Text 30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41" name="Text 31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DCEDF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DCEDFB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Strategi Peningkatan Mutu Layanan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3502152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792224"/>
            <a:ext cx="585216" cy="585216"/>
          </a:xfrm>
          <a:prstGeom prst="ellipse">
            <a:avLst>
              <a:gd name="adj" fmla="val 18750"/>
            </a:avLst>
          </a:prstGeom>
          <a:solidFill>
            <a:srgbClr val="1E76C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24" y="1932676"/>
            <a:ext cx="304312" cy="304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99616" y="171907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Perkuat kepemimpinan &amp; tata kelola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99616" y="2103120"/>
            <a:ext cx="2350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Kepala satuan memimpin perencanaan berbasis data dan refleksi berkala bersama pendidik.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10712" y="23591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76C8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43400" y="1517904"/>
            <a:ext cx="3502152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81144" y="1792224"/>
            <a:ext cx="585216" cy="585216"/>
          </a:xfrm>
          <a:prstGeom prst="ellipse">
            <a:avLst>
              <a:gd name="adj" fmla="val 18750"/>
            </a:avLst>
          </a:prstGeom>
          <a:solidFill>
            <a:srgbClr val="2FA3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596" y="1932676"/>
            <a:ext cx="304312" cy="304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76088" y="171907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Jadikan data sebagai dasar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276088" y="2103120"/>
            <a:ext cx="2350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Dapodik dan capaian 8 indikator untuk menentukan prioritas perbaikan.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187184" y="23591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FA36B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119872" y="1517904"/>
            <a:ext cx="3502152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57616" y="1792224"/>
            <a:ext cx="585216" cy="585216"/>
          </a:xfrm>
          <a:prstGeom prst="ellipse">
            <a:avLst>
              <a:gd name="adj" fmla="val 18750"/>
            </a:avLst>
          </a:prstGeom>
          <a:solidFill>
            <a:srgbClr val="F5871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068" y="1932676"/>
            <a:ext cx="304312" cy="3043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52560" y="1719072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kemitraan berbasis kebutuhan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9052560" y="2103120"/>
            <a:ext cx="2350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mitra sesuai indikator yang paling tertinggal, bukan sekadar yang mudah dihubungi.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10963656" y="23591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871F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566928" y="3090672"/>
            <a:ext cx="3502152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04672" y="3364992"/>
            <a:ext cx="585216" cy="585216"/>
          </a:xfrm>
          <a:prstGeom prst="ellipse">
            <a:avLst>
              <a:gd name="adj" fmla="val 18750"/>
            </a:avLst>
          </a:prstGeom>
          <a:solidFill>
            <a:srgbClr val="7A66B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124" y="3505444"/>
            <a:ext cx="304312" cy="3043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99616" y="329184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Kuatkan kapasitas pendidik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499616" y="3675888"/>
            <a:ext cx="2350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 sebagai penghubung PAUD HI perlu pelatihan, pendampingan, dan kesejahteraan.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3410712" y="39319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A66B8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4343400" y="3090672"/>
            <a:ext cx="3502152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581144" y="3364992"/>
            <a:ext cx="585216" cy="585216"/>
          </a:xfrm>
          <a:prstGeom prst="ellipse">
            <a:avLst>
              <a:gd name="adj" fmla="val 18750"/>
            </a:avLst>
          </a:prstGeom>
          <a:solidFill>
            <a:srgbClr val="1F9C9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596" y="3505444"/>
            <a:ext cx="304312" cy="3043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76088" y="329184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Lengkapi layanan &amp; sarana esensial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5276088" y="3675888"/>
            <a:ext cx="2350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Prioritaskan sanitasi, air bersih, dan lingkungan bermain yang aman serta inklusif.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7187184" y="39319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9C9C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Shape 29"/>
          <p:cNvSpPr/>
          <p:nvPr/>
        </p:nvSpPr>
        <p:spPr>
          <a:xfrm>
            <a:off x="8119872" y="3090672"/>
            <a:ext cx="3502152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357616" y="3364992"/>
            <a:ext cx="585216" cy="585216"/>
          </a:xfrm>
          <a:prstGeom prst="ellipse">
            <a:avLst>
              <a:gd name="adj" fmla="val 18750"/>
            </a:avLst>
          </a:prstGeom>
          <a:solidFill>
            <a:srgbClr val="E0574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8068" y="3505444"/>
            <a:ext cx="304312" cy="30431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052560" y="3291840"/>
            <a:ext cx="2368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Libatkan orang tua sebagai mitra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9052560" y="3675888"/>
            <a:ext cx="2350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orang tua yang konsisten menjaga kesinambungan stimulasi di rumah.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10963656" y="393192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574B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5288" y="4443984"/>
            <a:ext cx="8961120" cy="188655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DCEDF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DCEDFB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AKSI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30 – 60 – 90 Hari untuk Satuan PAUD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478682" cy="4023360"/>
          </a:xfrm>
          <a:prstGeom prst="roundRect">
            <a:avLst>
              <a:gd name="adj" fmla="val 3680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572768"/>
            <a:ext cx="3478682" cy="859536"/>
          </a:xfrm>
          <a:prstGeom prst="roundRect">
            <a:avLst>
              <a:gd name="adj" fmla="val 14894"/>
            </a:avLst>
          </a:prstGeom>
          <a:solidFill>
            <a:srgbClr val="1E76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157984"/>
            <a:ext cx="3478682" cy="274320"/>
          </a:xfrm>
          <a:prstGeom prst="rect">
            <a:avLst/>
          </a:prstGeom>
          <a:solidFill>
            <a:srgbClr val="1E76C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10512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53312" y="1737360"/>
            <a:ext cx="2472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HARI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53312" y="2048256"/>
            <a:ext cx="2472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Menyiapkan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41248" y="2633472"/>
            <a:ext cx="293004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 tim kecil PAUD HI di satuan.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capaian 8 indikator pada Dapodik.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Petakan kebutuhan anak dan calon mitra.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 daftar kontak penanggung jawab mitra.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56506" y="1572768"/>
            <a:ext cx="3478682" cy="4023360"/>
          </a:xfrm>
          <a:prstGeom prst="roundRect">
            <a:avLst>
              <a:gd name="adj" fmla="val 3680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56506" y="1572768"/>
            <a:ext cx="3478682" cy="859536"/>
          </a:xfrm>
          <a:prstGeom prst="roundRect">
            <a:avLst>
              <a:gd name="adj" fmla="val 14894"/>
            </a:avLst>
          </a:prstGeom>
          <a:solidFill>
            <a:srgbClr val="F587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56506" y="2157984"/>
            <a:ext cx="3478682" cy="274320"/>
          </a:xfrm>
          <a:prstGeom prst="rect">
            <a:avLst/>
          </a:prstGeom>
          <a:solidFill>
            <a:srgbClr val="F5871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538" y="1810512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42890" y="1737360"/>
            <a:ext cx="2472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HARI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5142890" y="2048256"/>
            <a:ext cx="2472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Menyepakati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630826" y="2633472"/>
            <a:ext cx="293004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Audiensi ke puskesmas, desa, dan dinas terkait.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Tandatangani PKS/MoU sederhana dengan mitra.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 kalender kegiatan terpadu satu semester.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Selenggarakan kelas orang tua perdana.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146085" y="1572768"/>
            <a:ext cx="3478682" cy="4023360"/>
          </a:xfrm>
          <a:prstGeom prst="roundRect">
            <a:avLst>
              <a:gd name="adj" fmla="val 3680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46085" y="1572768"/>
            <a:ext cx="3478682" cy="859536"/>
          </a:xfrm>
          <a:prstGeom prst="roundRect">
            <a:avLst>
              <a:gd name="adj" fmla="val 14894"/>
            </a:avLst>
          </a:prstGeom>
          <a:solidFill>
            <a:srgbClr val="2FA3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146085" y="2157984"/>
            <a:ext cx="3478682" cy="274320"/>
          </a:xfrm>
          <a:prstGeom prst="rect">
            <a:avLst/>
          </a:prstGeom>
          <a:solidFill>
            <a:srgbClr val="2FA3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117" y="1810512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932469" y="1737360"/>
            <a:ext cx="24728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HARI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932469" y="2048256"/>
            <a:ext cx="2472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&amp; Menilai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8420405" y="2633472"/>
            <a:ext cx="293004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posyandu dan pemeriksaan terjadwal.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Dokumentasikan kegiatan dan perbarui data.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Refleksi bersama mitra dan orang tua.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Perluas kemitraan ke indikator yang tertinggal.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566928" y="577900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Tempelkan lembar ini di ruang guru. Rencana yang terlihat setiap hari jauh lebih mungkin dijalankan.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E3F6EC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E3F6E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AKSI NYATA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Lembar Cek Aksi di Satuan PAUD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53949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168249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3F6EC"/>
          </a:solidFill>
          <a:ln w="17780">
            <a:solidFill>
              <a:srgbClr val="2FA36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746504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43584" y="1572768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Menyelenggarakan kelas orang tua minimal satu kali per semester.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36208" y="1517904"/>
            <a:ext cx="53949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55664" y="168249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3F6EC"/>
          </a:solidFill>
          <a:ln w="17780">
            <a:solidFill>
              <a:srgbClr val="2FA36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74650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12864" y="1572768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Memantau pertumbuhan anak: berat badan, tinggi badan, dan lingkar kepala.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66928" y="2340864"/>
            <a:ext cx="53949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" y="250545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3F6EC"/>
          </a:solidFill>
          <a:ln w="17780">
            <a:solidFill>
              <a:srgbClr val="2FA36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56946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43584" y="2395728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Memantau perkembangan anak dengan DDTK/KPSP/KMS/KIA/KKA.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36208" y="2340864"/>
            <a:ext cx="53949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55664" y="250545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3F6EC"/>
          </a:solidFill>
          <a:ln w="17780">
            <a:solidFill>
              <a:srgbClr val="2FA36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569464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12864" y="2395728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Berkoordinasi dengan puskesmas dan posyandu secara terjadwal.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66928" y="3163824"/>
            <a:ext cx="53949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86384" y="332841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3F6EC"/>
          </a:solidFill>
          <a:ln w="17780">
            <a:solidFill>
              <a:srgbClr val="2FA36B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392424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43584" y="3218688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Membiasakan PHBS: cuci tangan, sikat gigi, dan kebersihan diri.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236208" y="3163824"/>
            <a:ext cx="53949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455664" y="332841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3F6EC"/>
          </a:solidFill>
          <a:ln w="17780">
            <a:solidFill>
              <a:srgbClr val="2FA36B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3392424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12864" y="3218688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Memberikan PMT atau makanan bergizi minimal tiga bulan sekali.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566928" y="3986784"/>
            <a:ext cx="53949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786384" y="415137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3F6EC"/>
          </a:solidFill>
          <a:ln w="17780">
            <a:solidFill>
              <a:srgbClr val="2FA36B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" y="4215384"/>
            <a:ext cx="201168" cy="20116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243584" y="4041648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Memastikan seluruh peserta didik memiliki NIK.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6236208" y="3986784"/>
            <a:ext cx="5394960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6455664" y="415137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E3F6EC"/>
          </a:solidFill>
          <a:ln w="17780">
            <a:solidFill>
              <a:srgbClr val="2FA36B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672" y="4215384"/>
            <a:ext cx="201168" cy="20116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912864" y="4041648"/>
            <a:ext cx="4517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Menyediakan fasilitas sanitasi dan air bersih yang mengalir.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566928" y="4864608"/>
            <a:ext cx="7223760" cy="1060704"/>
          </a:xfrm>
          <a:prstGeom prst="roundRect">
            <a:avLst>
              <a:gd name="adj" fmla="val 12069"/>
            </a:avLst>
          </a:prstGeom>
          <a:solidFill>
            <a:srgbClr val="E3F6EC"/>
          </a:solidFill>
          <a:ln w="12700">
            <a:solidFill>
              <a:srgbClr val="BCE8D1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9" name="Text 29"/>
          <p:cNvSpPr/>
          <p:nvPr/>
        </p:nvSpPr>
        <p:spPr>
          <a:xfrm>
            <a:off x="877824" y="49926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satu</a:t>
            </a:r>
            <a:endParaRPr lang="en-US" sz="1300" dirty="0"/>
          </a:p>
        </p:txBody>
      </p:sp>
      <p:sp>
        <p:nvSpPr>
          <p:cNvPr id="40" name="Text 30"/>
          <p:cNvSpPr/>
          <p:nvPr/>
        </p:nvSpPr>
        <p:spPr>
          <a:xfrm>
            <a:off x="877824" y="5285232"/>
            <a:ext cx="66202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satu indikator yang paling tertinggal di satuan Anda, tetapkan penanggung jawabnya, dan tentukan tanggal pelaksanaannya sebelum meninggalkan ruangan ini.</a:t>
            </a:r>
            <a:endParaRPr lang="en-US" sz="12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9236" y="4901184"/>
            <a:ext cx="1735531" cy="1335024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43" name="Text 32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291840" cy="3291840"/>
          </a:xfrm>
          <a:prstGeom prst="ellipse">
            <a:avLst/>
          </a:prstGeom>
          <a:solidFill>
            <a:srgbClr val="DCEDF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20095" y="5303520"/>
            <a:ext cx="2926080" cy="2926080"/>
          </a:xfrm>
          <a:prstGeom prst="ellipse">
            <a:avLst/>
          </a:prstGeom>
          <a:solidFill>
            <a:srgbClr val="DCEDFB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65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MENJAGA MUTU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Evaluasi, dan Perbaikan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1517904"/>
            <a:ext cx="2615184" cy="1773936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1719072"/>
            <a:ext cx="548640" cy="548640"/>
          </a:xfrm>
          <a:prstGeom prst="ellipse">
            <a:avLst>
              <a:gd name="adj" fmla="val 20000"/>
            </a:avLst>
          </a:prstGeom>
          <a:solidFill>
            <a:srgbClr val="1E76C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850746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5564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Rencanakan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86384" y="2395728"/>
            <a:ext cx="21762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Tetapkan target indikator dan mitra yang dilibatkan.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2286000"/>
            <a:ext cx="164592" cy="201168"/>
          </a:xfrm>
          <a:prstGeom prst="rightArrow">
            <a:avLst/>
          </a:prstGeom>
          <a:solidFill>
            <a:srgbClr val="B9DBF6"/>
          </a:solidFill>
          <a:ln/>
        </p:spPr>
      </p:sp>
      <p:sp>
        <p:nvSpPr>
          <p:cNvPr id="12" name="Shape 9"/>
          <p:cNvSpPr/>
          <p:nvPr/>
        </p:nvSpPr>
        <p:spPr>
          <a:xfrm>
            <a:off x="3383280" y="1517904"/>
            <a:ext cx="2615184" cy="1773936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02736" y="1719072"/>
            <a:ext cx="548640" cy="548640"/>
          </a:xfrm>
          <a:prstGeom prst="ellipse">
            <a:avLst>
              <a:gd name="adj" fmla="val 20000"/>
            </a:avLst>
          </a:prstGeom>
          <a:solidFill>
            <a:srgbClr val="F5871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410" y="1850746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79392" y="175564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Laksanakan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02736" y="2395728"/>
            <a:ext cx="21762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kegiatan sesuai kalender terpadu.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16752" y="2286000"/>
            <a:ext cx="164592" cy="201168"/>
          </a:xfrm>
          <a:prstGeom prst="rightArrow">
            <a:avLst/>
          </a:prstGeom>
          <a:solidFill>
            <a:srgbClr val="B9DBF6"/>
          </a:solidFill>
          <a:ln/>
        </p:spPr>
      </p:sp>
      <p:sp>
        <p:nvSpPr>
          <p:cNvPr id="18" name="Shape 14"/>
          <p:cNvSpPr/>
          <p:nvPr/>
        </p:nvSpPr>
        <p:spPr>
          <a:xfrm>
            <a:off x="6199632" y="1517904"/>
            <a:ext cx="2615184" cy="1773936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19088" y="1719072"/>
            <a:ext cx="548640" cy="548640"/>
          </a:xfrm>
          <a:prstGeom prst="ellipse">
            <a:avLst>
              <a:gd name="adj" fmla="val 20000"/>
            </a:avLst>
          </a:prstGeom>
          <a:solidFill>
            <a:srgbClr val="2FA36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762" y="1850746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95744" y="175564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Pantau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19088" y="2395728"/>
            <a:ext cx="21762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 kehadiran, hasil pemeriksaan, dan hambatan.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833104" y="2286000"/>
            <a:ext cx="164592" cy="201168"/>
          </a:xfrm>
          <a:prstGeom prst="rightArrow">
            <a:avLst/>
          </a:prstGeom>
          <a:solidFill>
            <a:srgbClr val="B9DBF6"/>
          </a:solidFill>
          <a:ln/>
        </p:spPr>
      </p:sp>
      <p:sp>
        <p:nvSpPr>
          <p:cNvPr id="24" name="Shape 19"/>
          <p:cNvSpPr/>
          <p:nvPr/>
        </p:nvSpPr>
        <p:spPr>
          <a:xfrm>
            <a:off x="9015984" y="1517904"/>
            <a:ext cx="2615184" cy="1773936"/>
          </a:xfrm>
          <a:prstGeom prst="roundRect">
            <a:avLst>
              <a:gd name="adj" fmla="val 7216"/>
            </a:avLst>
          </a:prstGeom>
          <a:solidFill>
            <a:srgbClr val="FFFFFF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235440" y="1719072"/>
            <a:ext cx="548640" cy="548640"/>
          </a:xfrm>
          <a:prstGeom prst="ellipse">
            <a:avLst>
              <a:gd name="adj" fmla="val 20000"/>
            </a:avLst>
          </a:prstGeom>
          <a:solidFill>
            <a:srgbClr val="7A66B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7114" y="1850746"/>
            <a:ext cx="285293" cy="28529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912096" y="1755648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6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Perbaiki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9235440" y="2395728"/>
            <a:ext cx="21762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Refleksi bersama, sesuaikan rencana berikutnya.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85216" y="35295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E7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INDIKATOR KEBERHASILAN KEMITRAAN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66928" y="3840480"/>
            <a:ext cx="2615184" cy="1517904"/>
          </a:xfrm>
          <a:prstGeom prst="roundRect">
            <a:avLst>
              <a:gd name="adj" fmla="val 8434"/>
            </a:avLst>
          </a:prstGeom>
          <a:solidFill>
            <a:srgbClr val="F7FAFD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86384" y="4023360"/>
            <a:ext cx="310896" cy="310896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32" name="Text 26"/>
          <p:cNvSpPr/>
          <p:nvPr/>
        </p:nvSpPr>
        <p:spPr>
          <a:xfrm>
            <a:off x="786384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786384" y="4425696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indikator PAUD HI terpenuhi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786384" y="486460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minimal 6 dari 8 indikator, menuju 8 dari 8.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3383280" y="3840480"/>
            <a:ext cx="2615184" cy="1517904"/>
          </a:xfrm>
          <a:prstGeom prst="roundRect">
            <a:avLst>
              <a:gd name="adj" fmla="val 8434"/>
            </a:avLst>
          </a:prstGeom>
          <a:solidFill>
            <a:srgbClr val="F7FAFD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3602736" y="4023360"/>
            <a:ext cx="310896" cy="310896"/>
          </a:xfrm>
          <a:prstGeom prst="ellipse">
            <a:avLst/>
          </a:prstGeom>
          <a:solidFill>
            <a:srgbClr val="1E76C8"/>
          </a:solidFill>
          <a:ln/>
        </p:spPr>
      </p:sp>
      <p:sp>
        <p:nvSpPr>
          <p:cNvPr id="37" name="Text 31"/>
          <p:cNvSpPr/>
          <p:nvPr/>
        </p:nvSpPr>
        <p:spPr>
          <a:xfrm>
            <a:off x="3602736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3602736" y="4425696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mitra aktif dengan kesepakatan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3602736" y="486460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tiga mitra memiliki PKS/MoU yang berjalan.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6199632" y="3840480"/>
            <a:ext cx="2615184" cy="1517904"/>
          </a:xfrm>
          <a:prstGeom prst="roundRect">
            <a:avLst>
              <a:gd name="adj" fmla="val 8434"/>
            </a:avLst>
          </a:prstGeom>
          <a:solidFill>
            <a:srgbClr val="F7FAFD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6419088" y="4023360"/>
            <a:ext cx="310896" cy="310896"/>
          </a:xfrm>
          <a:prstGeom prst="ellipse">
            <a:avLst/>
          </a:prstGeom>
          <a:solidFill>
            <a:srgbClr val="F5871F"/>
          </a:solidFill>
          <a:ln/>
        </p:spPr>
      </p:sp>
      <p:sp>
        <p:nvSpPr>
          <p:cNvPr id="42" name="Text 36"/>
          <p:cNvSpPr/>
          <p:nvPr/>
        </p:nvSpPr>
        <p:spPr>
          <a:xfrm>
            <a:off x="6419088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6419088" y="4425696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Keterlibatan orang tua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6419088" y="486460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Kehadiran kelas orang tua meningkat setiap semester.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9015984" y="3840480"/>
            <a:ext cx="2615184" cy="1517904"/>
          </a:xfrm>
          <a:prstGeom prst="roundRect">
            <a:avLst>
              <a:gd name="adj" fmla="val 8434"/>
            </a:avLst>
          </a:prstGeom>
          <a:solidFill>
            <a:srgbClr val="F7FAFD"/>
          </a:solidFill>
          <a:ln w="12700">
            <a:solidFill>
              <a:srgbClr val="E1EBF3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9235440" y="4023360"/>
            <a:ext cx="310896" cy="310896"/>
          </a:xfrm>
          <a:prstGeom prst="ellipse">
            <a:avLst/>
          </a:prstGeom>
          <a:solidFill>
            <a:srgbClr val="7A66B8"/>
          </a:solidFill>
          <a:ln/>
        </p:spPr>
      </p:sp>
      <p:sp>
        <p:nvSpPr>
          <p:cNvPr id="47" name="Text 41"/>
          <p:cNvSpPr/>
          <p:nvPr/>
        </p:nvSpPr>
        <p:spPr>
          <a:xfrm>
            <a:off x="9235440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9235440" y="4425696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Ketepatan data Dapodik</a:t>
            </a:r>
            <a:endParaRPr lang="en-US" sz="1200" dirty="0"/>
          </a:p>
        </p:txBody>
      </p:sp>
      <p:sp>
        <p:nvSpPr>
          <p:cNvPr id="49" name="Text 43"/>
          <p:cNvSpPr/>
          <p:nvPr/>
        </p:nvSpPr>
        <p:spPr>
          <a:xfrm>
            <a:off x="9235440" y="4864608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E5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PAUD HI diperbarui tepat waktu setiap semester.</a:t>
            </a:r>
            <a:endParaRPr lang="en-US" sz="1050" dirty="0"/>
          </a:p>
        </p:txBody>
      </p:sp>
      <p:sp>
        <p:nvSpPr>
          <p:cNvPr id="50" name="Shape 44"/>
          <p:cNvSpPr/>
          <p:nvPr/>
        </p:nvSpPr>
        <p:spPr>
          <a:xfrm>
            <a:off x="566928" y="5486400"/>
            <a:ext cx="11057839" cy="658368"/>
          </a:xfrm>
          <a:prstGeom prst="roundRect">
            <a:avLst>
              <a:gd name="adj" fmla="val 19444"/>
            </a:avLst>
          </a:prstGeom>
          <a:solidFill>
            <a:srgbClr val="DCEDFB"/>
          </a:solidFill>
          <a:ln w="12700">
            <a:solidFill>
              <a:srgbClr val="B9DBF6"/>
            </a:solidFill>
            <a:prstDash val="solid"/>
          </a:ln>
          <a:effectLst>
            <a:outerShdw sx="100000" sy="100000" kx="0" ky="0" algn="bl" rotWithShape="0" blurRad="177800" dist="38100" dir="5400000">
              <a:srgbClr val="0F3352">
                <a:alpha val="10000"/>
              </a:srgbClr>
            </a:outerShdw>
          </a:effectLst>
        </p:spPr>
      </p:sp>
      <p:sp>
        <p:nvSpPr>
          <p:cNvPr id="51" name="Text 45"/>
          <p:cNvSpPr/>
          <p:nvPr/>
        </p:nvSpPr>
        <p:spPr>
          <a:xfrm>
            <a:off x="877824" y="5541264"/>
            <a:ext cx="104360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37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bukan mencari kesalahan, melainkan menjaga agar layanan yang sudah baik tidak berhenti di tengah jalan.</a:t>
            </a:r>
            <a:endParaRPr lang="en-US" sz="1250" dirty="0"/>
          </a:p>
        </p:txBody>
      </p:sp>
      <p:sp>
        <p:nvSpPr>
          <p:cNvPr id="52" name="Text 46"/>
          <p:cNvSpPr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&amp; PAUD Holistik Integratif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1118585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35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957217"/>
            <a:ext cx="12191695" cy="290078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0" y="-1645920"/>
            <a:ext cx="5486400" cy="5486400"/>
          </a:xfrm>
          <a:prstGeom prst="ellipse">
            <a:avLst/>
          </a:prstGeom>
          <a:solidFill>
            <a:srgbClr val="2FA36B">
              <a:alpha val="3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-1645920" y="1463040"/>
            <a:ext cx="3291840" cy="3291840"/>
          </a:xfrm>
          <a:prstGeom prst="ellipse">
            <a:avLst/>
          </a:prstGeom>
          <a:solidFill>
            <a:srgbClr val="F5871F">
              <a:alpha val="3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66928" y="5486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D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 Wujudkan Bersama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932688"/>
            <a:ext cx="87782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Anak Indonesia Tumbuh Utuh,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PAUD Bermutu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66928" y="228600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9D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Kemitraan strategis bukan menambah pekerjaan satuan PAUD — ia membagi beban, memperluas dukungan, dan memastikan tidak ada satu pun kebutuhan anak yang terlewat.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2999232"/>
            <a:ext cx="2461565" cy="402336"/>
          </a:xfrm>
          <a:prstGeom prst="roundRect">
            <a:avLst>
              <a:gd name="adj" fmla="val 50000"/>
            </a:avLst>
          </a:prstGeom>
          <a:solidFill>
            <a:srgbClr val="F5871F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2999232"/>
            <a:ext cx="246156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Petakan mitra minggu ini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93085" y="2999232"/>
            <a:ext cx="2551176" cy="402336"/>
          </a:xfrm>
          <a:prstGeom prst="roundRect">
            <a:avLst>
              <a:gd name="adj" fmla="val 50000"/>
            </a:avLst>
          </a:prstGeom>
          <a:solidFill>
            <a:srgbClr val="2FA36B"/>
          </a:solidFill>
          <a:ln/>
        </p:spPr>
      </p:sp>
      <p:sp>
        <p:nvSpPr>
          <p:cNvPr id="11" name="Text 8"/>
          <p:cNvSpPr/>
          <p:nvPr/>
        </p:nvSpPr>
        <p:spPr>
          <a:xfrm>
            <a:off x="3193085" y="2999232"/>
            <a:ext cx="2551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satu indikator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908853" y="2999232"/>
            <a:ext cx="2640787" cy="402336"/>
          </a:xfrm>
          <a:prstGeom prst="roundRect">
            <a:avLst>
              <a:gd name="adj" fmla="val 50000"/>
            </a:avLst>
          </a:prstGeom>
          <a:solidFill>
            <a:srgbClr val="1F9C9C"/>
          </a:solidFill>
          <a:ln/>
        </p:spPr>
      </p:sp>
      <p:sp>
        <p:nvSpPr>
          <p:cNvPr id="13" name="Text 10"/>
          <p:cNvSpPr/>
          <p:nvPr/>
        </p:nvSpPr>
        <p:spPr>
          <a:xfrm>
            <a:off x="5908853" y="2999232"/>
            <a:ext cx="26407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Catat, laporkan, apresiasi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66928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Penguatan Kemitraan Strategis dan PAUD Holistik Integratif</dc:title>
  <dc:subject>PptxGenJS Presentation</dc:subject>
  <dc:creator>Direktorat Pendidikan Anak Usia Dini</dc:creator>
  <cp:lastModifiedBy>Direktorat Pendidikan Anak Usia Dini</cp:lastModifiedBy>
  <cp:revision>1</cp:revision>
  <dcterms:created xsi:type="dcterms:W3CDTF">2026-07-28T09:50:06Z</dcterms:created>
  <dcterms:modified xsi:type="dcterms:W3CDTF">2026-07-28T09:50:06Z</dcterms:modified>
</cp:coreProperties>
</file>