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Persentase satuan PAUD</c:v>
                </c:pt>
              </c:strCache>
            </c:strRef>
          </c:tx>
          <c:spPr>
            <a:solidFill>
              <a:srgbClr val="2FA36B"/>
            </a:solidFill>
            <a:effectLst/>
          </c:spPr>
          <c:invertIfNegative val="0"/>
          <c:dLbls>
            <c:numFmt formatCode="0.00&quot;%&quot;" sourceLinked="0"/>
            <c:txPr>
              <a:bodyPr/>
              <a:lstStyle/>
              <a:p>
                <a:pPr>
                  <a:defRPr b="0" i="0" strike="noStrike" sz="1000" u="none">
                    <a:solidFill>
                      <a:srgbClr val="173753"/>
                    </a:solidFill>
                    <a:latin typeface="Calibri"/>
                  </a:defRPr>
                </a:pPr>
              </a:p>
            </c:txPr>
            <c:showLegendKey val="0"/>
            <c:showVal val="1"/>
            <c:showCatName val="0"/>
            <c:showSerName val="0"/>
            <c:showPercent val="0"/>
            <c:showBubbleSize val="0"/>
            <c:showLeaderLines val="0"/>
          </c:dLbls>
          <c:dPt>
            <c:idx val="0"/>
            <c:invertIfNegative val="0"/>
            <c:bubble3D val="0"/>
            <c:spPr>
              <a:solidFill>
                <a:srgbClr val="2FA36B"/>
              </a:solidFill>
              <a:effectLst/>
            </c:spPr>
          </c:dPt>
          <c:dPt>
            <c:idx val="1"/>
            <c:invertIfNegative val="0"/>
            <c:bubble3D val="0"/>
            <c:spPr>
              <a:solidFill>
                <a:srgbClr val="2FA36B"/>
              </a:solidFill>
              <a:effectLst/>
            </c:spPr>
          </c:dPt>
          <c:dPt>
            <c:idx val="2"/>
            <c:invertIfNegative val="0"/>
            <c:bubble3D val="0"/>
            <c:spPr>
              <a:solidFill>
                <a:srgbClr val="2FA36B"/>
              </a:solidFill>
              <a:effectLst/>
            </c:spPr>
          </c:dPt>
          <c:dPt>
            <c:idx val="3"/>
            <c:invertIfNegative val="0"/>
            <c:bubble3D val="0"/>
            <c:spPr>
              <a:solidFill>
                <a:srgbClr val="1E76C8"/>
              </a:solidFill>
              <a:effectLst/>
            </c:spPr>
          </c:dPt>
          <c:dPt>
            <c:idx val="4"/>
            <c:invertIfNegative val="0"/>
            <c:bubble3D val="0"/>
            <c:spPr>
              <a:solidFill>
                <a:srgbClr val="1E76C8"/>
              </a:solidFill>
              <a:effectLst/>
            </c:spPr>
          </c:dPt>
          <c:dPt>
            <c:idx val="5"/>
            <c:invertIfNegative val="0"/>
            <c:bubble3D val="0"/>
            <c:spPr>
              <a:solidFill>
                <a:srgbClr val="1E76C8"/>
              </a:solidFill>
              <a:effectLst/>
            </c:spPr>
          </c:dPt>
          <c:dPt>
            <c:idx val="6"/>
            <c:invertIfNegative val="0"/>
            <c:bubble3D val="0"/>
            <c:spPr>
              <a:solidFill>
                <a:srgbClr val="F5871F"/>
              </a:solidFill>
              <a:effectLst/>
            </c:spPr>
          </c:dPt>
          <c:dPt>
            <c:idx val="7"/>
            <c:invertIfNegative val="0"/>
            <c:bubble3D val="0"/>
            <c:spPr>
              <a:solidFill>
                <a:srgbClr val="E0574B"/>
              </a:solidFill>
              <a:effectLst/>
            </c:spPr>
          </c:dPt>
          <c:cat>
            <c:multiLvlStrRef>
              <c:f>Sheet1!$A$2:$A$9</c:f>
              <c:multiLvlStrCache>
                <c:ptCount val="8"/>
                <c:lvl>
                  <c:pt idx="0">
                    <c:v>Kelas orang tua</c:v>
                  </c:pt>
                  <c:pt idx="1">
                    <c:v>Pemantauan NIK</c:v>
                  </c:pt>
                  <c:pt idx="2">
                    <c:v>Penerapan PHBS</c:v>
                  </c:pt>
                  <c:pt idx="3">
                    <c:v>Pemantauan pertumbuhan</c:v>
                  </c:pt>
                  <c:pt idx="4">
                    <c:v>Pemantauan perkembangan</c:v>
                  </c:pt>
                  <c:pt idx="5">
                    <c:v>PMT &amp; makanan bergizi</c:v>
                  </c:pt>
                  <c:pt idx="6">
                    <c:v>Koordinasi lintas sektor</c:v>
                  </c:pt>
                  <c:pt idx="7">
                    <c:v>Sanitasi &amp; air bersih</c:v>
                  </c:pt>
                </c:lvl>
              </c:multiLvlStrCache>
            </c:multiLvlStrRef>
          </c:cat>
          <c:val>
            <c:numRef>
              <c:f>Sheet1!$B$2:$B$9</c:f>
              <c:numCache>
                <c:formatCode>General</c:formatCode>
                <c:ptCount val="8"/>
                <c:pt idx="0">
                  <c:v>98.59</c:v>
                </c:pt>
                <c:pt idx="1">
                  <c:v>95.86</c:v>
                </c:pt>
                <c:pt idx="2">
                  <c:v>94.75</c:v>
                </c:pt>
                <c:pt idx="3">
                  <c:v>90.84</c:v>
                </c:pt>
                <c:pt idx="4">
                  <c:v>89.12</c:v>
                </c:pt>
                <c:pt idx="5">
                  <c:v>86.94</c:v>
                </c:pt>
                <c:pt idx="6">
                  <c:v>75.46</c:v>
                </c:pt>
                <c:pt idx="7">
                  <c:v>8.95</c:v>
                </c:pt>
              </c:numCache>
            </c:numRef>
          </c:val>
        </c:ser>
        <c:dLbls>
          <c:numFmt formatCode="0.00&quot;%&quot;" sourceLinked="0"/>
          <c:txPr>
            <a:bodyPr/>
            <a:lstStyle/>
            <a:p>
              <a:pPr>
                <a:defRPr b="0" i="0" strike="noStrike" sz="1000" u="none">
                  <a:solidFill>
                    <a:srgbClr val="173753"/>
                  </a:solidFill>
                  <a:latin typeface="Calibri"/>
                </a:defRPr>
              </a:pPr>
            </a:p>
          </c:txPr>
          <c:showLegendKey val="0"/>
          <c:showVal val="1"/>
          <c:showCatName val="0"/>
          <c:showSerName val="0"/>
          <c:showPercent val="0"/>
          <c:showBubbleSize val="0"/>
          <c:showLeaderLines val="0"/>
        </c:dLbls>
        <c:gapWidth val="42"/>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50" b="0" i="0" u="none" strike="noStrike">
                <a:solidFill>
                  <a:srgbClr val="3E5C77"/>
                </a:solidFill>
                <a:latin typeface="Calibri"/>
              </a:defRPr>
            </a:pPr>
            <a:endParaRPr lang="en-US"/>
          </a:p>
        </c:txPr>
        <c:crossAx val="2094734552"/>
        <c:crosses val="autoZero"/>
        <c:auto val="1"/>
        <c:lblAlgn val="ctr"/>
        <c:noMultiLvlLbl val="1"/>
      </c:catAx>
      <c:valAx>
        <c:axId val="2094734552"/>
        <c:scaling>
          <c:orientation val="minMax"/>
          <c:max val="100"/>
        </c:scaling>
        <c:delete val="0"/>
        <c:axPos val="b"/>
        <c:majorGridlines>
          <c:spPr>
            <a:ln w="12700" cap="flat">
              <a:solidFill>
                <a:srgbClr val="E1EBF3"/>
              </a:solidFill>
              <a:prstDash val="solid"/>
              <a:round/>
            </a:ln>
          </c:spPr>
        </c:majorGridlines>
        <c:numFmt formatCode="General" sourceLinked="0"/>
        <c:majorTickMark val="out"/>
        <c:minorTickMark val="none"/>
        <c:tickLblPos val="low"/>
        <c:spPr>
          <a:ln w="12700" cap="flat">
            <a:noFill/>
            <a:prstDash val="solid"/>
            <a:round/>
          </a:ln>
        </c:spPr>
        <c:txPr>
          <a:bodyPr/>
          <a:lstStyle/>
          <a:p>
            <a:pPr>
              <a:defRPr sz="900" b="0" i="0" u="none" strike="noStrike">
                <a:solidFill>
                  <a:srgbClr val="7A93A8"/>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pembuka. Sampaikan judul, tujuan besar sesi, dan ajak peserta melihat PAUD HI sebagai kerja bersama — bukan program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lima bagian. Tekankan bahwa sesi ditutup dengan aksi nyata yang bisa langsung dikerjakan satuan.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enam tujuan singkat. Minta peserta menandai satu tujuan yang paling mereka butuhkan.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Beri jeda 2 menit. Minta 2–3 peserta menjawab lisan. Jawaban mereka menjadi jangkar sepanjang sesi.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kontras: indikator berbasis kegiatan sudah di atas 85%, sementara sarana sanitasi baru 8,95%.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Gunakan rumusan Perpres 60/2013: kualitas SDM ditentukan kualitas perkembangan anak usia dini.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Ajak peserta menandai hambatan mana yang paling terasa di satuan mereka.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tiga kata kunci: simultan, sistematis, terintegrasi. Ini yang membedakan PAUD HI dari kegiatan insidental.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Lima layanan esensial: pendidikan; kesehatan dan gizi; pengasuhan; perlindungan; kesejahteraan.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 elemen PAUD Berkualitas di kanan berasal dari panduan Direktorat PAUD: pembelajaran berkualitas, kemitraan orang tua, dukungan pemenuhan kebutuhan esensial, dan kepemimpinan untuk perbaikan berkelanjutan.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Tidak perlu menghafal pasal. Cukup pahami: ada payung hukum yang mewajibkan koordinasi lintas sektor.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Bisa dijadikan kuis benar/salah interaktif: minta peserta angkat tangan sebelum jawaban dibuka.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Minta peserta mencentang indikator yang sudah dan belum dipenuhi satuannya.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Fokuskan diskusi pada jurang antara indikator kegiatan dan indikator sarana fisik.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Bedakan kemitraan strategis dari bantuan insidental: ada rencana, kesepakatan, dan keberlanjutan.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Ajak peserta menyebut mitra yang sudah aktif dan mitra yang belum pernah dihubungi.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mitra ini bisa disesuaikan dengan konteks daerah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Trisentra: keluarga, satuan pendidikan, masyarakat. Semuanya perlu informasi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Tekankan: datang membawa data membuat mitra lebih mudah menyetujui kerja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Ingatkan aturan penggunaan setiap sumber dana tetap mengikuti juknis yang berlaku.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Minta peserta memilih satu pola yang paling mungkin dijalankan di satuannya bulan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Enam strategi satuan di kiri; lima jalur strategi Direktorat PAUD di kanan. Tekankan keterhubungannya.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Dorong setiap satuan menetapkan tanggal dan nama penanggung jawab untuk setiap butir.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Lembar ini sejajar dengan 8 indikator PAUD HI sehingga langsung terhubung ke pelaporan Dapodik.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Sarankan satu format sederhana: satu halaman per semester berisi target, realisasi, dan tindak lanjut.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Tutup dengan ajakan konkret: satu indikator, satu mitra, satu tanggal.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slideLayout" Target="../slideLayouts/slideLayout1.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slideLayout" Target="../slideLayouts/slideLayout1.xml"/><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1.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jpe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1.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jpe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slideLayout" Target="../slideLayouts/slideLayout1.xml"/><Relationship Id="rId11"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1.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55F"/>
        </a:solidFill>
      </p:bgPr>
    </p:bg>
    <p:spTree>
      <p:nvGrpSpPr>
        <p:cNvPr id="1" name=""/>
        <p:cNvGrpSpPr/>
        <p:nvPr/>
      </p:nvGrpSpPr>
      <p:grpSpPr>
        <a:xfrm>
          <a:off x="0" y="0"/>
          <a:ext cx="0" cy="0"/>
          <a:chOff x="0" y="0"/>
          <a:chExt cx="0" cy="0"/>
        </a:xfrm>
      </p:grpSpPr>
      <p:sp>
        <p:nvSpPr>
          <p:cNvPr id="2" name="Shape 0"/>
          <p:cNvSpPr/>
          <p:nvPr/>
        </p:nvSpPr>
        <p:spPr>
          <a:xfrm>
            <a:off x="7863840" y="-2011680"/>
            <a:ext cx="6583680" cy="6583680"/>
          </a:xfrm>
          <a:prstGeom prst="ellipse">
            <a:avLst/>
          </a:prstGeom>
          <a:solidFill>
            <a:srgbClr val="1E76C8">
              <a:alpha val="42000"/>
            </a:srgbClr>
          </a:solidFill>
          <a:ln/>
        </p:spPr>
      </p:sp>
      <p:sp>
        <p:nvSpPr>
          <p:cNvPr id="3" name="Shape 1"/>
          <p:cNvSpPr/>
          <p:nvPr/>
        </p:nvSpPr>
        <p:spPr>
          <a:xfrm>
            <a:off x="-1828800" y="3291840"/>
            <a:ext cx="4023360" cy="4023360"/>
          </a:xfrm>
          <a:prstGeom prst="ellipse">
            <a:avLst/>
          </a:prstGeom>
          <a:solidFill>
            <a:srgbClr val="2FA36B">
              <a:alpha val="32000"/>
            </a:srgbClr>
          </a:solidFill>
          <a:ln/>
        </p:spPr>
      </p:sp>
      <p:sp>
        <p:nvSpPr>
          <p:cNvPr id="4" name="Shape 2"/>
          <p:cNvSpPr/>
          <p:nvPr/>
        </p:nvSpPr>
        <p:spPr>
          <a:xfrm>
            <a:off x="6056071" y="1234440"/>
            <a:ext cx="5650992" cy="4370832"/>
          </a:xfrm>
          <a:prstGeom prst="roundRect">
            <a:avLst>
              <a:gd name="adj" fmla="val 2929"/>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5" name="Image 0" descr="preencoded.png">    </p:cNvPr>
          <p:cNvPicPr>
            <a:picLocks noChangeAspect="1"/>
          </p:cNvPicPr>
          <p:nvPr/>
        </p:nvPicPr>
        <p:blipFill>
          <a:blip r:embed="rId1"/>
          <a:stretch>
            <a:fillRect/>
          </a:stretch>
        </p:blipFill>
        <p:spPr>
          <a:xfrm>
            <a:off x="6138367" y="1316736"/>
            <a:ext cx="5486400" cy="4206240"/>
          </a:xfrm>
          <a:prstGeom prst="rect">
            <a:avLst/>
          </a:prstGeom>
        </p:spPr>
      </p:pic>
      <p:sp>
        <p:nvSpPr>
          <p:cNvPr id="6" name="Shape 3"/>
          <p:cNvSpPr/>
          <p:nvPr/>
        </p:nvSpPr>
        <p:spPr>
          <a:xfrm>
            <a:off x="566928" y="822960"/>
            <a:ext cx="3200400" cy="384048"/>
          </a:xfrm>
          <a:prstGeom prst="roundRect">
            <a:avLst>
              <a:gd name="adj" fmla="val 50000"/>
            </a:avLst>
          </a:prstGeom>
          <a:solidFill>
            <a:srgbClr val="F5871F"/>
          </a:solidFill>
          <a:ln/>
        </p:spPr>
      </p:sp>
      <p:sp>
        <p:nvSpPr>
          <p:cNvPr id="7" name="Text 4"/>
          <p:cNvSpPr/>
          <p:nvPr/>
        </p:nvSpPr>
        <p:spPr>
          <a:xfrm>
            <a:off x="566928" y="822960"/>
            <a:ext cx="320040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MATERI PENGUATAN PAUD HI</a:t>
            </a:r>
            <a:endParaRPr lang="en-US" sz="1100" dirty="0"/>
          </a:p>
        </p:txBody>
      </p:sp>
      <p:sp>
        <p:nvSpPr>
          <p:cNvPr id="8" name="Text 5"/>
          <p:cNvSpPr/>
          <p:nvPr/>
        </p:nvSpPr>
        <p:spPr>
          <a:xfrm>
            <a:off x="566928" y="1463040"/>
            <a:ext cx="5394960" cy="1920240"/>
          </a:xfrm>
          <a:prstGeom prst="rect">
            <a:avLst/>
          </a:prstGeom>
          <a:noFill/>
          <a:ln/>
        </p:spPr>
        <p:txBody>
          <a:bodyPr wrap="square" lIns="0" tIns="0" rIns="0" bIns="0" rtlCol="0" anchor="ctr"/>
          <a:lstStyle/>
          <a:p>
            <a:pPr indent="0" marL="0">
              <a:lnSpc>
                <a:spcPts val="3300"/>
              </a:lnSpc>
              <a:buNone/>
            </a:pPr>
            <a:r>
              <a:rPr lang="en-US" sz="2900" b="1" dirty="0">
                <a:solidFill>
                  <a:srgbClr val="FFFFFF"/>
                </a:solidFill>
                <a:latin typeface="Calibri" pitchFamily="34" charset="0"/>
                <a:ea typeface="Calibri" pitchFamily="34" charset="-122"/>
                <a:cs typeface="Calibri" pitchFamily="34" charset="-120"/>
              </a:rPr>
              <a:t>Penguatan Kemitraan Strategis</a:t>
            </a:r>
            <a:endParaRPr lang="en-US" sz="2900" dirty="0"/>
          </a:p>
          <a:p>
            <a:pPr indent="0" marL="0">
              <a:lnSpc>
                <a:spcPts val="3300"/>
              </a:lnSpc>
              <a:buNone/>
            </a:pPr>
            <a:r>
              <a:rPr lang="en-US" sz="2900" b="1" dirty="0">
                <a:solidFill>
                  <a:srgbClr val="FFFFFF"/>
                </a:solidFill>
                <a:latin typeface="Calibri" pitchFamily="34" charset="0"/>
                <a:ea typeface="Calibri" pitchFamily="34" charset="-122"/>
                <a:cs typeface="Calibri" pitchFamily="34" charset="-120"/>
              </a:rPr>
              <a:t>dan PAUD Holistik Integratif</a:t>
            </a:r>
            <a:endParaRPr lang="en-US" sz="2900" dirty="0"/>
          </a:p>
        </p:txBody>
      </p:sp>
      <p:sp>
        <p:nvSpPr>
          <p:cNvPr id="9" name="Text 6"/>
          <p:cNvSpPr/>
          <p:nvPr/>
        </p:nvSpPr>
        <p:spPr>
          <a:xfrm>
            <a:off x="566928" y="3529584"/>
            <a:ext cx="5394960" cy="384048"/>
          </a:xfrm>
          <a:prstGeom prst="rect">
            <a:avLst/>
          </a:prstGeom>
          <a:noFill/>
          <a:ln/>
        </p:spPr>
        <p:txBody>
          <a:bodyPr wrap="square" lIns="0" tIns="0" rIns="0" bIns="0" rtlCol="0" anchor="ctr"/>
          <a:lstStyle/>
          <a:p>
            <a:pPr indent="0" marL="0">
              <a:buNone/>
            </a:pPr>
            <a:r>
              <a:rPr lang="en-US" sz="1600" dirty="0">
                <a:solidFill>
                  <a:srgbClr val="B9DBF6"/>
                </a:solidFill>
                <a:latin typeface="Calibri" pitchFamily="34" charset="0"/>
                <a:ea typeface="Calibri" pitchFamily="34" charset="-122"/>
                <a:cs typeface="Calibri" pitchFamily="34" charset="-120"/>
              </a:rPr>
              <a:t>dalam Meningkatkan Mutu Layanan PAUD</a:t>
            </a:r>
            <a:endParaRPr lang="en-US" sz="1600" dirty="0"/>
          </a:p>
        </p:txBody>
      </p:sp>
      <p:sp>
        <p:nvSpPr>
          <p:cNvPr id="10" name="Shape 7"/>
          <p:cNvSpPr/>
          <p:nvPr/>
        </p:nvSpPr>
        <p:spPr>
          <a:xfrm>
            <a:off x="566928" y="3968496"/>
            <a:ext cx="972922" cy="365760"/>
          </a:xfrm>
          <a:prstGeom prst="roundRect">
            <a:avLst>
              <a:gd name="adj" fmla="val 50000"/>
            </a:avLst>
          </a:prstGeom>
          <a:solidFill>
            <a:srgbClr val="FFFFFF">
              <a:alpha val="18000"/>
            </a:srgbClr>
          </a:solidFill>
          <a:ln w="15875">
            <a:solidFill>
              <a:srgbClr val="F5871F"/>
            </a:solidFill>
            <a:prstDash val="solid"/>
          </a:ln>
        </p:spPr>
      </p:sp>
      <p:sp>
        <p:nvSpPr>
          <p:cNvPr id="11" name="Text 8"/>
          <p:cNvSpPr/>
          <p:nvPr/>
        </p:nvSpPr>
        <p:spPr>
          <a:xfrm>
            <a:off x="566928" y="3968496"/>
            <a:ext cx="97292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 Bagian</a:t>
            </a:r>
            <a:endParaRPr lang="en-US" sz="1100" dirty="0"/>
          </a:p>
        </p:txBody>
      </p:sp>
      <p:sp>
        <p:nvSpPr>
          <p:cNvPr id="12" name="Shape 9"/>
          <p:cNvSpPr/>
          <p:nvPr/>
        </p:nvSpPr>
        <p:spPr>
          <a:xfrm>
            <a:off x="1686154" y="3968496"/>
            <a:ext cx="972922" cy="365760"/>
          </a:xfrm>
          <a:prstGeom prst="roundRect">
            <a:avLst>
              <a:gd name="adj" fmla="val 50000"/>
            </a:avLst>
          </a:prstGeom>
          <a:solidFill>
            <a:srgbClr val="FFFFFF">
              <a:alpha val="18000"/>
            </a:srgbClr>
          </a:solidFill>
          <a:ln w="15875">
            <a:solidFill>
              <a:srgbClr val="2FA36B"/>
            </a:solidFill>
            <a:prstDash val="solid"/>
          </a:ln>
        </p:spPr>
      </p:sp>
      <p:sp>
        <p:nvSpPr>
          <p:cNvPr id="13" name="Text 10"/>
          <p:cNvSpPr/>
          <p:nvPr/>
        </p:nvSpPr>
        <p:spPr>
          <a:xfrm>
            <a:off x="1686154" y="3968496"/>
            <a:ext cx="97292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30 Slide</a:t>
            </a:r>
            <a:endParaRPr lang="en-US" sz="1100" dirty="0"/>
          </a:p>
        </p:txBody>
      </p:sp>
      <p:sp>
        <p:nvSpPr>
          <p:cNvPr id="14" name="Shape 11"/>
          <p:cNvSpPr/>
          <p:nvPr/>
        </p:nvSpPr>
        <p:spPr>
          <a:xfrm>
            <a:off x="2805379" y="3968496"/>
            <a:ext cx="2765146" cy="365760"/>
          </a:xfrm>
          <a:prstGeom prst="roundRect">
            <a:avLst>
              <a:gd name="adj" fmla="val 50000"/>
            </a:avLst>
          </a:prstGeom>
          <a:solidFill>
            <a:srgbClr val="FFFFFF">
              <a:alpha val="18000"/>
            </a:srgbClr>
          </a:solidFill>
          <a:ln w="15875">
            <a:solidFill>
              <a:srgbClr val="1F9C9C"/>
            </a:solidFill>
            <a:prstDash val="solid"/>
          </a:ln>
        </p:spPr>
      </p:sp>
      <p:sp>
        <p:nvSpPr>
          <p:cNvPr id="15" name="Text 12"/>
          <p:cNvSpPr/>
          <p:nvPr/>
        </p:nvSpPr>
        <p:spPr>
          <a:xfrm>
            <a:off x="2805379" y="3968496"/>
            <a:ext cx="2765146"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Berbasis 8 Indikator PAUD HI</a:t>
            </a:r>
            <a:endParaRPr lang="en-US" sz="1100" dirty="0"/>
          </a:p>
        </p:txBody>
      </p:sp>
      <p:sp>
        <p:nvSpPr>
          <p:cNvPr id="16" name="Text 13"/>
          <p:cNvSpPr/>
          <p:nvPr/>
        </p:nvSpPr>
        <p:spPr>
          <a:xfrm>
            <a:off x="566928" y="5943600"/>
            <a:ext cx="5486400" cy="292608"/>
          </a:xfrm>
          <a:prstGeom prst="rect">
            <a:avLst/>
          </a:prstGeom>
          <a:noFill/>
          <a:ln/>
        </p:spPr>
        <p:txBody>
          <a:bodyPr wrap="square" lIns="0" tIns="0" rIns="0" bIns="0" rtlCol="0" anchor="ctr"/>
          <a:lstStyle/>
          <a:p>
            <a:pPr indent="0" marL="0">
              <a:buNone/>
            </a:pPr>
            <a:r>
              <a:rPr lang="en-US" sz="1200" dirty="0">
                <a:solidFill>
                  <a:srgbClr val="B9DBF6"/>
                </a:solidFill>
                <a:latin typeface="Calibri" pitchFamily="34" charset="0"/>
                <a:ea typeface="Calibri" pitchFamily="34" charset="-122"/>
                <a:cs typeface="Calibri" pitchFamily="34" charset="-120"/>
              </a:rPr>
              <a:t>Direktorat Pendidikan Anak Usia Dini</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PETA PERJALANAN</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Alur Pembahasan Hari Ini</a:t>
            </a:r>
            <a:endParaRPr lang="en-US" sz="3200" dirty="0"/>
          </a:p>
        </p:txBody>
      </p:sp>
      <p:sp>
        <p:nvSpPr>
          <p:cNvPr id="6" name="Shape 4"/>
          <p:cNvSpPr/>
          <p:nvPr/>
        </p:nvSpPr>
        <p:spPr>
          <a:xfrm>
            <a:off x="566928" y="1481328"/>
            <a:ext cx="2036003" cy="239572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822960" y="1700784"/>
            <a:ext cx="603504" cy="603504"/>
          </a:xfrm>
          <a:prstGeom prst="ellipse">
            <a:avLst>
              <a:gd name="adj" fmla="val 18182"/>
            </a:avLst>
          </a:prstGeom>
          <a:solidFill>
            <a:srgbClr val="1E76C8"/>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967801" y="1845625"/>
            <a:ext cx="313822" cy="313822"/>
          </a:xfrm>
          <a:prstGeom prst="rect">
            <a:avLst/>
          </a:prstGeom>
        </p:spPr>
      </p:pic>
      <p:sp>
        <p:nvSpPr>
          <p:cNvPr id="9" name="Text 6"/>
          <p:cNvSpPr/>
          <p:nvPr/>
        </p:nvSpPr>
        <p:spPr>
          <a:xfrm>
            <a:off x="1761683" y="1682496"/>
            <a:ext cx="640080" cy="457200"/>
          </a:xfrm>
          <a:prstGeom prst="rect">
            <a:avLst/>
          </a:prstGeom>
          <a:noFill/>
          <a:ln/>
        </p:spPr>
        <p:txBody>
          <a:bodyPr wrap="square" lIns="0" tIns="0" rIns="0" bIns="0" rtlCol="0" anchor="ctr"/>
          <a:lstStyle/>
          <a:p>
            <a:pPr algn="r" indent="0" marL="0">
              <a:buNone/>
            </a:pPr>
            <a:r>
              <a:rPr lang="en-US" sz="2600" b="1" dirty="0">
                <a:solidFill>
                  <a:srgbClr val="1E76C8">
                    <a:alpha val="38000"/>
                  </a:srgbClr>
                </a:solidFill>
                <a:latin typeface="Calibri" pitchFamily="34" charset="0"/>
                <a:ea typeface="Calibri" pitchFamily="34" charset="-122"/>
                <a:cs typeface="Calibri" pitchFamily="34" charset="-120"/>
              </a:rPr>
              <a:t>01</a:t>
            </a:r>
            <a:endParaRPr lang="en-US" sz="2600" dirty="0"/>
          </a:p>
        </p:txBody>
      </p:sp>
      <p:sp>
        <p:nvSpPr>
          <p:cNvPr id="10" name="Text 7"/>
          <p:cNvSpPr/>
          <p:nvPr/>
        </p:nvSpPr>
        <p:spPr>
          <a:xfrm>
            <a:off x="822960" y="2432304"/>
            <a:ext cx="1523939" cy="566928"/>
          </a:xfrm>
          <a:prstGeom prst="rect">
            <a:avLst/>
          </a:prstGeom>
          <a:noFill/>
          <a:ln/>
        </p:spPr>
        <p:txBody>
          <a:bodyPr wrap="square" lIns="0" tIns="0" rIns="0" bIns="0" rtlCol="0" anchor="t"/>
          <a:lstStyle/>
          <a:p>
            <a:pPr indent="0" marL="0">
              <a:buNone/>
            </a:pPr>
            <a:r>
              <a:rPr lang="en-US" sz="1500" b="1" dirty="0">
                <a:solidFill>
                  <a:srgbClr val="173753"/>
                </a:solidFill>
                <a:latin typeface="Calibri" pitchFamily="34" charset="0"/>
                <a:ea typeface="Calibri" pitchFamily="34" charset="-122"/>
                <a:cs typeface="Calibri" pitchFamily="34" charset="-120"/>
              </a:rPr>
              <a:t>Mengapa Ini Mendesak</a:t>
            </a:r>
            <a:endParaRPr lang="en-US" sz="1500" dirty="0"/>
          </a:p>
        </p:txBody>
      </p:sp>
      <p:sp>
        <p:nvSpPr>
          <p:cNvPr id="11" name="Text 8"/>
          <p:cNvSpPr/>
          <p:nvPr/>
        </p:nvSpPr>
        <p:spPr>
          <a:xfrm>
            <a:off x="822960" y="2980944"/>
            <a:ext cx="1523939" cy="77724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Potret layanan, urgensi usia dini, dan tantangan nyata di lapangan.</a:t>
            </a:r>
            <a:endParaRPr lang="en-US" sz="1100" dirty="0"/>
          </a:p>
        </p:txBody>
      </p:sp>
      <p:sp>
        <p:nvSpPr>
          <p:cNvPr id="12" name="Shape 9"/>
          <p:cNvSpPr/>
          <p:nvPr/>
        </p:nvSpPr>
        <p:spPr>
          <a:xfrm>
            <a:off x="2822387" y="1481328"/>
            <a:ext cx="2036003" cy="239572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3" name="Shape 10"/>
          <p:cNvSpPr/>
          <p:nvPr/>
        </p:nvSpPr>
        <p:spPr>
          <a:xfrm>
            <a:off x="3078419" y="1700784"/>
            <a:ext cx="603504" cy="603504"/>
          </a:xfrm>
          <a:prstGeom prst="ellipse">
            <a:avLst>
              <a:gd name="adj" fmla="val 18182"/>
            </a:avLst>
          </a:prstGeom>
          <a:solidFill>
            <a:srgbClr val="2FA36B"/>
          </a:solidFill>
          <a:ln w="12700">
            <a:solidFill>
              <a:srgbClr val="333333"/>
            </a:solidFill>
            <a:prstDash val="solid"/>
          </a:ln>
        </p:spPr>
      </p:sp>
      <p:pic>
        <p:nvPicPr>
          <p:cNvPr id="14" name="Image 1" descr="preencoded.png">    </p:cNvPr>
          <p:cNvPicPr>
            <a:picLocks noChangeAspect="1"/>
          </p:cNvPicPr>
          <p:nvPr/>
        </p:nvPicPr>
        <p:blipFill>
          <a:blip r:embed="rId2"/>
          <a:stretch>
            <a:fillRect/>
          </a:stretch>
        </p:blipFill>
        <p:spPr>
          <a:xfrm>
            <a:off x="3223260" y="1845625"/>
            <a:ext cx="313822" cy="313822"/>
          </a:xfrm>
          <a:prstGeom prst="rect">
            <a:avLst/>
          </a:prstGeom>
        </p:spPr>
      </p:pic>
      <p:sp>
        <p:nvSpPr>
          <p:cNvPr id="15" name="Text 11"/>
          <p:cNvSpPr/>
          <p:nvPr/>
        </p:nvSpPr>
        <p:spPr>
          <a:xfrm>
            <a:off x="4017142" y="1682496"/>
            <a:ext cx="640080" cy="457200"/>
          </a:xfrm>
          <a:prstGeom prst="rect">
            <a:avLst/>
          </a:prstGeom>
          <a:noFill/>
          <a:ln/>
        </p:spPr>
        <p:txBody>
          <a:bodyPr wrap="square" lIns="0" tIns="0" rIns="0" bIns="0" rtlCol="0" anchor="ctr"/>
          <a:lstStyle/>
          <a:p>
            <a:pPr algn="r" indent="0" marL="0">
              <a:buNone/>
            </a:pPr>
            <a:r>
              <a:rPr lang="en-US" sz="2600" b="1" dirty="0">
                <a:solidFill>
                  <a:srgbClr val="2FA36B">
                    <a:alpha val="38000"/>
                  </a:srgbClr>
                </a:solidFill>
                <a:latin typeface="Calibri" pitchFamily="34" charset="0"/>
                <a:ea typeface="Calibri" pitchFamily="34" charset="-122"/>
                <a:cs typeface="Calibri" pitchFamily="34" charset="-120"/>
              </a:rPr>
              <a:t>02</a:t>
            </a:r>
            <a:endParaRPr lang="en-US" sz="2600" dirty="0"/>
          </a:p>
        </p:txBody>
      </p:sp>
      <p:sp>
        <p:nvSpPr>
          <p:cNvPr id="16" name="Text 12"/>
          <p:cNvSpPr/>
          <p:nvPr/>
        </p:nvSpPr>
        <p:spPr>
          <a:xfrm>
            <a:off x="3078419" y="2432304"/>
            <a:ext cx="1523939" cy="566928"/>
          </a:xfrm>
          <a:prstGeom prst="rect">
            <a:avLst/>
          </a:prstGeom>
          <a:noFill/>
          <a:ln/>
        </p:spPr>
        <p:txBody>
          <a:bodyPr wrap="square" lIns="0" tIns="0" rIns="0" bIns="0" rtlCol="0" anchor="t"/>
          <a:lstStyle/>
          <a:p>
            <a:pPr indent="0" marL="0">
              <a:buNone/>
            </a:pPr>
            <a:r>
              <a:rPr lang="en-US" sz="1500" b="1" dirty="0">
                <a:solidFill>
                  <a:srgbClr val="173753"/>
                </a:solidFill>
                <a:latin typeface="Calibri" pitchFamily="34" charset="0"/>
                <a:ea typeface="Calibri" pitchFamily="34" charset="-122"/>
                <a:cs typeface="Calibri" pitchFamily="34" charset="-120"/>
              </a:rPr>
              <a:t>Memahami PAUD HI</a:t>
            </a:r>
            <a:endParaRPr lang="en-US" sz="1500" dirty="0"/>
          </a:p>
        </p:txBody>
      </p:sp>
      <p:sp>
        <p:nvSpPr>
          <p:cNvPr id="17" name="Text 13"/>
          <p:cNvSpPr/>
          <p:nvPr/>
        </p:nvSpPr>
        <p:spPr>
          <a:xfrm>
            <a:off x="3078419" y="2980944"/>
            <a:ext cx="1523939" cy="77724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Definisi, lima layanan esensial, prinsip, regulasi, dan 8 indikator.</a:t>
            </a:r>
            <a:endParaRPr lang="en-US" sz="1100" dirty="0"/>
          </a:p>
        </p:txBody>
      </p:sp>
      <p:sp>
        <p:nvSpPr>
          <p:cNvPr id="18" name="Shape 14"/>
          <p:cNvSpPr/>
          <p:nvPr/>
        </p:nvSpPr>
        <p:spPr>
          <a:xfrm>
            <a:off x="5077846" y="1481328"/>
            <a:ext cx="2036003" cy="239572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9" name="Shape 15"/>
          <p:cNvSpPr/>
          <p:nvPr/>
        </p:nvSpPr>
        <p:spPr>
          <a:xfrm>
            <a:off x="5333878" y="1700784"/>
            <a:ext cx="603504" cy="603504"/>
          </a:xfrm>
          <a:prstGeom prst="ellipse">
            <a:avLst>
              <a:gd name="adj" fmla="val 18182"/>
            </a:avLst>
          </a:prstGeom>
          <a:solidFill>
            <a:srgbClr val="F5871F"/>
          </a:solidFill>
          <a:ln w="12700">
            <a:solidFill>
              <a:srgbClr val="333333"/>
            </a:solidFill>
            <a:prstDash val="solid"/>
          </a:ln>
        </p:spPr>
      </p:sp>
      <p:pic>
        <p:nvPicPr>
          <p:cNvPr id="20" name="Image 2" descr="preencoded.png">    </p:cNvPr>
          <p:cNvPicPr>
            <a:picLocks noChangeAspect="1"/>
          </p:cNvPicPr>
          <p:nvPr/>
        </p:nvPicPr>
        <p:blipFill>
          <a:blip r:embed="rId3"/>
          <a:stretch>
            <a:fillRect/>
          </a:stretch>
        </p:blipFill>
        <p:spPr>
          <a:xfrm>
            <a:off x="5478719" y="1845625"/>
            <a:ext cx="313822" cy="313822"/>
          </a:xfrm>
          <a:prstGeom prst="rect">
            <a:avLst/>
          </a:prstGeom>
        </p:spPr>
      </p:pic>
      <p:sp>
        <p:nvSpPr>
          <p:cNvPr id="21" name="Text 16"/>
          <p:cNvSpPr/>
          <p:nvPr/>
        </p:nvSpPr>
        <p:spPr>
          <a:xfrm>
            <a:off x="6272601" y="1682496"/>
            <a:ext cx="640080" cy="457200"/>
          </a:xfrm>
          <a:prstGeom prst="rect">
            <a:avLst/>
          </a:prstGeom>
          <a:noFill/>
          <a:ln/>
        </p:spPr>
        <p:txBody>
          <a:bodyPr wrap="square" lIns="0" tIns="0" rIns="0" bIns="0" rtlCol="0" anchor="ctr"/>
          <a:lstStyle/>
          <a:p>
            <a:pPr algn="r" indent="0" marL="0">
              <a:buNone/>
            </a:pPr>
            <a:r>
              <a:rPr lang="en-US" sz="2600" b="1" dirty="0">
                <a:solidFill>
                  <a:srgbClr val="F5871F">
                    <a:alpha val="38000"/>
                  </a:srgbClr>
                </a:solidFill>
                <a:latin typeface="Calibri" pitchFamily="34" charset="0"/>
                <a:ea typeface="Calibri" pitchFamily="34" charset="-122"/>
                <a:cs typeface="Calibri" pitchFamily="34" charset="-120"/>
              </a:rPr>
              <a:t>03</a:t>
            </a:r>
            <a:endParaRPr lang="en-US" sz="2600" dirty="0"/>
          </a:p>
        </p:txBody>
      </p:sp>
      <p:sp>
        <p:nvSpPr>
          <p:cNvPr id="22" name="Text 17"/>
          <p:cNvSpPr/>
          <p:nvPr/>
        </p:nvSpPr>
        <p:spPr>
          <a:xfrm>
            <a:off x="5333878" y="2432304"/>
            <a:ext cx="1523939" cy="566928"/>
          </a:xfrm>
          <a:prstGeom prst="rect">
            <a:avLst/>
          </a:prstGeom>
          <a:noFill/>
          <a:ln/>
        </p:spPr>
        <p:txBody>
          <a:bodyPr wrap="square" lIns="0" tIns="0" rIns="0" bIns="0" rtlCol="0" anchor="t"/>
          <a:lstStyle/>
          <a:p>
            <a:pPr indent="0" marL="0">
              <a:buNone/>
            </a:pPr>
            <a:r>
              <a:rPr lang="en-US" sz="1500" b="1" dirty="0">
                <a:solidFill>
                  <a:srgbClr val="173753"/>
                </a:solidFill>
                <a:latin typeface="Calibri" pitchFamily="34" charset="0"/>
                <a:ea typeface="Calibri" pitchFamily="34" charset="-122"/>
                <a:cs typeface="Calibri" pitchFamily="34" charset="-120"/>
              </a:rPr>
              <a:t>Kemitraan Strategis</a:t>
            </a:r>
            <a:endParaRPr lang="en-US" sz="1500" dirty="0"/>
          </a:p>
        </p:txBody>
      </p:sp>
      <p:sp>
        <p:nvSpPr>
          <p:cNvPr id="23" name="Text 18"/>
          <p:cNvSpPr/>
          <p:nvPr/>
        </p:nvSpPr>
        <p:spPr>
          <a:xfrm>
            <a:off x="5333878" y="2980944"/>
            <a:ext cx="1523939" cy="77724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Konsep, pemangku kepentingan, trisentra, dan tahapan membangun mitra.</a:t>
            </a:r>
            <a:endParaRPr lang="en-US" sz="1100" dirty="0"/>
          </a:p>
        </p:txBody>
      </p:sp>
      <p:sp>
        <p:nvSpPr>
          <p:cNvPr id="24" name="Shape 19"/>
          <p:cNvSpPr/>
          <p:nvPr/>
        </p:nvSpPr>
        <p:spPr>
          <a:xfrm>
            <a:off x="7333305" y="1481328"/>
            <a:ext cx="2036003" cy="239572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5" name="Shape 20"/>
          <p:cNvSpPr/>
          <p:nvPr/>
        </p:nvSpPr>
        <p:spPr>
          <a:xfrm>
            <a:off x="7589337" y="1700784"/>
            <a:ext cx="603504" cy="603504"/>
          </a:xfrm>
          <a:prstGeom prst="ellipse">
            <a:avLst>
              <a:gd name="adj" fmla="val 18182"/>
            </a:avLst>
          </a:prstGeom>
          <a:solidFill>
            <a:srgbClr val="7A66B8"/>
          </a:solidFill>
          <a:ln w="12700">
            <a:solidFill>
              <a:srgbClr val="333333"/>
            </a:solidFill>
            <a:prstDash val="solid"/>
          </a:ln>
        </p:spPr>
      </p:sp>
      <p:pic>
        <p:nvPicPr>
          <p:cNvPr id="26" name="Image 3" descr="preencoded.png">    </p:cNvPr>
          <p:cNvPicPr>
            <a:picLocks noChangeAspect="1"/>
          </p:cNvPicPr>
          <p:nvPr/>
        </p:nvPicPr>
        <p:blipFill>
          <a:blip r:embed="rId4"/>
          <a:stretch>
            <a:fillRect/>
          </a:stretch>
        </p:blipFill>
        <p:spPr>
          <a:xfrm>
            <a:off x="7734178" y="1845625"/>
            <a:ext cx="313822" cy="313822"/>
          </a:xfrm>
          <a:prstGeom prst="rect">
            <a:avLst/>
          </a:prstGeom>
        </p:spPr>
      </p:pic>
      <p:sp>
        <p:nvSpPr>
          <p:cNvPr id="27" name="Text 21"/>
          <p:cNvSpPr/>
          <p:nvPr/>
        </p:nvSpPr>
        <p:spPr>
          <a:xfrm>
            <a:off x="8528060" y="1682496"/>
            <a:ext cx="640080" cy="457200"/>
          </a:xfrm>
          <a:prstGeom prst="rect">
            <a:avLst/>
          </a:prstGeom>
          <a:noFill/>
          <a:ln/>
        </p:spPr>
        <p:txBody>
          <a:bodyPr wrap="square" lIns="0" tIns="0" rIns="0" bIns="0" rtlCol="0" anchor="ctr"/>
          <a:lstStyle/>
          <a:p>
            <a:pPr algn="r" indent="0" marL="0">
              <a:buNone/>
            </a:pPr>
            <a:r>
              <a:rPr lang="en-US" sz="2600" b="1" dirty="0">
                <a:solidFill>
                  <a:srgbClr val="7A66B8">
                    <a:alpha val="38000"/>
                  </a:srgbClr>
                </a:solidFill>
                <a:latin typeface="Calibri" pitchFamily="34" charset="0"/>
                <a:ea typeface="Calibri" pitchFamily="34" charset="-122"/>
                <a:cs typeface="Calibri" pitchFamily="34" charset="-120"/>
              </a:rPr>
              <a:t>04</a:t>
            </a:r>
            <a:endParaRPr lang="en-US" sz="2600" dirty="0"/>
          </a:p>
        </p:txBody>
      </p:sp>
      <p:sp>
        <p:nvSpPr>
          <p:cNvPr id="28" name="Text 22"/>
          <p:cNvSpPr/>
          <p:nvPr/>
        </p:nvSpPr>
        <p:spPr>
          <a:xfrm>
            <a:off x="7589337" y="2432304"/>
            <a:ext cx="1523939" cy="566928"/>
          </a:xfrm>
          <a:prstGeom prst="rect">
            <a:avLst/>
          </a:prstGeom>
          <a:noFill/>
          <a:ln/>
        </p:spPr>
        <p:txBody>
          <a:bodyPr wrap="square" lIns="0" tIns="0" rIns="0" bIns="0" rtlCol="0" anchor="t"/>
          <a:lstStyle/>
          <a:p>
            <a:pPr indent="0" marL="0">
              <a:buNone/>
            </a:pPr>
            <a:r>
              <a:rPr lang="en-US" sz="1500" b="1" dirty="0">
                <a:solidFill>
                  <a:srgbClr val="173753"/>
                </a:solidFill>
                <a:latin typeface="Calibri" pitchFamily="34" charset="0"/>
                <a:ea typeface="Calibri" pitchFamily="34" charset="-122"/>
                <a:cs typeface="Calibri" pitchFamily="34" charset="-120"/>
              </a:rPr>
              <a:t>Praktik Baik</a:t>
            </a:r>
            <a:endParaRPr lang="en-US" sz="1500" dirty="0"/>
          </a:p>
        </p:txBody>
      </p:sp>
      <p:sp>
        <p:nvSpPr>
          <p:cNvPr id="29" name="Text 23"/>
          <p:cNvSpPr/>
          <p:nvPr/>
        </p:nvSpPr>
        <p:spPr>
          <a:xfrm>
            <a:off x="7589337" y="2980944"/>
            <a:ext cx="1523939" cy="77724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Pembelajaran nyata dari satuan PAUD dan faktor kunci keberhasilannya.</a:t>
            </a:r>
            <a:endParaRPr lang="en-US" sz="1100" dirty="0"/>
          </a:p>
        </p:txBody>
      </p:sp>
      <p:sp>
        <p:nvSpPr>
          <p:cNvPr id="30" name="Shape 24"/>
          <p:cNvSpPr/>
          <p:nvPr/>
        </p:nvSpPr>
        <p:spPr>
          <a:xfrm>
            <a:off x="9588764" y="1481328"/>
            <a:ext cx="2036003" cy="239572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1" name="Shape 25"/>
          <p:cNvSpPr/>
          <p:nvPr/>
        </p:nvSpPr>
        <p:spPr>
          <a:xfrm>
            <a:off x="9844796" y="1700784"/>
            <a:ext cx="603504" cy="603504"/>
          </a:xfrm>
          <a:prstGeom prst="ellipse">
            <a:avLst>
              <a:gd name="adj" fmla="val 18182"/>
            </a:avLst>
          </a:prstGeom>
          <a:solidFill>
            <a:srgbClr val="1F9C9C"/>
          </a:solidFill>
          <a:ln w="12700">
            <a:solidFill>
              <a:srgbClr val="333333"/>
            </a:solidFill>
            <a:prstDash val="solid"/>
          </a:ln>
        </p:spPr>
      </p:sp>
      <p:pic>
        <p:nvPicPr>
          <p:cNvPr id="32" name="Image 4" descr="preencoded.png">    </p:cNvPr>
          <p:cNvPicPr>
            <a:picLocks noChangeAspect="1"/>
          </p:cNvPicPr>
          <p:nvPr/>
        </p:nvPicPr>
        <p:blipFill>
          <a:blip r:embed="rId5"/>
          <a:stretch>
            <a:fillRect/>
          </a:stretch>
        </p:blipFill>
        <p:spPr>
          <a:xfrm>
            <a:off x="9989637" y="1845625"/>
            <a:ext cx="313822" cy="313822"/>
          </a:xfrm>
          <a:prstGeom prst="rect">
            <a:avLst/>
          </a:prstGeom>
        </p:spPr>
      </p:pic>
      <p:sp>
        <p:nvSpPr>
          <p:cNvPr id="33" name="Text 26"/>
          <p:cNvSpPr/>
          <p:nvPr/>
        </p:nvSpPr>
        <p:spPr>
          <a:xfrm>
            <a:off x="10783519" y="1682496"/>
            <a:ext cx="640080" cy="457200"/>
          </a:xfrm>
          <a:prstGeom prst="rect">
            <a:avLst/>
          </a:prstGeom>
          <a:noFill/>
          <a:ln/>
        </p:spPr>
        <p:txBody>
          <a:bodyPr wrap="square" lIns="0" tIns="0" rIns="0" bIns="0" rtlCol="0" anchor="ctr"/>
          <a:lstStyle/>
          <a:p>
            <a:pPr algn="r" indent="0" marL="0">
              <a:buNone/>
            </a:pPr>
            <a:r>
              <a:rPr lang="en-US" sz="2600" b="1" dirty="0">
                <a:solidFill>
                  <a:srgbClr val="1F9C9C">
                    <a:alpha val="38000"/>
                  </a:srgbClr>
                </a:solidFill>
                <a:latin typeface="Calibri" pitchFamily="34" charset="0"/>
                <a:ea typeface="Calibri" pitchFamily="34" charset="-122"/>
                <a:cs typeface="Calibri" pitchFamily="34" charset="-120"/>
              </a:rPr>
              <a:t>05</a:t>
            </a:r>
            <a:endParaRPr lang="en-US" sz="2600" dirty="0"/>
          </a:p>
        </p:txBody>
      </p:sp>
      <p:sp>
        <p:nvSpPr>
          <p:cNvPr id="34" name="Text 27"/>
          <p:cNvSpPr/>
          <p:nvPr/>
        </p:nvSpPr>
        <p:spPr>
          <a:xfrm>
            <a:off x="9844796" y="2432304"/>
            <a:ext cx="1523939" cy="566928"/>
          </a:xfrm>
          <a:prstGeom prst="rect">
            <a:avLst/>
          </a:prstGeom>
          <a:noFill/>
          <a:ln/>
        </p:spPr>
        <p:txBody>
          <a:bodyPr wrap="square" lIns="0" tIns="0" rIns="0" bIns="0" rtlCol="0" anchor="t"/>
          <a:lstStyle/>
          <a:p>
            <a:pPr indent="0" marL="0">
              <a:buNone/>
            </a:pPr>
            <a:r>
              <a:rPr lang="en-US" sz="1500" b="1" dirty="0">
                <a:solidFill>
                  <a:srgbClr val="173753"/>
                </a:solidFill>
                <a:latin typeface="Calibri" pitchFamily="34" charset="0"/>
                <a:ea typeface="Calibri" pitchFamily="34" charset="-122"/>
                <a:cs typeface="Calibri" pitchFamily="34" charset="-120"/>
              </a:rPr>
              <a:t>Strategi &amp; Aksi Nyata</a:t>
            </a:r>
            <a:endParaRPr lang="en-US" sz="1500" dirty="0"/>
          </a:p>
        </p:txBody>
      </p:sp>
      <p:sp>
        <p:nvSpPr>
          <p:cNvPr id="35" name="Text 28"/>
          <p:cNvSpPr/>
          <p:nvPr/>
        </p:nvSpPr>
        <p:spPr>
          <a:xfrm>
            <a:off x="9844796" y="2980944"/>
            <a:ext cx="1523939" cy="77724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Strategi mutu, rencana 30–60–90 hari, lembar aksi, dan monitoring.</a:t>
            </a:r>
            <a:endParaRPr lang="en-US" sz="1100" dirty="0"/>
          </a:p>
        </p:txBody>
      </p:sp>
      <p:sp>
        <p:nvSpPr>
          <p:cNvPr id="36" name="Shape 29"/>
          <p:cNvSpPr/>
          <p:nvPr/>
        </p:nvSpPr>
        <p:spPr>
          <a:xfrm>
            <a:off x="566928" y="4224528"/>
            <a:ext cx="7863840" cy="1572768"/>
          </a:xfrm>
          <a:prstGeom prst="roundRect">
            <a:avLst>
              <a:gd name="adj" fmla="val 8140"/>
            </a:avLst>
          </a:prstGeom>
          <a:solidFill>
            <a:srgbClr val="DCEDFB"/>
          </a:solidFill>
          <a:ln w="12700">
            <a:solidFill>
              <a:srgbClr val="B9DBF6"/>
            </a:solidFill>
            <a:prstDash val="solid"/>
          </a:ln>
          <a:effectLst>
            <a:outerShdw sx="100000" sy="100000" kx="0" ky="0" algn="bl" rotWithShape="0" blurRad="177800" dist="38100" dir="5400000">
              <a:srgbClr val="0F3352">
                <a:alpha val="10000"/>
              </a:srgbClr>
            </a:outerShdw>
          </a:effectLst>
        </p:spPr>
      </p:sp>
      <p:sp>
        <p:nvSpPr>
          <p:cNvPr id="37" name="Text 30"/>
          <p:cNvSpPr/>
          <p:nvPr/>
        </p:nvSpPr>
        <p:spPr>
          <a:xfrm>
            <a:off x="877824" y="4425696"/>
            <a:ext cx="7223760" cy="292608"/>
          </a:xfrm>
          <a:prstGeom prst="rect">
            <a:avLst/>
          </a:prstGeom>
          <a:noFill/>
          <a:ln/>
        </p:spPr>
        <p:txBody>
          <a:bodyPr wrap="square" lIns="0" tIns="0" rIns="0" bIns="0" rtlCol="0" anchor="ctr"/>
          <a:lstStyle/>
          <a:p>
            <a:pPr indent="0" marL="0">
              <a:buNone/>
            </a:pPr>
            <a:r>
              <a:rPr lang="en-US" sz="1400" b="1" dirty="0">
                <a:solidFill>
                  <a:srgbClr val="0F4C88"/>
                </a:solidFill>
                <a:latin typeface="Calibri" pitchFamily="34" charset="0"/>
                <a:ea typeface="Calibri" pitchFamily="34" charset="-122"/>
                <a:cs typeface="Calibri" pitchFamily="34" charset="-120"/>
              </a:rPr>
              <a:t>Satu benang merah</a:t>
            </a:r>
            <a:endParaRPr lang="en-US" sz="1400" dirty="0"/>
          </a:p>
        </p:txBody>
      </p:sp>
      <p:sp>
        <p:nvSpPr>
          <p:cNvPr id="38" name="Text 31"/>
          <p:cNvSpPr/>
          <p:nvPr/>
        </p:nvSpPr>
        <p:spPr>
          <a:xfrm>
            <a:off x="877824" y="4754880"/>
            <a:ext cx="7260336" cy="914400"/>
          </a:xfrm>
          <a:prstGeom prst="rect">
            <a:avLst/>
          </a:prstGeom>
          <a:noFill/>
          <a:ln/>
        </p:spPr>
        <p:txBody>
          <a:bodyPr wrap="square" lIns="0" tIns="0" rIns="0" bIns="0" rtlCol="0" anchor="t"/>
          <a:lstStyle/>
          <a:p>
            <a:pPr indent="0" marL="0">
              <a:buNone/>
            </a:pPr>
            <a:r>
              <a:rPr lang="en-US" sz="1250" dirty="0">
                <a:solidFill>
                  <a:srgbClr val="3E5C77"/>
                </a:solidFill>
                <a:latin typeface="Calibri" pitchFamily="34" charset="0"/>
                <a:ea typeface="Calibri" pitchFamily="34" charset="-122"/>
                <a:cs typeface="Calibri" pitchFamily="34" charset="-120"/>
              </a:rPr>
              <a:t>Mutu layanan PAUD tidak dibangun sendirian. Setiap bagian sesi ini bergerak dari “memahami” menuju “melakukan bersama mitra”, dan ditutup dengan aksi yang bisa langsung dikerjakan satuan.</a:t>
            </a:r>
            <a:endParaRPr lang="en-US" sz="1250" dirty="0"/>
          </a:p>
        </p:txBody>
      </p:sp>
      <p:pic>
        <p:nvPicPr>
          <p:cNvPr id="39" name="Image 5" descr="preencoded.png">    </p:cNvPr>
          <p:cNvPicPr>
            <a:picLocks noChangeAspect="1"/>
          </p:cNvPicPr>
          <p:nvPr/>
        </p:nvPicPr>
        <p:blipFill>
          <a:blip r:embed="rId6"/>
          <a:stretch>
            <a:fillRect/>
          </a:stretch>
        </p:blipFill>
        <p:spPr>
          <a:xfrm>
            <a:off x="9649663" y="4114800"/>
            <a:ext cx="1975104" cy="1975104"/>
          </a:xfrm>
          <a:prstGeom prst="rect">
            <a:avLst/>
          </a:prstGeom>
        </p:spPr>
      </p:pic>
      <p:sp>
        <p:nvSpPr>
          <p:cNvPr id="40" name="Text 32"/>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41" name="Text 33"/>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E3F6EC">
              <a:alpha val="55000"/>
            </a:srgbClr>
          </a:solidFill>
          <a:ln/>
        </p:spPr>
      </p:sp>
      <p:sp>
        <p:nvSpPr>
          <p:cNvPr id="3" name="Shape 1"/>
          <p:cNvSpPr/>
          <p:nvPr/>
        </p:nvSpPr>
        <p:spPr>
          <a:xfrm>
            <a:off x="10820095" y="5303520"/>
            <a:ext cx="2926080" cy="2926080"/>
          </a:xfrm>
          <a:prstGeom prst="ellipse">
            <a:avLst/>
          </a:prstGeom>
          <a:solidFill>
            <a:srgbClr val="E3F6EC">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2FA36B"/>
                </a:solidFill>
                <a:latin typeface="Calibri" pitchFamily="34" charset="0"/>
                <a:ea typeface="Calibri" pitchFamily="34" charset="-122"/>
                <a:cs typeface="Calibri" pitchFamily="34" charset="-120"/>
              </a:rPr>
              <a:t>TUJUAN SESI</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Yang Akan Kita Capai Bersama</a:t>
            </a:r>
            <a:endParaRPr lang="en-US" sz="3200" dirty="0"/>
          </a:p>
        </p:txBody>
      </p:sp>
      <p:sp>
        <p:nvSpPr>
          <p:cNvPr id="6" name="Shape 4"/>
          <p:cNvSpPr/>
          <p:nvPr/>
        </p:nvSpPr>
        <p:spPr>
          <a:xfrm>
            <a:off x="566928" y="1517904"/>
            <a:ext cx="3200400" cy="1188720"/>
          </a:xfrm>
          <a:prstGeom prst="roundRect">
            <a:avLst>
              <a:gd name="adj" fmla="val 1076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804672" y="1828800"/>
            <a:ext cx="548640" cy="548640"/>
          </a:xfrm>
          <a:prstGeom prst="ellipse">
            <a:avLst>
              <a:gd name="adj" fmla="val 20000"/>
            </a:avLst>
          </a:prstGeom>
          <a:solidFill>
            <a:srgbClr val="1E76C8"/>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936346" y="1960474"/>
            <a:ext cx="285293" cy="285293"/>
          </a:xfrm>
          <a:prstGeom prst="rect">
            <a:avLst/>
          </a:prstGeom>
        </p:spPr>
      </p:pic>
      <p:sp>
        <p:nvSpPr>
          <p:cNvPr id="9" name="Text 6"/>
          <p:cNvSpPr/>
          <p:nvPr/>
        </p:nvSpPr>
        <p:spPr>
          <a:xfrm>
            <a:off x="1481328" y="1664208"/>
            <a:ext cx="2084832" cy="420624"/>
          </a:xfrm>
          <a:prstGeom prst="rect">
            <a:avLst/>
          </a:prstGeom>
          <a:noFill/>
          <a:ln/>
        </p:spPr>
        <p:txBody>
          <a:bodyPr wrap="square" lIns="0" tIns="0" rIns="0" bIns="0" rtlCol="0" anchor="t"/>
          <a:lstStyle/>
          <a:p>
            <a:pPr indent="0" marL="0">
              <a:buNone/>
            </a:pPr>
            <a:r>
              <a:rPr lang="en-US" sz="1400" b="1" dirty="0">
                <a:solidFill>
                  <a:srgbClr val="173753"/>
                </a:solidFill>
                <a:latin typeface="Calibri" pitchFamily="34" charset="0"/>
                <a:ea typeface="Calibri" pitchFamily="34" charset="-122"/>
                <a:cs typeface="Calibri" pitchFamily="34" charset="-120"/>
              </a:rPr>
              <a:t>Memahami urgensi kemitraan</a:t>
            </a:r>
            <a:endParaRPr lang="en-US" sz="1400" dirty="0"/>
          </a:p>
        </p:txBody>
      </p:sp>
      <p:sp>
        <p:nvSpPr>
          <p:cNvPr id="10" name="Text 7"/>
          <p:cNvSpPr/>
          <p:nvPr/>
        </p:nvSpPr>
        <p:spPr>
          <a:xfrm>
            <a:off x="1481328" y="2103120"/>
            <a:ext cx="2084832" cy="51206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Mengapa satuan PAUD tidak bisa bekerja sendirian.</a:t>
            </a:r>
            <a:endParaRPr lang="en-US" sz="1100" dirty="0"/>
          </a:p>
        </p:txBody>
      </p:sp>
      <p:sp>
        <p:nvSpPr>
          <p:cNvPr id="11" name="Shape 8"/>
          <p:cNvSpPr/>
          <p:nvPr/>
        </p:nvSpPr>
        <p:spPr>
          <a:xfrm>
            <a:off x="4023360" y="1517904"/>
            <a:ext cx="3200400" cy="1188720"/>
          </a:xfrm>
          <a:prstGeom prst="roundRect">
            <a:avLst>
              <a:gd name="adj" fmla="val 1076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2" name="Shape 9"/>
          <p:cNvSpPr/>
          <p:nvPr/>
        </p:nvSpPr>
        <p:spPr>
          <a:xfrm>
            <a:off x="4261104" y="1828800"/>
            <a:ext cx="548640" cy="548640"/>
          </a:xfrm>
          <a:prstGeom prst="ellipse">
            <a:avLst>
              <a:gd name="adj" fmla="val 20000"/>
            </a:avLst>
          </a:prstGeom>
          <a:solidFill>
            <a:srgbClr val="2FA36B"/>
          </a:solidFill>
          <a:ln w="12700">
            <a:solidFill>
              <a:srgbClr val="333333"/>
            </a:solidFill>
            <a:prstDash val="solid"/>
          </a:ln>
        </p:spPr>
      </p:sp>
      <p:pic>
        <p:nvPicPr>
          <p:cNvPr id="13" name="Image 1" descr="preencoded.png">    </p:cNvPr>
          <p:cNvPicPr>
            <a:picLocks noChangeAspect="1"/>
          </p:cNvPicPr>
          <p:nvPr/>
        </p:nvPicPr>
        <p:blipFill>
          <a:blip r:embed="rId2"/>
          <a:stretch>
            <a:fillRect/>
          </a:stretch>
        </p:blipFill>
        <p:spPr>
          <a:xfrm>
            <a:off x="4392778" y="1960474"/>
            <a:ext cx="285293" cy="285293"/>
          </a:xfrm>
          <a:prstGeom prst="rect">
            <a:avLst/>
          </a:prstGeom>
        </p:spPr>
      </p:pic>
      <p:sp>
        <p:nvSpPr>
          <p:cNvPr id="14" name="Text 10"/>
          <p:cNvSpPr/>
          <p:nvPr/>
        </p:nvSpPr>
        <p:spPr>
          <a:xfrm>
            <a:off x="4937760" y="1664208"/>
            <a:ext cx="2084832" cy="420624"/>
          </a:xfrm>
          <a:prstGeom prst="rect">
            <a:avLst/>
          </a:prstGeom>
          <a:noFill/>
          <a:ln/>
        </p:spPr>
        <p:txBody>
          <a:bodyPr wrap="square" lIns="0" tIns="0" rIns="0" bIns="0" rtlCol="0" anchor="t"/>
          <a:lstStyle/>
          <a:p>
            <a:pPr indent="0" marL="0">
              <a:buNone/>
            </a:pPr>
            <a:r>
              <a:rPr lang="en-US" sz="1400" b="1" dirty="0">
                <a:solidFill>
                  <a:srgbClr val="173753"/>
                </a:solidFill>
                <a:latin typeface="Calibri" pitchFamily="34" charset="0"/>
                <a:ea typeface="Calibri" pitchFamily="34" charset="-122"/>
                <a:cs typeface="Calibri" pitchFamily="34" charset="-120"/>
              </a:rPr>
              <a:t>Menguasai konsep PAUD HI</a:t>
            </a:r>
            <a:endParaRPr lang="en-US" sz="1400" dirty="0"/>
          </a:p>
        </p:txBody>
      </p:sp>
      <p:sp>
        <p:nvSpPr>
          <p:cNvPr id="15" name="Text 11"/>
          <p:cNvSpPr/>
          <p:nvPr/>
        </p:nvSpPr>
        <p:spPr>
          <a:xfrm>
            <a:off x="4937760" y="2103120"/>
            <a:ext cx="2084832" cy="51206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Lima layanan esensial dan prinsip penyelenggaraannya.</a:t>
            </a:r>
            <a:endParaRPr lang="en-US" sz="1100" dirty="0"/>
          </a:p>
        </p:txBody>
      </p:sp>
      <p:sp>
        <p:nvSpPr>
          <p:cNvPr id="16" name="Shape 12"/>
          <p:cNvSpPr/>
          <p:nvPr/>
        </p:nvSpPr>
        <p:spPr>
          <a:xfrm>
            <a:off x="566928" y="2926080"/>
            <a:ext cx="3200400" cy="1188720"/>
          </a:xfrm>
          <a:prstGeom prst="roundRect">
            <a:avLst>
              <a:gd name="adj" fmla="val 1076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7" name="Shape 13"/>
          <p:cNvSpPr/>
          <p:nvPr/>
        </p:nvSpPr>
        <p:spPr>
          <a:xfrm>
            <a:off x="804672" y="3236976"/>
            <a:ext cx="548640" cy="548640"/>
          </a:xfrm>
          <a:prstGeom prst="ellipse">
            <a:avLst>
              <a:gd name="adj" fmla="val 20000"/>
            </a:avLst>
          </a:prstGeom>
          <a:solidFill>
            <a:srgbClr val="F5871F"/>
          </a:solidFill>
          <a:ln w="12700">
            <a:solidFill>
              <a:srgbClr val="333333"/>
            </a:solidFill>
            <a:prstDash val="solid"/>
          </a:ln>
        </p:spPr>
      </p:sp>
      <p:pic>
        <p:nvPicPr>
          <p:cNvPr id="18" name="Image 2" descr="preencoded.png">    </p:cNvPr>
          <p:cNvPicPr>
            <a:picLocks noChangeAspect="1"/>
          </p:cNvPicPr>
          <p:nvPr/>
        </p:nvPicPr>
        <p:blipFill>
          <a:blip r:embed="rId3"/>
          <a:stretch>
            <a:fillRect/>
          </a:stretch>
        </p:blipFill>
        <p:spPr>
          <a:xfrm>
            <a:off x="936346" y="3368650"/>
            <a:ext cx="285293" cy="285293"/>
          </a:xfrm>
          <a:prstGeom prst="rect">
            <a:avLst/>
          </a:prstGeom>
        </p:spPr>
      </p:pic>
      <p:sp>
        <p:nvSpPr>
          <p:cNvPr id="19" name="Text 14"/>
          <p:cNvSpPr/>
          <p:nvPr/>
        </p:nvSpPr>
        <p:spPr>
          <a:xfrm>
            <a:off x="1481328" y="3072384"/>
            <a:ext cx="2084832" cy="420624"/>
          </a:xfrm>
          <a:prstGeom prst="rect">
            <a:avLst/>
          </a:prstGeom>
          <a:noFill/>
          <a:ln/>
        </p:spPr>
        <p:txBody>
          <a:bodyPr wrap="square" lIns="0" tIns="0" rIns="0" bIns="0" rtlCol="0" anchor="t"/>
          <a:lstStyle/>
          <a:p>
            <a:pPr indent="0" marL="0">
              <a:buNone/>
            </a:pPr>
            <a:r>
              <a:rPr lang="en-US" sz="1400" b="1" dirty="0">
                <a:solidFill>
                  <a:srgbClr val="173753"/>
                </a:solidFill>
                <a:latin typeface="Calibri" pitchFamily="34" charset="0"/>
                <a:ea typeface="Calibri" pitchFamily="34" charset="-122"/>
                <a:cs typeface="Calibri" pitchFamily="34" charset="-120"/>
              </a:rPr>
              <a:t>Mengenali peran mitra</a:t>
            </a:r>
            <a:endParaRPr lang="en-US" sz="1400" dirty="0"/>
          </a:p>
        </p:txBody>
      </p:sp>
      <p:sp>
        <p:nvSpPr>
          <p:cNvPr id="20" name="Text 15"/>
          <p:cNvSpPr/>
          <p:nvPr/>
        </p:nvSpPr>
        <p:spPr>
          <a:xfrm>
            <a:off x="1481328" y="3511296"/>
            <a:ext cx="2084832" cy="51206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Siapa berbuat apa dalam ekosistem layanan anak usia dini.</a:t>
            </a:r>
            <a:endParaRPr lang="en-US" sz="1100" dirty="0"/>
          </a:p>
        </p:txBody>
      </p:sp>
      <p:sp>
        <p:nvSpPr>
          <p:cNvPr id="21" name="Shape 16"/>
          <p:cNvSpPr/>
          <p:nvPr/>
        </p:nvSpPr>
        <p:spPr>
          <a:xfrm>
            <a:off x="4023360" y="2926080"/>
            <a:ext cx="3200400" cy="1188720"/>
          </a:xfrm>
          <a:prstGeom prst="roundRect">
            <a:avLst>
              <a:gd name="adj" fmla="val 1076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2" name="Shape 17"/>
          <p:cNvSpPr/>
          <p:nvPr/>
        </p:nvSpPr>
        <p:spPr>
          <a:xfrm>
            <a:off x="4261104" y="3236976"/>
            <a:ext cx="548640" cy="548640"/>
          </a:xfrm>
          <a:prstGeom prst="ellipse">
            <a:avLst>
              <a:gd name="adj" fmla="val 20000"/>
            </a:avLst>
          </a:prstGeom>
          <a:solidFill>
            <a:srgbClr val="7A66B8"/>
          </a:solidFill>
          <a:ln w="12700">
            <a:solidFill>
              <a:srgbClr val="333333"/>
            </a:solidFill>
            <a:prstDash val="solid"/>
          </a:ln>
        </p:spPr>
      </p:sp>
      <p:pic>
        <p:nvPicPr>
          <p:cNvPr id="23" name="Image 3" descr="preencoded.png">    </p:cNvPr>
          <p:cNvPicPr>
            <a:picLocks noChangeAspect="1"/>
          </p:cNvPicPr>
          <p:nvPr/>
        </p:nvPicPr>
        <p:blipFill>
          <a:blip r:embed="rId4"/>
          <a:stretch>
            <a:fillRect/>
          </a:stretch>
        </p:blipFill>
        <p:spPr>
          <a:xfrm>
            <a:off x="4392778" y="3368650"/>
            <a:ext cx="285293" cy="285293"/>
          </a:xfrm>
          <a:prstGeom prst="rect">
            <a:avLst/>
          </a:prstGeom>
        </p:spPr>
      </p:pic>
      <p:sp>
        <p:nvSpPr>
          <p:cNvPr id="24" name="Text 18"/>
          <p:cNvSpPr/>
          <p:nvPr/>
        </p:nvSpPr>
        <p:spPr>
          <a:xfrm>
            <a:off x="4937760" y="3072384"/>
            <a:ext cx="2084832" cy="420624"/>
          </a:xfrm>
          <a:prstGeom prst="rect">
            <a:avLst/>
          </a:prstGeom>
          <a:noFill/>
          <a:ln/>
        </p:spPr>
        <p:txBody>
          <a:bodyPr wrap="square" lIns="0" tIns="0" rIns="0" bIns="0" rtlCol="0" anchor="t"/>
          <a:lstStyle/>
          <a:p>
            <a:pPr indent="0" marL="0">
              <a:buNone/>
            </a:pPr>
            <a:r>
              <a:rPr lang="en-US" sz="1400" b="1" dirty="0">
                <a:solidFill>
                  <a:srgbClr val="173753"/>
                </a:solidFill>
                <a:latin typeface="Calibri" pitchFamily="34" charset="0"/>
                <a:ea typeface="Calibri" pitchFamily="34" charset="-122"/>
                <a:cs typeface="Calibri" pitchFamily="34" charset="-120"/>
              </a:rPr>
              <a:t>Belajar dari praktik baik</a:t>
            </a:r>
            <a:endParaRPr lang="en-US" sz="1400" dirty="0"/>
          </a:p>
        </p:txBody>
      </p:sp>
      <p:sp>
        <p:nvSpPr>
          <p:cNvPr id="25" name="Text 19"/>
          <p:cNvSpPr/>
          <p:nvPr/>
        </p:nvSpPr>
        <p:spPr>
          <a:xfrm>
            <a:off x="4937760" y="3511296"/>
            <a:ext cx="2084832" cy="51206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Pola yang terbukti berjalan di satuan PAUD.</a:t>
            </a:r>
            <a:endParaRPr lang="en-US" sz="1100" dirty="0"/>
          </a:p>
        </p:txBody>
      </p:sp>
      <p:sp>
        <p:nvSpPr>
          <p:cNvPr id="26" name="Shape 20"/>
          <p:cNvSpPr/>
          <p:nvPr/>
        </p:nvSpPr>
        <p:spPr>
          <a:xfrm>
            <a:off x="566928" y="4334256"/>
            <a:ext cx="3200400" cy="1188720"/>
          </a:xfrm>
          <a:prstGeom prst="roundRect">
            <a:avLst>
              <a:gd name="adj" fmla="val 1076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7" name="Shape 21"/>
          <p:cNvSpPr/>
          <p:nvPr/>
        </p:nvSpPr>
        <p:spPr>
          <a:xfrm>
            <a:off x="804672" y="4645152"/>
            <a:ext cx="548640" cy="548640"/>
          </a:xfrm>
          <a:prstGeom prst="ellipse">
            <a:avLst>
              <a:gd name="adj" fmla="val 20000"/>
            </a:avLst>
          </a:prstGeom>
          <a:solidFill>
            <a:srgbClr val="1F9C9C"/>
          </a:solidFill>
          <a:ln w="12700">
            <a:solidFill>
              <a:srgbClr val="333333"/>
            </a:solidFill>
            <a:prstDash val="solid"/>
          </a:ln>
        </p:spPr>
      </p:sp>
      <p:pic>
        <p:nvPicPr>
          <p:cNvPr id="28" name="Image 4" descr="preencoded.png">    </p:cNvPr>
          <p:cNvPicPr>
            <a:picLocks noChangeAspect="1"/>
          </p:cNvPicPr>
          <p:nvPr/>
        </p:nvPicPr>
        <p:blipFill>
          <a:blip r:embed="rId5"/>
          <a:stretch>
            <a:fillRect/>
          </a:stretch>
        </p:blipFill>
        <p:spPr>
          <a:xfrm>
            <a:off x="936346" y="4776826"/>
            <a:ext cx="285293" cy="285293"/>
          </a:xfrm>
          <a:prstGeom prst="rect">
            <a:avLst/>
          </a:prstGeom>
        </p:spPr>
      </p:pic>
      <p:sp>
        <p:nvSpPr>
          <p:cNvPr id="29" name="Text 22"/>
          <p:cNvSpPr/>
          <p:nvPr/>
        </p:nvSpPr>
        <p:spPr>
          <a:xfrm>
            <a:off x="1481328" y="4480560"/>
            <a:ext cx="2084832" cy="420624"/>
          </a:xfrm>
          <a:prstGeom prst="rect">
            <a:avLst/>
          </a:prstGeom>
          <a:noFill/>
          <a:ln/>
        </p:spPr>
        <p:txBody>
          <a:bodyPr wrap="square" lIns="0" tIns="0" rIns="0" bIns="0" rtlCol="0" anchor="t"/>
          <a:lstStyle/>
          <a:p>
            <a:pPr indent="0" marL="0">
              <a:buNone/>
            </a:pPr>
            <a:r>
              <a:rPr lang="en-US" sz="1400" b="1" dirty="0">
                <a:solidFill>
                  <a:srgbClr val="173753"/>
                </a:solidFill>
                <a:latin typeface="Calibri" pitchFamily="34" charset="0"/>
                <a:ea typeface="Calibri" pitchFamily="34" charset="-122"/>
                <a:cs typeface="Calibri" pitchFamily="34" charset="-120"/>
              </a:rPr>
              <a:t>Menyusun strategi mutu</a:t>
            </a:r>
            <a:endParaRPr lang="en-US" sz="1400" dirty="0"/>
          </a:p>
        </p:txBody>
      </p:sp>
      <p:sp>
        <p:nvSpPr>
          <p:cNvPr id="30" name="Text 23"/>
          <p:cNvSpPr/>
          <p:nvPr/>
        </p:nvSpPr>
        <p:spPr>
          <a:xfrm>
            <a:off x="1481328" y="4919472"/>
            <a:ext cx="2084832" cy="51206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Langkah peningkatan layanan berbasis data.</a:t>
            </a:r>
            <a:endParaRPr lang="en-US" sz="1100" dirty="0"/>
          </a:p>
        </p:txBody>
      </p:sp>
      <p:sp>
        <p:nvSpPr>
          <p:cNvPr id="31" name="Shape 24"/>
          <p:cNvSpPr/>
          <p:nvPr/>
        </p:nvSpPr>
        <p:spPr>
          <a:xfrm>
            <a:off x="4023360" y="4334256"/>
            <a:ext cx="3200400" cy="1188720"/>
          </a:xfrm>
          <a:prstGeom prst="roundRect">
            <a:avLst>
              <a:gd name="adj" fmla="val 1076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2" name="Shape 25"/>
          <p:cNvSpPr/>
          <p:nvPr/>
        </p:nvSpPr>
        <p:spPr>
          <a:xfrm>
            <a:off x="4261104" y="4645152"/>
            <a:ext cx="548640" cy="548640"/>
          </a:xfrm>
          <a:prstGeom prst="ellipse">
            <a:avLst>
              <a:gd name="adj" fmla="val 20000"/>
            </a:avLst>
          </a:prstGeom>
          <a:solidFill>
            <a:srgbClr val="E0574B"/>
          </a:solidFill>
          <a:ln w="12700">
            <a:solidFill>
              <a:srgbClr val="333333"/>
            </a:solidFill>
            <a:prstDash val="solid"/>
          </a:ln>
        </p:spPr>
      </p:sp>
      <p:pic>
        <p:nvPicPr>
          <p:cNvPr id="33" name="Image 5" descr="preencoded.png">    </p:cNvPr>
          <p:cNvPicPr>
            <a:picLocks noChangeAspect="1"/>
          </p:cNvPicPr>
          <p:nvPr/>
        </p:nvPicPr>
        <p:blipFill>
          <a:blip r:embed="rId6"/>
          <a:stretch>
            <a:fillRect/>
          </a:stretch>
        </p:blipFill>
        <p:spPr>
          <a:xfrm>
            <a:off x="4392778" y="4776826"/>
            <a:ext cx="285293" cy="285293"/>
          </a:xfrm>
          <a:prstGeom prst="rect">
            <a:avLst/>
          </a:prstGeom>
        </p:spPr>
      </p:pic>
      <p:sp>
        <p:nvSpPr>
          <p:cNvPr id="34" name="Text 26"/>
          <p:cNvSpPr/>
          <p:nvPr/>
        </p:nvSpPr>
        <p:spPr>
          <a:xfrm>
            <a:off x="4937760" y="4480560"/>
            <a:ext cx="2084832" cy="420624"/>
          </a:xfrm>
          <a:prstGeom prst="rect">
            <a:avLst/>
          </a:prstGeom>
          <a:noFill/>
          <a:ln/>
        </p:spPr>
        <p:txBody>
          <a:bodyPr wrap="square" lIns="0" tIns="0" rIns="0" bIns="0" rtlCol="0" anchor="t"/>
          <a:lstStyle/>
          <a:p>
            <a:pPr indent="0" marL="0">
              <a:buNone/>
            </a:pPr>
            <a:r>
              <a:rPr lang="en-US" sz="1400" b="1" dirty="0">
                <a:solidFill>
                  <a:srgbClr val="173753"/>
                </a:solidFill>
                <a:latin typeface="Calibri" pitchFamily="34" charset="0"/>
                <a:ea typeface="Calibri" pitchFamily="34" charset="-122"/>
                <a:cs typeface="Calibri" pitchFamily="34" charset="-120"/>
              </a:rPr>
              <a:t>Merumuskan aksi nyata</a:t>
            </a:r>
            <a:endParaRPr lang="en-US" sz="1400" dirty="0"/>
          </a:p>
        </p:txBody>
      </p:sp>
      <p:sp>
        <p:nvSpPr>
          <p:cNvPr id="35" name="Text 27"/>
          <p:cNvSpPr/>
          <p:nvPr/>
        </p:nvSpPr>
        <p:spPr>
          <a:xfrm>
            <a:off x="4937760" y="4919472"/>
            <a:ext cx="2084832" cy="51206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Rencana 30–60–90 hari yang siap dijalankan.</a:t>
            </a:r>
            <a:endParaRPr lang="en-US" sz="1100" dirty="0"/>
          </a:p>
        </p:txBody>
      </p:sp>
      <p:sp>
        <p:nvSpPr>
          <p:cNvPr id="36" name="Shape 28"/>
          <p:cNvSpPr/>
          <p:nvPr/>
        </p:nvSpPr>
        <p:spPr>
          <a:xfrm>
            <a:off x="7552944" y="2203704"/>
            <a:ext cx="3705651" cy="3364992"/>
          </a:xfrm>
          <a:prstGeom prst="roundRect">
            <a:avLst>
              <a:gd name="adj" fmla="val 3804"/>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37" name="Image 6" descr="preencoded.png">    </p:cNvPr>
          <p:cNvPicPr>
            <a:picLocks noChangeAspect="1"/>
          </p:cNvPicPr>
          <p:nvPr/>
        </p:nvPicPr>
        <p:blipFill>
          <a:blip r:embed="rId7"/>
          <a:stretch>
            <a:fillRect/>
          </a:stretch>
        </p:blipFill>
        <p:spPr>
          <a:xfrm>
            <a:off x="7635240" y="2286000"/>
            <a:ext cx="3541059" cy="3200400"/>
          </a:xfrm>
          <a:prstGeom prst="rect">
            <a:avLst/>
          </a:prstGeom>
        </p:spPr>
      </p:pic>
      <p:sp>
        <p:nvSpPr>
          <p:cNvPr id="38" name="Text 29"/>
          <p:cNvSpPr/>
          <p:nvPr/>
        </p:nvSpPr>
        <p:spPr>
          <a:xfrm>
            <a:off x="7635240" y="1517904"/>
            <a:ext cx="3931920" cy="731520"/>
          </a:xfrm>
          <a:prstGeom prst="rect">
            <a:avLst/>
          </a:prstGeom>
          <a:noFill/>
          <a:ln/>
        </p:spPr>
        <p:txBody>
          <a:bodyPr wrap="square" lIns="0" tIns="0" rIns="0" bIns="0" rtlCol="0" anchor="t"/>
          <a:lstStyle/>
          <a:p>
            <a:pPr indent="0" marL="0">
              <a:buNone/>
            </a:pPr>
            <a:r>
              <a:rPr lang="en-US" sz="1350" i="1" dirty="0">
                <a:solidFill>
                  <a:srgbClr val="176B44"/>
                </a:solidFill>
                <a:latin typeface="Calibri" pitchFamily="34" charset="0"/>
                <a:ea typeface="Calibri" pitchFamily="34" charset="-122"/>
                <a:cs typeface="Calibri" pitchFamily="34" charset="-120"/>
              </a:rPr>
              <a:t>“Anak belajar paling baik ketika seluruh kebutuhannya terpenuhi — bukan hanya kebutuhan belajarnya.”</a:t>
            </a:r>
            <a:endParaRPr lang="en-US" sz="1350" dirty="0"/>
          </a:p>
        </p:txBody>
      </p:sp>
      <p:sp>
        <p:nvSpPr>
          <p:cNvPr id="39" name="Text 30"/>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40" name="Text 31"/>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REFLEKSI PEMBUKA</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Mari Berhenti Sejenak dan Bertanya</a:t>
            </a:r>
            <a:endParaRPr lang="en-US" sz="3200" dirty="0"/>
          </a:p>
        </p:txBody>
      </p:sp>
      <p:pic>
        <p:nvPicPr>
          <p:cNvPr id="6" name="Image 0" descr="preencoded.png">    </p:cNvPr>
          <p:cNvPicPr>
            <a:picLocks noChangeAspect="1"/>
          </p:cNvPicPr>
          <p:nvPr/>
        </p:nvPicPr>
        <p:blipFill>
          <a:blip r:embed="rId1"/>
          <a:stretch>
            <a:fillRect/>
          </a:stretch>
        </p:blipFill>
        <p:spPr>
          <a:xfrm>
            <a:off x="566928" y="1572768"/>
            <a:ext cx="4774977" cy="1810512"/>
          </a:xfrm>
          <a:prstGeom prst="rect">
            <a:avLst/>
          </a:prstGeom>
        </p:spPr>
      </p:pic>
      <p:sp>
        <p:nvSpPr>
          <p:cNvPr id="7" name="Text 4"/>
          <p:cNvSpPr/>
          <p:nvPr/>
        </p:nvSpPr>
        <p:spPr>
          <a:xfrm>
            <a:off x="1024128" y="1984248"/>
            <a:ext cx="3677697" cy="914400"/>
          </a:xfrm>
          <a:prstGeom prst="rect">
            <a:avLst/>
          </a:prstGeom>
          <a:noFill/>
          <a:ln/>
        </p:spPr>
        <p:txBody>
          <a:bodyPr wrap="square" lIns="0" tIns="0" rIns="0" bIns="0" rtlCol="0" anchor="ctr"/>
          <a:lstStyle/>
          <a:p>
            <a:pPr algn="ctr" indent="0" marL="0">
              <a:buNone/>
            </a:pPr>
            <a:r>
              <a:rPr lang="en-US" sz="1300" dirty="0">
                <a:solidFill>
                  <a:srgbClr val="173753"/>
                </a:solidFill>
                <a:latin typeface="Calibri" pitchFamily="34" charset="0"/>
                <a:ea typeface="Calibri" pitchFamily="34" charset="-122"/>
                <a:cs typeface="Calibri" pitchFamily="34" charset="-120"/>
              </a:rPr>
              <a:t>Sebelum membahas kebijakan dan strategi, mari kita mulai dari kondisi nyata di satuan masing-masing.</a:t>
            </a:r>
            <a:endParaRPr lang="en-US" sz="1300" dirty="0"/>
          </a:p>
        </p:txBody>
      </p:sp>
      <p:sp>
        <p:nvSpPr>
          <p:cNvPr id="8" name="Shape 5"/>
          <p:cNvSpPr/>
          <p:nvPr/>
        </p:nvSpPr>
        <p:spPr>
          <a:xfrm>
            <a:off x="941832" y="3575304"/>
            <a:ext cx="3172487" cy="2450592"/>
          </a:xfrm>
          <a:prstGeom prst="roundRect">
            <a:avLst>
              <a:gd name="adj" fmla="val 5224"/>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9" name="Image 1" descr="preencoded.png">    </p:cNvPr>
          <p:cNvPicPr>
            <a:picLocks noChangeAspect="1"/>
          </p:cNvPicPr>
          <p:nvPr/>
        </p:nvPicPr>
        <p:blipFill>
          <a:blip r:embed="rId2"/>
          <a:stretch>
            <a:fillRect/>
          </a:stretch>
        </p:blipFill>
        <p:spPr>
          <a:xfrm>
            <a:off x="1024128" y="3657600"/>
            <a:ext cx="3007895" cy="2286000"/>
          </a:xfrm>
          <a:prstGeom prst="rect">
            <a:avLst/>
          </a:prstGeom>
        </p:spPr>
      </p:pic>
      <p:sp>
        <p:nvSpPr>
          <p:cNvPr id="10" name="Shape 6"/>
          <p:cNvSpPr/>
          <p:nvPr/>
        </p:nvSpPr>
        <p:spPr>
          <a:xfrm>
            <a:off x="5943600" y="1645920"/>
            <a:ext cx="5681167" cy="1207008"/>
          </a:xfrm>
          <a:prstGeom prst="roundRect">
            <a:avLst>
              <a:gd name="adj" fmla="val 1060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1" name="Shape 7"/>
          <p:cNvSpPr/>
          <p:nvPr/>
        </p:nvSpPr>
        <p:spPr>
          <a:xfrm>
            <a:off x="6199632" y="1956816"/>
            <a:ext cx="566928" cy="566928"/>
          </a:xfrm>
          <a:prstGeom prst="ellipse">
            <a:avLst/>
          </a:prstGeom>
          <a:solidFill>
            <a:srgbClr val="1E76C8"/>
          </a:solidFill>
          <a:ln/>
        </p:spPr>
      </p:sp>
      <p:sp>
        <p:nvSpPr>
          <p:cNvPr id="12" name="Text 8"/>
          <p:cNvSpPr/>
          <p:nvPr/>
        </p:nvSpPr>
        <p:spPr>
          <a:xfrm>
            <a:off x="6199632" y="1956816"/>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3" name="Text 9"/>
          <p:cNvSpPr/>
          <p:nvPr/>
        </p:nvSpPr>
        <p:spPr>
          <a:xfrm>
            <a:off x="6949440" y="1828800"/>
            <a:ext cx="4206240" cy="292608"/>
          </a:xfrm>
          <a:prstGeom prst="rect">
            <a:avLst/>
          </a:prstGeom>
          <a:noFill/>
          <a:ln/>
        </p:spPr>
        <p:txBody>
          <a:bodyPr wrap="square" lIns="0" tIns="0" rIns="0" bIns="0" rtlCol="0" anchor="ctr"/>
          <a:lstStyle/>
          <a:p>
            <a:pPr indent="0" marL="0">
              <a:buNone/>
            </a:pPr>
            <a:r>
              <a:rPr lang="en-US" sz="1300" b="1" dirty="0">
                <a:solidFill>
                  <a:srgbClr val="1E76C8"/>
                </a:solidFill>
                <a:latin typeface="Calibri" pitchFamily="34" charset="0"/>
                <a:ea typeface="Calibri" pitchFamily="34" charset="-122"/>
                <a:cs typeface="Calibri" pitchFamily="34" charset="-120"/>
              </a:rPr>
              <a:t>Kebutuhan anak</a:t>
            </a:r>
            <a:endParaRPr lang="en-US" sz="1300" dirty="0"/>
          </a:p>
        </p:txBody>
      </p:sp>
      <p:sp>
        <p:nvSpPr>
          <p:cNvPr id="14" name="Text 10"/>
          <p:cNvSpPr/>
          <p:nvPr/>
        </p:nvSpPr>
        <p:spPr>
          <a:xfrm>
            <a:off x="6949440" y="2139696"/>
            <a:ext cx="4251960" cy="621792"/>
          </a:xfrm>
          <a:prstGeom prst="rect">
            <a:avLst/>
          </a:prstGeom>
          <a:noFill/>
          <a:ln/>
        </p:spPr>
        <p:txBody>
          <a:bodyPr wrap="square" lIns="0" tIns="0" rIns="0" bIns="0" rtlCol="0" anchor="t"/>
          <a:lstStyle/>
          <a:p>
            <a:pPr indent="0" marL="0">
              <a:buNone/>
            </a:pPr>
            <a:r>
              <a:rPr lang="en-US" sz="1200" dirty="0">
                <a:solidFill>
                  <a:srgbClr val="3E5C77"/>
                </a:solidFill>
                <a:latin typeface="Calibri" pitchFamily="34" charset="0"/>
                <a:ea typeface="Calibri" pitchFamily="34" charset="-122"/>
                <a:cs typeface="Calibri" pitchFamily="34" charset="-120"/>
              </a:rPr>
              <a:t>Sudahkah anak di satuan kita terpenuhi kebutuhan pendidikan, kesehatan, gizi, pengasuhan, dan perlindungannya?</a:t>
            </a:r>
            <a:endParaRPr lang="en-US" sz="1200" dirty="0"/>
          </a:p>
        </p:txBody>
      </p:sp>
      <p:sp>
        <p:nvSpPr>
          <p:cNvPr id="15" name="Shape 11"/>
          <p:cNvSpPr/>
          <p:nvPr/>
        </p:nvSpPr>
        <p:spPr>
          <a:xfrm>
            <a:off x="5943600" y="3035808"/>
            <a:ext cx="5681167" cy="1207008"/>
          </a:xfrm>
          <a:prstGeom prst="roundRect">
            <a:avLst>
              <a:gd name="adj" fmla="val 1060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6" name="Shape 12"/>
          <p:cNvSpPr/>
          <p:nvPr/>
        </p:nvSpPr>
        <p:spPr>
          <a:xfrm>
            <a:off x="6199632" y="3346704"/>
            <a:ext cx="566928" cy="566928"/>
          </a:xfrm>
          <a:prstGeom prst="ellipse">
            <a:avLst/>
          </a:prstGeom>
          <a:solidFill>
            <a:srgbClr val="2FA36B"/>
          </a:solidFill>
          <a:ln/>
        </p:spPr>
      </p:sp>
      <p:sp>
        <p:nvSpPr>
          <p:cNvPr id="17" name="Text 13"/>
          <p:cNvSpPr/>
          <p:nvPr/>
        </p:nvSpPr>
        <p:spPr>
          <a:xfrm>
            <a:off x="6199632" y="3346704"/>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18" name="Text 14"/>
          <p:cNvSpPr/>
          <p:nvPr/>
        </p:nvSpPr>
        <p:spPr>
          <a:xfrm>
            <a:off x="6949440" y="3218688"/>
            <a:ext cx="4206240" cy="292608"/>
          </a:xfrm>
          <a:prstGeom prst="rect">
            <a:avLst/>
          </a:prstGeom>
          <a:noFill/>
          <a:ln/>
        </p:spPr>
        <p:txBody>
          <a:bodyPr wrap="square" lIns="0" tIns="0" rIns="0" bIns="0" rtlCol="0" anchor="ctr"/>
          <a:lstStyle/>
          <a:p>
            <a:pPr indent="0" marL="0">
              <a:buNone/>
            </a:pPr>
            <a:r>
              <a:rPr lang="en-US" sz="1300" b="1" dirty="0">
                <a:solidFill>
                  <a:srgbClr val="2FA36B"/>
                </a:solidFill>
                <a:latin typeface="Calibri" pitchFamily="34" charset="0"/>
                <a:ea typeface="Calibri" pitchFamily="34" charset="-122"/>
                <a:cs typeface="Calibri" pitchFamily="34" charset="-120"/>
              </a:rPr>
              <a:t>Peta mitra</a:t>
            </a:r>
            <a:endParaRPr lang="en-US" sz="1300" dirty="0"/>
          </a:p>
        </p:txBody>
      </p:sp>
      <p:sp>
        <p:nvSpPr>
          <p:cNvPr id="19" name="Text 15"/>
          <p:cNvSpPr/>
          <p:nvPr/>
        </p:nvSpPr>
        <p:spPr>
          <a:xfrm>
            <a:off x="6949440" y="3529584"/>
            <a:ext cx="4251960" cy="621792"/>
          </a:xfrm>
          <a:prstGeom prst="rect">
            <a:avLst/>
          </a:prstGeom>
          <a:noFill/>
          <a:ln/>
        </p:spPr>
        <p:txBody>
          <a:bodyPr wrap="square" lIns="0" tIns="0" rIns="0" bIns="0" rtlCol="0" anchor="t"/>
          <a:lstStyle/>
          <a:p>
            <a:pPr indent="0" marL="0">
              <a:buNone/>
            </a:pPr>
            <a:r>
              <a:rPr lang="en-US" sz="1200" dirty="0">
                <a:solidFill>
                  <a:srgbClr val="3E5C77"/>
                </a:solidFill>
                <a:latin typeface="Calibri" pitchFamily="34" charset="0"/>
                <a:ea typeface="Calibri" pitchFamily="34" charset="-122"/>
                <a:cs typeface="Calibri" pitchFamily="34" charset="-120"/>
              </a:rPr>
              <a:t>Siapa mitra yang sudah bekerja bersama kita hari ini — dan siapa yang belum tersentuh sama sekali?</a:t>
            </a:r>
            <a:endParaRPr lang="en-US" sz="1200" dirty="0"/>
          </a:p>
        </p:txBody>
      </p:sp>
      <p:sp>
        <p:nvSpPr>
          <p:cNvPr id="20" name="Shape 16"/>
          <p:cNvSpPr/>
          <p:nvPr/>
        </p:nvSpPr>
        <p:spPr>
          <a:xfrm>
            <a:off x="5943600" y="4425696"/>
            <a:ext cx="5681167" cy="1207008"/>
          </a:xfrm>
          <a:prstGeom prst="roundRect">
            <a:avLst>
              <a:gd name="adj" fmla="val 1060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1" name="Shape 17"/>
          <p:cNvSpPr/>
          <p:nvPr/>
        </p:nvSpPr>
        <p:spPr>
          <a:xfrm>
            <a:off x="6199632" y="4736592"/>
            <a:ext cx="566928" cy="566928"/>
          </a:xfrm>
          <a:prstGeom prst="ellipse">
            <a:avLst/>
          </a:prstGeom>
          <a:solidFill>
            <a:srgbClr val="F5871F"/>
          </a:solidFill>
          <a:ln/>
        </p:spPr>
      </p:sp>
      <p:sp>
        <p:nvSpPr>
          <p:cNvPr id="22" name="Text 18"/>
          <p:cNvSpPr/>
          <p:nvPr/>
        </p:nvSpPr>
        <p:spPr>
          <a:xfrm>
            <a:off x="6199632" y="4736592"/>
            <a:ext cx="566928"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a:t>
            </a:r>
            <a:endParaRPr lang="en-US" sz="2600" dirty="0"/>
          </a:p>
        </p:txBody>
      </p:sp>
      <p:sp>
        <p:nvSpPr>
          <p:cNvPr id="23" name="Text 19"/>
          <p:cNvSpPr/>
          <p:nvPr/>
        </p:nvSpPr>
        <p:spPr>
          <a:xfrm>
            <a:off x="6949440" y="4608576"/>
            <a:ext cx="4206240" cy="292608"/>
          </a:xfrm>
          <a:prstGeom prst="rect">
            <a:avLst/>
          </a:prstGeom>
          <a:noFill/>
          <a:ln/>
        </p:spPr>
        <p:txBody>
          <a:bodyPr wrap="square" lIns="0" tIns="0" rIns="0" bIns="0" rtlCol="0" anchor="ctr"/>
          <a:lstStyle/>
          <a:p>
            <a:pPr indent="0" marL="0">
              <a:buNone/>
            </a:pPr>
            <a:r>
              <a:rPr lang="en-US" sz="1300" b="1" dirty="0">
                <a:solidFill>
                  <a:srgbClr val="F5871F"/>
                </a:solidFill>
                <a:latin typeface="Calibri" pitchFamily="34" charset="0"/>
                <a:ea typeface="Calibri" pitchFamily="34" charset="-122"/>
                <a:cs typeface="Calibri" pitchFamily="34" charset="-120"/>
              </a:rPr>
              <a:t>Langkah terdekat</a:t>
            </a:r>
            <a:endParaRPr lang="en-US" sz="1300" dirty="0"/>
          </a:p>
        </p:txBody>
      </p:sp>
      <p:sp>
        <p:nvSpPr>
          <p:cNvPr id="24" name="Text 20"/>
          <p:cNvSpPr/>
          <p:nvPr/>
        </p:nvSpPr>
        <p:spPr>
          <a:xfrm>
            <a:off x="6949440" y="4919472"/>
            <a:ext cx="4251960" cy="621792"/>
          </a:xfrm>
          <a:prstGeom prst="rect">
            <a:avLst/>
          </a:prstGeom>
          <a:noFill/>
          <a:ln/>
        </p:spPr>
        <p:txBody>
          <a:bodyPr wrap="square" lIns="0" tIns="0" rIns="0" bIns="0" rtlCol="0" anchor="t"/>
          <a:lstStyle/>
          <a:p>
            <a:pPr indent="0" marL="0">
              <a:buNone/>
            </a:pPr>
            <a:r>
              <a:rPr lang="en-US" sz="1200" dirty="0">
                <a:solidFill>
                  <a:srgbClr val="3E5C77"/>
                </a:solidFill>
                <a:latin typeface="Calibri" pitchFamily="34" charset="0"/>
                <a:ea typeface="Calibri" pitchFamily="34" charset="-122"/>
                <a:cs typeface="Calibri" pitchFamily="34" charset="-120"/>
              </a:rPr>
              <a:t>Apa satu hal yang bisa kita perbaiki bulan depan tanpa menunggu anggaran baru?</a:t>
            </a:r>
            <a:endParaRPr lang="en-US" sz="1200" dirty="0"/>
          </a:p>
        </p:txBody>
      </p:sp>
      <p:sp>
        <p:nvSpPr>
          <p:cNvPr id="25" name="Text 21"/>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26" name="Text 22"/>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4C88"/>
        </a:solidFill>
      </p:bgPr>
    </p:bg>
    <p:spTree>
      <p:nvGrpSpPr>
        <p:cNvPr id="1" name=""/>
        <p:cNvGrpSpPr/>
        <p:nvPr/>
      </p:nvGrpSpPr>
      <p:grpSpPr>
        <a:xfrm>
          <a:off x="0" y="0"/>
          <a:ext cx="0" cy="0"/>
          <a:chOff x="0" y="0"/>
          <a:chExt cx="0" cy="0"/>
        </a:xfrm>
      </p:grpSpPr>
      <p:sp>
        <p:nvSpPr>
          <p:cNvPr id="2" name="Shape 0"/>
          <p:cNvSpPr/>
          <p:nvPr/>
        </p:nvSpPr>
        <p:spPr>
          <a:xfrm>
            <a:off x="-1097280" y="-1280160"/>
            <a:ext cx="3840480" cy="3840480"/>
          </a:xfrm>
          <a:prstGeom prst="ellipse">
            <a:avLst/>
          </a:prstGeom>
          <a:solidFill>
            <a:srgbClr val="FFFFFF">
              <a:alpha val="12000"/>
            </a:srgbClr>
          </a:solidFill>
          <a:ln/>
        </p:spPr>
      </p:sp>
      <p:sp>
        <p:nvSpPr>
          <p:cNvPr id="3" name="Shape 1"/>
          <p:cNvSpPr/>
          <p:nvPr/>
        </p:nvSpPr>
        <p:spPr>
          <a:xfrm>
            <a:off x="3445104" y="3447288"/>
            <a:ext cx="5301488" cy="3054096"/>
          </a:xfrm>
          <a:prstGeom prst="roundRect">
            <a:avLst>
              <a:gd name="adj" fmla="val 4192"/>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4" name="Image 0" descr="preencoded.png">    </p:cNvPr>
          <p:cNvPicPr>
            <a:picLocks noChangeAspect="1"/>
          </p:cNvPicPr>
          <p:nvPr/>
        </p:nvPicPr>
        <p:blipFill>
          <a:blip r:embed="rId1"/>
          <a:stretch>
            <a:fillRect/>
          </a:stretch>
        </p:blipFill>
        <p:spPr>
          <a:xfrm>
            <a:off x="3527400" y="3529584"/>
            <a:ext cx="5136896" cy="2889504"/>
          </a:xfrm>
          <a:prstGeom prst="rect">
            <a:avLst/>
          </a:prstGeom>
        </p:spPr>
      </p:pic>
      <p:sp>
        <p:nvSpPr>
          <p:cNvPr id="5" name="Text 2"/>
          <p:cNvSpPr/>
          <p:nvPr/>
        </p:nvSpPr>
        <p:spPr>
          <a:xfrm>
            <a:off x="585216" y="475488"/>
            <a:ext cx="2377440" cy="1051560"/>
          </a:xfrm>
          <a:prstGeom prst="rect">
            <a:avLst/>
          </a:prstGeom>
          <a:noFill/>
          <a:ln/>
        </p:spPr>
        <p:txBody>
          <a:bodyPr wrap="square" lIns="0" tIns="0" rIns="0" bIns="0" rtlCol="0" anchor="ctr"/>
          <a:lstStyle/>
          <a:p>
            <a:pPr indent="0" marL="0">
              <a:buNone/>
            </a:pPr>
            <a:r>
              <a:rPr lang="en-US" sz="7200" b="1" dirty="0">
                <a:solidFill>
                  <a:srgbClr val="FFFFFF">
                    <a:alpha val="66000"/>
                  </a:srgbClr>
                </a:solidFill>
                <a:latin typeface="Calibri" pitchFamily="34" charset="0"/>
                <a:ea typeface="Calibri" pitchFamily="34" charset="-122"/>
                <a:cs typeface="Calibri" pitchFamily="34" charset="-120"/>
              </a:rPr>
              <a:t>01</a:t>
            </a:r>
            <a:endParaRPr lang="en-US" sz="7200" dirty="0"/>
          </a:p>
        </p:txBody>
      </p:sp>
      <p:sp>
        <p:nvSpPr>
          <p:cNvPr id="6" name="Text 3"/>
          <p:cNvSpPr/>
          <p:nvPr/>
        </p:nvSpPr>
        <p:spPr>
          <a:xfrm>
            <a:off x="566928" y="1572768"/>
            <a:ext cx="9966960" cy="105156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Mengapa Kemitraan dan PAUD HI Mendesak?</a:t>
            </a:r>
            <a:endParaRPr lang="en-US" sz="3600" dirty="0"/>
          </a:p>
        </p:txBody>
      </p:sp>
      <p:sp>
        <p:nvSpPr>
          <p:cNvPr id="7" name="Text 4"/>
          <p:cNvSpPr/>
          <p:nvPr/>
        </p:nvSpPr>
        <p:spPr>
          <a:xfrm>
            <a:off x="566928" y="2706624"/>
            <a:ext cx="8778240" cy="731520"/>
          </a:xfrm>
          <a:prstGeom prst="rect">
            <a:avLst/>
          </a:prstGeom>
          <a:noFill/>
          <a:ln/>
        </p:spPr>
        <p:txBody>
          <a:bodyPr wrap="square" lIns="0" tIns="0" rIns="0" bIns="0" rtlCol="0" anchor="t"/>
          <a:lstStyle/>
          <a:p>
            <a:pPr indent="0" marL="0">
              <a:buNone/>
            </a:pPr>
            <a:r>
              <a:rPr lang="en-US" sz="1500" dirty="0">
                <a:solidFill>
                  <a:srgbClr val="FFFFFF">
                    <a:alpha val="88000"/>
                  </a:srgbClr>
                </a:solidFill>
                <a:latin typeface="Calibri" pitchFamily="34" charset="0"/>
                <a:ea typeface="Calibri" pitchFamily="34" charset="-122"/>
                <a:cs typeface="Calibri" pitchFamily="34" charset="-120"/>
              </a:rPr>
              <a:t>Potret layanan PAUD Indonesia, urgensi periode usia dini, dan tantangan yang dihadapi satuan.</a:t>
            </a:r>
            <a:endParaRPr lang="en-US" sz="1500" dirty="0"/>
          </a:p>
        </p:txBody>
      </p:sp>
      <p:sp>
        <p:nvSpPr>
          <p:cNvPr id="8" name="Text 5"/>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9" name="Text 6"/>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POTRET NASIONAL</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Di Mana Posisi Layanan PAUD Kita?</a:t>
            </a:r>
            <a:endParaRPr lang="en-US" sz="3200" dirty="0"/>
          </a:p>
        </p:txBody>
      </p:sp>
      <p:sp>
        <p:nvSpPr>
          <p:cNvPr id="6" name="Shape 4"/>
          <p:cNvSpPr/>
          <p:nvPr/>
        </p:nvSpPr>
        <p:spPr>
          <a:xfrm>
            <a:off x="566928" y="1481328"/>
            <a:ext cx="2615184" cy="2084832"/>
          </a:xfrm>
          <a:prstGeom prst="roundRect">
            <a:avLst>
              <a:gd name="adj" fmla="val 614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Text 5"/>
          <p:cNvSpPr/>
          <p:nvPr/>
        </p:nvSpPr>
        <p:spPr>
          <a:xfrm>
            <a:off x="786384" y="1627632"/>
            <a:ext cx="2176272" cy="640080"/>
          </a:xfrm>
          <a:prstGeom prst="rect">
            <a:avLst/>
          </a:prstGeom>
          <a:noFill/>
          <a:ln/>
        </p:spPr>
        <p:txBody>
          <a:bodyPr wrap="square" lIns="0" tIns="0" rIns="0" bIns="0" rtlCol="0" anchor="ctr"/>
          <a:lstStyle/>
          <a:p>
            <a:pPr indent="0" marL="0">
              <a:buNone/>
            </a:pPr>
            <a:r>
              <a:rPr lang="en-US" sz="3400" b="1" dirty="0">
                <a:solidFill>
                  <a:srgbClr val="1E76C8"/>
                </a:solidFill>
                <a:latin typeface="Calibri" pitchFamily="34" charset="0"/>
                <a:ea typeface="Calibri" pitchFamily="34" charset="-122"/>
                <a:cs typeface="Calibri" pitchFamily="34" charset="-120"/>
              </a:rPr>
              <a:t>206.708</a:t>
            </a:r>
            <a:endParaRPr lang="en-US" sz="3400" dirty="0"/>
          </a:p>
        </p:txBody>
      </p:sp>
      <p:sp>
        <p:nvSpPr>
          <p:cNvPr id="8" name="Text 6"/>
          <p:cNvSpPr/>
          <p:nvPr/>
        </p:nvSpPr>
        <p:spPr>
          <a:xfrm>
            <a:off x="786384" y="2267712"/>
            <a:ext cx="2176272" cy="310896"/>
          </a:xfrm>
          <a:prstGeom prst="rect">
            <a:avLst/>
          </a:prstGeom>
          <a:noFill/>
          <a:ln/>
        </p:spPr>
        <p:txBody>
          <a:bodyPr wrap="square" lIns="0" tIns="0" rIns="0" bIns="0" rtlCol="0" anchor="ctr"/>
          <a:lstStyle/>
          <a:p>
            <a:pPr indent="0" marL="0">
              <a:buNone/>
            </a:pPr>
            <a:r>
              <a:rPr lang="en-US" sz="1250" b="1" dirty="0">
                <a:solidFill>
                  <a:srgbClr val="173753"/>
                </a:solidFill>
                <a:latin typeface="Calibri" pitchFamily="34" charset="0"/>
                <a:ea typeface="Calibri" pitchFamily="34" charset="-122"/>
                <a:cs typeface="Calibri" pitchFamily="34" charset="-120"/>
              </a:rPr>
              <a:t>satuan PAUD di Indonesia</a:t>
            </a:r>
            <a:endParaRPr lang="en-US" sz="1250" dirty="0"/>
          </a:p>
        </p:txBody>
      </p:sp>
      <p:sp>
        <p:nvSpPr>
          <p:cNvPr id="9" name="Text 7"/>
          <p:cNvSpPr/>
          <p:nvPr/>
        </p:nvSpPr>
        <p:spPr>
          <a:xfrm>
            <a:off x="786384" y="2578608"/>
            <a:ext cx="2176272" cy="82296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Basis layanan terbesar untuk anak usia dini.</a:t>
            </a:r>
            <a:endParaRPr lang="en-US" sz="1100" dirty="0"/>
          </a:p>
        </p:txBody>
      </p:sp>
      <p:sp>
        <p:nvSpPr>
          <p:cNvPr id="10" name="Shape 8"/>
          <p:cNvSpPr/>
          <p:nvPr/>
        </p:nvSpPr>
        <p:spPr>
          <a:xfrm>
            <a:off x="3383280" y="1481328"/>
            <a:ext cx="2615184" cy="2084832"/>
          </a:xfrm>
          <a:prstGeom prst="roundRect">
            <a:avLst>
              <a:gd name="adj" fmla="val 614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1" name="Text 9"/>
          <p:cNvSpPr/>
          <p:nvPr/>
        </p:nvSpPr>
        <p:spPr>
          <a:xfrm>
            <a:off x="3602736" y="1627632"/>
            <a:ext cx="2176272" cy="640080"/>
          </a:xfrm>
          <a:prstGeom prst="rect">
            <a:avLst/>
          </a:prstGeom>
          <a:noFill/>
          <a:ln/>
        </p:spPr>
        <p:txBody>
          <a:bodyPr wrap="square" lIns="0" tIns="0" rIns="0" bIns="0" rtlCol="0" anchor="ctr"/>
          <a:lstStyle/>
          <a:p>
            <a:pPr indent="0" marL="0">
              <a:buNone/>
            </a:pPr>
            <a:r>
              <a:rPr lang="en-US" sz="3400" b="1" dirty="0">
                <a:solidFill>
                  <a:srgbClr val="2FA36B"/>
                </a:solidFill>
                <a:latin typeface="Calibri" pitchFamily="34" charset="0"/>
                <a:ea typeface="Calibri" pitchFamily="34" charset="-122"/>
                <a:cs typeface="Calibri" pitchFamily="34" charset="-120"/>
              </a:rPr>
              <a:t>+18.819</a:t>
            </a:r>
            <a:endParaRPr lang="en-US" sz="3400" dirty="0"/>
          </a:p>
        </p:txBody>
      </p:sp>
      <p:sp>
        <p:nvSpPr>
          <p:cNvPr id="12" name="Text 10"/>
          <p:cNvSpPr/>
          <p:nvPr/>
        </p:nvSpPr>
        <p:spPr>
          <a:xfrm>
            <a:off x="3602736" y="2267712"/>
            <a:ext cx="2176272" cy="310896"/>
          </a:xfrm>
          <a:prstGeom prst="rect">
            <a:avLst/>
          </a:prstGeom>
          <a:noFill/>
          <a:ln/>
        </p:spPr>
        <p:txBody>
          <a:bodyPr wrap="square" lIns="0" tIns="0" rIns="0" bIns="0" rtlCol="0" anchor="ctr"/>
          <a:lstStyle/>
          <a:p>
            <a:pPr indent="0" marL="0">
              <a:buNone/>
            </a:pPr>
            <a:r>
              <a:rPr lang="en-US" sz="1250" b="1" dirty="0">
                <a:solidFill>
                  <a:srgbClr val="173753"/>
                </a:solidFill>
                <a:latin typeface="Calibri" pitchFamily="34" charset="0"/>
                <a:ea typeface="Calibri" pitchFamily="34" charset="-122"/>
                <a:cs typeface="Calibri" pitchFamily="34" charset="-120"/>
              </a:rPr>
              <a:t>satuan naik capaiannya</a:t>
            </a:r>
            <a:endParaRPr lang="en-US" sz="1250" dirty="0"/>
          </a:p>
        </p:txBody>
      </p:sp>
      <p:sp>
        <p:nvSpPr>
          <p:cNvPr id="13" name="Text 11"/>
          <p:cNvSpPr/>
          <p:nvPr/>
        </p:nvSpPr>
        <p:spPr>
          <a:xfrm>
            <a:off x="3602736" y="2578608"/>
            <a:ext cx="2176272" cy="82296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Memenuhi minimal 6 dari 8 indikator sepanjang 2025 (+9,84%).</a:t>
            </a:r>
            <a:endParaRPr lang="en-US" sz="1100" dirty="0"/>
          </a:p>
        </p:txBody>
      </p:sp>
      <p:sp>
        <p:nvSpPr>
          <p:cNvPr id="14" name="Shape 12"/>
          <p:cNvSpPr/>
          <p:nvPr/>
        </p:nvSpPr>
        <p:spPr>
          <a:xfrm>
            <a:off x="6199632" y="1481328"/>
            <a:ext cx="2615184" cy="2084832"/>
          </a:xfrm>
          <a:prstGeom prst="roundRect">
            <a:avLst>
              <a:gd name="adj" fmla="val 614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5" name="Text 13"/>
          <p:cNvSpPr/>
          <p:nvPr/>
        </p:nvSpPr>
        <p:spPr>
          <a:xfrm>
            <a:off x="6419088" y="1627632"/>
            <a:ext cx="2176272" cy="640080"/>
          </a:xfrm>
          <a:prstGeom prst="rect">
            <a:avLst/>
          </a:prstGeom>
          <a:noFill/>
          <a:ln/>
        </p:spPr>
        <p:txBody>
          <a:bodyPr wrap="square" lIns="0" tIns="0" rIns="0" bIns="0" rtlCol="0" anchor="ctr"/>
          <a:lstStyle/>
          <a:p>
            <a:pPr indent="0" marL="0">
              <a:buNone/>
            </a:pPr>
            <a:r>
              <a:rPr lang="en-US" sz="3400" b="1" dirty="0">
                <a:solidFill>
                  <a:srgbClr val="E0574B"/>
                </a:solidFill>
                <a:latin typeface="Calibri" pitchFamily="34" charset="0"/>
                <a:ea typeface="Calibri" pitchFamily="34" charset="-122"/>
                <a:cs typeface="Calibri" pitchFamily="34" charset="-120"/>
              </a:rPr>
              <a:t>8,95%</a:t>
            </a:r>
            <a:endParaRPr lang="en-US" sz="3400" dirty="0"/>
          </a:p>
        </p:txBody>
      </p:sp>
      <p:sp>
        <p:nvSpPr>
          <p:cNvPr id="16" name="Text 14"/>
          <p:cNvSpPr/>
          <p:nvPr/>
        </p:nvSpPr>
        <p:spPr>
          <a:xfrm>
            <a:off x="6419088" y="2267712"/>
            <a:ext cx="2176272" cy="310896"/>
          </a:xfrm>
          <a:prstGeom prst="rect">
            <a:avLst/>
          </a:prstGeom>
          <a:noFill/>
          <a:ln/>
        </p:spPr>
        <p:txBody>
          <a:bodyPr wrap="square" lIns="0" tIns="0" rIns="0" bIns="0" rtlCol="0" anchor="ctr"/>
          <a:lstStyle/>
          <a:p>
            <a:pPr indent="0" marL="0">
              <a:buNone/>
            </a:pPr>
            <a:r>
              <a:rPr lang="en-US" sz="1250" b="1" dirty="0">
                <a:solidFill>
                  <a:srgbClr val="173753"/>
                </a:solidFill>
                <a:latin typeface="Calibri" pitchFamily="34" charset="0"/>
                <a:ea typeface="Calibri" pitchFamily="34" charset="-122"/>
                <a:cs typeface="Calibri" pitchFamily="34" charset="-120"/>
              </a:rPr>
              <a:t>sanitasi &amp; air bersih</a:t>
            </a:r>
            <a:endParaRPr lang="en-US" sz="1250" dirty="0"/>
          </a:p>
        </p:txBody>
      </p:sp>
      <p:sp>
        <p:nvSpPr>
          <p:cNvPr id="17" name="Text 15"/>
          <p:cNvSpPr/>
          <p:nvPr/>
        </p:nvSpPr>
        <p:spPr>
          <a:xfrm>
            <a:off x="6419088" y="2578608"/>
            <a:ext cx="2176272" cy="82296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Indikator dengan pemenuhan terendah secara nasional.</a:t>
            </a:r>
            <a:endParaRPr lang="en-US" sz="1100" dirty="0"/>
          </a:p>
        </p:txBody>
      </p:sp>
      <p:sp>
        <p:nvSpPr>
          <p:cNvPr id="18" name="Shape 16"/>
          <p:cNvSpPr/>
          <p:nvPr/>
        </p:nvSpPr>
        <p:spPr>
          <a:xfrm>
            <a:off x="9015984" y="1481328"/>
            <a:ext cx="2615184" cy="2084832"/>
          </a:xfrm>
          <a:prstGeom prst="roundRect">
            <a:avLst>
              <a:gd name="adj" fmla="val 614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9" name="Text 17"/>
          <p:cNvSpPr/>
          <p:nvPr/>
        </p:nvSpPr>
        <p:spPr>
          <a:xfrm>
            <a:off x="9235440" y="1627632"/>
            <a:ext cx="2176272" cy="640080"/>
          </a:xfrm>
          <a:prstGeom prst="rect">
            <a:avLst/>
          </a:prstGeom>
          <a:noFill/>
          <a:ln/>
        </p:spPr>
        <p:txBody>
          <a:bodyPr wrap="square" lIns="0" tIns="0" rIns="0" bIns="0" rtlCol="0" anchor="ctr"/>
          <a:lstStyle/>
          <a:p>
            <a:pPr indent="0" marL="0">
              <a:buNone/>
            </a:pPr>
            <a:r>
              <a:rPr lang="en-US" sz="3400" b="1" dirty="0">
                <a:solidFill>
                  <a:srgbClr val="F5871F"/>
                </a:solidFill>
                <a:latin typeface="Calibri" pitchFamily="34" charset="0"/>
                <a:ea typeface="Calibri" pitchFamily="34" charset="-122"/>
                <a:cs typeface="Calibri" pitchFamily="34" charset="-120"/>
              </a:rPr>
              <a:t>1,05%</a:t>
            </a:r>
            <a:endParaRPr lang="en-US" sz="3400" dirty="0"/>
          </a:p>
        </p:txBody>
      </p:sp>
      <p:sp>
        <p:nvSpPr>
          <p:cNvPr id="20" name="Text 18"/>
          <p:cNvSpPr/>
          <p:nvPr/>
        </p:nvSpPr>
        <p:spPr>
          <a:xfrm>
            <a:off x="9235440" y="2267712"/>
            <a:ext cx="2176272" cy="310896"/>
          </a:xfrm>
          <a:prstGeom prst="rect">
            <a:avLst/>
          </a:prstGeom>
          <a:noFill/>
          <a:ln/>
        </p:spPr>
        <p:txBody>
          <a:bodyPr wrap="square" lIns="0" tIns="0" rIns="0" bIns="0" rtlCol="0" anchor="ctr"/>
          <a:lstStyle/>
          <a:p>
            <a:pPr indent="0" marL="0">
              <a:buNone/>
            </a:pPr>
            <a:r>
              <a:rPr lang="en-US" sz="1250" b="1" dirty="0">
                <a:solidFill>
                  <a:srgbClr val="173753"/>
                </a:solidFill>
                <a:latin typeface="Calibri" pitchFamily="34" charset="0"/>
                <a:ea typeface="Calibri" pitchFamily="34" charset="-122"/>
                <a:cs typeface="Calibri" pitchFamily="34" charset="-120"/>
              </a:rPr>
              <a:t>belum memutakhirkan data</a:t>
            </a:r>
            <a:endParaRPr lang="en-US" sz="1250" dirty="0"/>
          </a:p>
        </p:txBody>
      </p:sp>
      <p:sp>
        <p:nvSpPr>
          <p:cNvPr id="21" name="Text 19"/>
          <p:cNvSpPr/>
          <p:nvPr/>
        </p:nvSpPr>
        <p:spPr>
          <a:xfrm>
            <a:off x="9235440" y="2578608"/>
            <a:ext cx="2176272" cy="82296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2.175 satuan belum melaporkan capaian PAUD HI di Dapodik.</a:t>
            </a:r>
            <a:endParaRPr lang="en-US" sz="1100" dirty="0"/>
          </a:p>
        </p:txBody>
      </p:sp>
      <p:sp>
        <p:nvSpPr>
          <p:cNvPr id="22" name="Shape 20"/>
          <p:cNvSpPr/>
          <p:nvPr/>
        </p:nvSpPr>
        <p:spPr>
          <a:xfrm>
            <a:off x="484632" y="3593592"/>
            <a:ext cx="4469710" cy="2414016"/>
          </a:xfrm>
          <a:prstGeom prst="roundRect">
            <a:avLst>
              <a:gd name="adj" fmla="val 5303"/>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23" name="Image 0" descr="preencoded.png">    </p:cNvPr>
          <p:cNvPicPr>
            <a:picLocks noChangeAspect="1"/>
          </p:cNvPicPr>
          <p:nvPr/>
        </p:nvPicPr>
        <p:blipFill>
          <a:blip r:embed="rId1"/>
          <a:stretch>
            <a:fillRect/>
          </a:stretch>
        </p:blipFill>
        <p:spPr>
          <a:xfrm>
            <a:off x="566928" y="3675888"/>
            <a:ext cx="4305118" cy="2249424"/>
          </a:xfrm>
          <a:prstGeom prst="rect">
            <a:avLst/>
          </a:prstGeom>
        </p:spPr>
      </p:pic>
      <p:sp>
        <p:nvSpPr>
          <p:cNvPr id="24" name="Shape 21"/>
          <p:cNvSpPr/>
          <p:nvPr/>
        </p:nvSpPr>
        <p:spPr>
          <a:xfrm>
            <a:off x="5449824" y="3675888"/>
            <a:ext cx="6174943" cy="2487168"/>
          </a:xfrm>
          <a:prstGeom prst="roundRect">
            <a:avLst>
              <a:gd name="adj" fmla="val 5147"/>
            </a:avLst>
          </a:prstGeom>
          <a:solidFill>
            <a:srgbClr val="DCEDFB"/>
          </a:solidFill>
          <a:ln w="12700">
            <a:solidFill>
              <a:srgbClr val="B9DBF6"/>
            </a:solidFill>
            <a:prstDash val="solid"/>
          </a:ln>
          <a:effectLst>
            <a:outerShdw sx="100000" sy="100000" kx="0" ky="0" algn="bl" rotWithShape="0" blurRad="177800" dist="38100" dir="5400000">
              <a:srgbClr val="0F3352">
                <a:alpha val="10000"/>
              </a:srgbClr>
            </a:outerShdw>
          </a:effectLst>
        </p:spPr>
      </p:sp>
      <p:sp>
        <p:nvSpPr>
          <p:cNvPr id="25" name="Text 22"/>
          <p:cNvSpPr/>
          <p:nvPr/>
        </p:nvSpPr>
        <p:spPr>
          <a:xfrm>
            <a:off x="5760720" y="3858768"/>
            <a:ext cx="5486400" cy="310896"/>
          </a:xfrm>
          <a:prstGeom prst="rect">
            <a:avLst/>
          </a:prstGeom>
          <a:noFill/>
          <a:ln/>
        </p:spPr>
        <p:txBody>
          <a:bodyPr wrap="square" lIns="0" tIns="0" rIns="0" bIns="0" rtlCol="0" anchor="ctr"/>
          <a:lstStyle/>
          <a:p>
            <a:pPr indent="0" marL="0">
              <a:buNone/>
            </a:pPr>
            <a:r>
              <a:rPr lang="en-US" sz="1500" b="1" dirty="0">
                <a:solidFill>
                  <a:srgbClr val="0F4C88"/>
                </a:solidFill>
                <a:latin typeface="Calibri" pitchFamily="34" charset="0"/>
                <a:ea typeface="Calibri" pitchFamily="34" charset="-122"/>
                <a:cs typeface="Calibri" pitchFamily="34" charset="-120"/>
              </a:rPr>
              <a:t>Apa artinya bagi satuan PAUD?</a:t>
            </a:r>
            <a:endParaRPr lang="en-US" sz="1500" dirty="0"/>
          </a:p>
        </p:txBody>
      </p:sp>
      <p:sp>
        <p:nvSpPr>
          <p:cNvPr id="26" name="Text 23"/>
          <p:cNvSpPr/>
          <p:nvPr/>
        </p:nvSpPr>
        <p:spPr>
          <a:xfrm>
            <a:off x="5760720" y="4224528"/>
            <a:ext cx="5486400" cy="182880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3E5C77"/>
                </a:solidFill>
                <a:latin typeface="Calibri" pitchFamily="34" charset="0"/>
                <a:ea typeface="Calibri" pitchFamily="34" charset="-122"/>
                <a:cs typeface="Calibri" pitchFamily="34" charset="-120"/>
              </a:rPr>
              <a:t>Capaian nasional bergerak naik — momentum ini perlu dijaga dari tingkat satuan.</a:t>
            </a:r>
            <a:endParaRPr lang="en-US" sz="1200" dirty="0"/>
          </a:p>
          <a:p>
            <a:pPr marL="342900" indent="-342900">
              <a:spcAft>
                <a:spcPts val="700"/>
              </a:spcAft>
              <a:buSzPct val="100000"/>
              <a:buChar char="•"/>
            </a:pPr>
            <a:r>
              <a:rPr lang="en-US" sz="1200" dirty="0">
                <a:solidFill>
                  <a:srgbClr val="3E5C77"/>
                </a:solidFill>
                <a:latin typeface="Calibri" pitchFamily="34" charset="0"/>
                <a:ea typeface="Calibri" pitchFamily="34" charset="-122"/>
                <a:cs typeface="Calibri" pitchFamily="34" charset="-120"/>
              </a:rPr>
              <a:t>Ketimpangan antarindikator sangat lebar: layanan berbasis kegiatan tinggi, sarana fisik tertinggal jauh.</a:t>
            </a:r>
            <a:endParaRPr lang="en-US" sz="1200" dirty="0"/>
          </a:p>
          <a:p>
            <a:pPr marL="342900" indent="-342900">
              <a:spcAft>
                <a:spcPts val="700"/>
              </a:spcAft>
              <a:buSzPct val="100000"/>
              <a:buChar char="•"/>
            </a:pPr>
            <a:r>
              <a:rPr lang="en-US" sz="1200" dirty="0">
                <a:solidFill>
                  <a:srgbClr val="3E5C77"/>
                </a:solidFill>
                <a:latin typeface="Calibri" pitchFamily="34" charset="0"/>
                <a:ea typeface="Calibri" pitchFamily="34" charset="-122"/>
                <a:cs typeface="Calibri" pitchFamily="34" charset="-120"/>
              </a:rPr>
              <a:t>Sanitasi dan air bersih tidak bisa diselesaikan sekolah sendirian — di sinilah kemitraan bekerja.</a:t>
            </a:r>
            <a:endParaRPr lang="en-US" sz="1200" dirty="0"/>
          </a:p>
        </p:txBody>
      </p:sp>
      <p:sp>
        <p:nvSpPr>
          <p:cNvPr id="27" name="Text 24"/>
          <p:cNvSpPr/>
          <p:nvPr/>
        </p:nvSpPr>
        <p:spPr>
          <a:xfrm>
            <a:off x="566928" y="6035040"/>
            <a:ext cx="5486400" cy="237744"/>
          </a:xfrm>
          <a:prstGeom prst="rect">
            <a:avLst/>
          </a:prstGeom>
          <a:noFill/>
          <a:ln/>
        </p:spPr>
        <p:txBody>
          <a:bodyPr wrap="square" lIns="0" tIns="0" rIns="0" bIns="0" rtlCol="0" anchor="ctr"/>
          <a:lstStyle/>
          <a:p>
            <a:pPr indent="0" marL="0">
              <a:buNone/>
            </a:pPr>
            <a:r>
              <a:rPr lang="en-US" sz="850" i="1" dirty="0">
                <a:solidFill>
                  <a:srgbClr val="7A93A8"/>
                </a:solidFill>
                <a:latin typeface="Calibri" pitchFamily="34" charset="0"/>
                <a:ea typeface="Calibri" pitchFamily="34" charset="-122"/>
                <a:cs typeface="Calibri" pitchFamily="34" charset="-120"/>
              </a:rPr>
              <a:t>Sumber: Dapodik, cut off 31 Desember 2025 — Direktorat Pendidikan Anak Usia Dini.</a:t>
            </a:r>
            <a:endParaRPr lang="en-US" sz="850" dirty="0"/>
          </a:p>
        </p:txBody>
      </p:sp>
      <p:sp>
        <p:nvSpPr>
          <p:cNvPr id="28" name="Text 25"/>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29" name="Text 26"/>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E3F6EC">
              <a:alpha val="55000"/>
            </a:srgbClr>
          </a:solidFill>
          <a:ln/>
        </p:spPr>
      </p:sp>
      <p:sp>
        <p:nvSpPr>
          <p:cNvPr id="3" name="Shape 1"/>
          <p:cNvSpPr/>
          <p:nvPr/>
        </p:nvSpPr>
        <p:spPr>
          <a:xfrm>
            <a:off x="10820095" y="5303520"/>
            <a:ext cx="2926080" cy="2926080"/>
          </a:xfrm>
          <a:prstGeom prst="ellipse">
            <a:avLst/>
          </a:prstGeom>
          <a:solidFill>
            <a:srgbClr val="E3F6EC">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2FA36B"/>
                </a:solidFill>
                <a:latin typeface="Calibri" pitchFamily="34" charset="0"/>
                <a:ea typeface="Calibri" pitchFamily="34" charset="-122"/>
                <a:cs typeface="Calibri" pitchFamily="34" charset="-120"/>
              </a:rPr>
              <a:t>URGENSI</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Usia Dini adalah Fondasi Kualitas SDM</a:t>
            </a:r>
            <a:endParaRPr lang="en-US" sz="3200" dirty="0"/>
          </a:p>
        </p:txBody>
      </p:sp>
      <p:sp>
        <p:nvSpPr>
          <p:cNvPr id="6" name="Shape 4"/>
          <p:cNvSpPr/>
          <p:nvPr/>
        </p:nvSpPr>
        <p:spPr>
          <a:xfrm>
            <a:off x="484632" y="1435608"/>
            <a:ext cx="4135013" cy="3182112"/>
          </a:xfrm>
          <a:prstGeom prst="roundRect">
            <a:avLst>
              <a:gd name="adj" fmla="val 4023"/>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7" name="Image 0" descr="preencoded.png">    </p:cNvPr>
          <p:cNvPicPr>
            <a:picLocks noChangeAspect="1"/>
          </p:cNvPicPr>
          <p:nvPr/>
        </p:nvPicPr>
        <p:blipFill>
          <a:blip r:embed="rId1"/>
          <a:stretch>
            <a:fillRect/>
          </a:stretch>
        </p:blipFill>
        <p:spPr>
          <a:xfrm>
            <a:off x="566928" y="1517904"/>
            <a:ext cx="3970421" cy="3017520"/>
          </a:xfrm>
          <a:prstGeom prst="rect">
            <a:avLst/>
          </a:prstGeom>
        </p:spPr>
      </p:pic>
      <p:sp>
        <p:nvSpPr>
          <p:cNvPr id="8" name="Shape 5"/>
          <p:cNvSpPr/>
          <p:nvPr/>
        </p:nvSpPr>
        <p:spPr>
          <a:xfrm>
            <a:off x="4937760" y="1554480"/>
            <a:ext cx="6687007" cy="1024128"/>
          </a:xfrm>
          <a:prstGeom prst="roundRect">
            <a:avLst>
              <a:gd name="adj" fmla="val 1250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9" name="Shape 6"/>
          <p:cNvSpPr/>
          <p:nvPr/>
        </p:nvSpPr>
        <p:spPr>
          <a:xfrm>
            <a:off x="5175504" y="1792224"/>
            <a:ext cx="548640" cy="548640"/>
          </a:xfrm>
          <a:prstGeom prst="ellipse">
            <a:avLst>
              <a:gd name="adj" fmla="val 20000"/>
            </a:avLst>
          </a:prstGeom>
          <a:solidFill>
            <a:srgbClr val="2FA36B"/>
          </a:solidFill>
          <a:ln w="12700">
            <a:solidFill>
              <a:srgbClr val="333333"/>
            </a:solidFill>
            <a:prstDash val="solid"/>
          </a:ln>
        </p:spPr>
      </p:sp>
      <p:pic>
        <p:nvPicPr>
          <p:cNvPr id="10" name="Image 1" descr="preencoded.png">    </p:cNvPr>
          <p:cNvPicPr>
            <a:picLocks noChangeAspect="1"/>
          </p:cNvPicPr>
          <p:nvPr/>
        </p:nvPicPr>
        <p:blipFill>
          <a:blip r:embed="rId2"/>
          <a:stretch>
            <a:fillRect/>
          </a:stretch>
        </p:blipFill>
        <p:spPr>
          <a:xfrm>
            <a:off x="5307178" y="1923898"/>
            <a:ext cx="285293" cy="285293"/>
          </a:xfrm>
          <a:prstGeom prst="rect">
            <a:avLst/>
          </a:prstGeom>
        </p:spPr>
      </p:pic>
      <p:sp>
        <p:nvSpPr>
          <p:cNvPr id="11" name="Text 7"/>
          <p:cNvSpPr/>
          <p:nvPr/>
        </p:nvSpPr>
        <p:spPr>
          <a:xfrm>
            <a:off x="5888736" y="1719072"/>
            <a:ext cx="5212080" cy="292608"/>
          </a:xfrm>
          <a:prstGeom prst="rect">
            <a:avLst/>
          </a:prstGeom>
          <a:noFill/>
          <a:ln/>
        </p:spPr>
        <p:txBody>
          <a:bodyPr wrap="square" lIns="0" tIns="0" rIns="0" bIns="0" rtlCol="0" anchor="ctr"/>
          <a:lstStyle/>
          <a:p>
            <a:pPr indent="0" marL="0">
              <a:buNone/>
            </a:pPr>
            <a:r>
              <a:rPr lang="en-US" sz="1400" b="1" dirty="0">
                <a:solidFill>
                  <a:srgbClr val="173753"/>
                </a:solidFill>
                <a:latin typeface="Calibri" pitchFamily="34" charset="0"/>
                <a:ea typeface="Calibri" pitchFamily="34" charset="-122"/>
                <a:cs typeface="Calibri" pitchFamily="34" charset="-120"/>
              </a:rPr>
              <a:t>Periode yang tidak terulang</a:t>
            </a:r>
            <a:endParaRPr lang="en-US" sz="1400" dirty="0"/>
          </a:p>
        </p:txBody>
      </p:sp>
      <p:sp>
        <p:nvSpPr>
          <p:cNvPr id="12" name="Text 8"/>
          <p:cNvSpPr/>
          <p:nvPr/>
        </p:nvSpPr>
        <p:spPr>
          <a:xfrm>
            <a:off x="5888736" y="2029968"/>
            <a:ext cx="5257800" cy="475488"/>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Perkembangan anak sejak janin sampai usia 6 tahun menentukan kualitas SDM di masa depan.</a:t>
            </a:r>
            <a:endParaRPr lang="en-US" sz="1150" dirty="0"/>
          </a:p>
        </p:txBody>
      </p:sp>
      <p:sp>
        <p:nvSpPr>
          <p:cNvPr id="13" name="Shape 9"/>
          <p:cNvSpPr/>
          <p:nvPr/>
        </p:nvSpPr>
        <p:spPr>
          <a:xfrm>
            <a:off x="4937760" y="2724912"/>
            <a:ext cx="6687007" cy="1024128"/>
          </a:xfrm>
          <a:prstGeom prst="roundRect">
            <a:avLst>
              <a:gd name="adj" fmla="val 1250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4" name="Shape 10"/>
          <p:cNvSpPr/>
          <p:nvPr/>
        </p:nvSpPr>
        <p:spPr>
          <a:xfrm>
            <a:off x="5175504" y="2962656"/>
            <a:ext cx="548640" cy="548640"/>
          </a:xfrm>
          <a:prstGeom prst="ellipse">
            <a:avLst>
              <a:gd name="adj" fmla="val 20000"/>
            </a:avLst>
          </a:prstGeom>
          <a:solidFill>
            <a:srgbClr val="1E76C8"/>
          </a:solidFill>
          <a:ln w="12700">
            <a:solidFill>
              <a:srgbClr val="333333"/>
            </a:solidFill>
            <a:prstDash val="solid"/>
          </a:ln>
        </p:spPr>
      </p:sp>
      <p:pic>
        <p:nvPicPr>
          <p:cNvPr id="15" name="Image 2" descr="preencoded.png">    </p:cNvPr>
          <p:cNvPicPr>
            <a:picLocks noChangeAspect="1"/>
          </p:cNvPicPr>
          <p:nvPr/>
        </p:nvPicPr>
        <p:blipFill>
          <a:blip r:embed="rId3"/>
          <a:stretch>
            <a:fillRect/>
          </a:stretch>
        </p:blipFill>
        <p:spPr>
          <a:xfrm>
            <a:off x="5307178" y="3094330"/>
            <a:ext cx="285293" cy="285293"/>
          </a:xfrm>
          <a:prstGeom prst="rect">
            <a:avLst/>
          </a:prstGeom>
        </p:spPr>
      </p:pic>
      <p:sp>
        <p:nvSpPr>
          <p:cNvPr id="16" name="Text 11"/>
          <p:cNvSpPr/>
          <p:nvPr/>
        </p:nvSpPr>
        <p:spPr>
          <a:xfrm>
            <a:off x="5888736" y="2889504"/>
            <a:ext cx="5212080" cy="292608"/>
          </a:xfrm>
          <a:prstGeom prst="rect">
            <a:avLst/>
          </a:prstGeom>
          <a:noFill/>
          <a:ln/>
        </p:spPr>
        <p:txBody>
          <a:bodyPr wrap="square" lIns="0" tIns="0" rIns="0" bIns="0" rtlCol="0" anchor="ctr"/>
          <a:lstStyle/>
          <a:p>
            <a:pPr indent="0" marL="0">
              <a:buNone/>
            </a:pPr>
            <a:r>
              <a:rPr lang="en-US" sz="1400" b="1" dirty="0">
                <a:solidFill>
                  <a:srgbClr val="173753"/>
                </a:solidFill>
                <a:latin typeface="Calibri" pitchFamily="34" charset="0"/>
                <a:ea typeface="Calibri" pitchFamily="34" charset="-122"/>
                <a:cs typeface="Calibri" pitchFamily="34" charset="-120"/>
              </a:rPr>
              <a:t>Kebutuhan berjalan serentak</a:t>
            </a:r>
            <a:endParaRPr lang="en-US" sz="1400" dirty="0"/>
          </a:p>
        </p:txBody>
      </p:sp>
      <p:sp>
        <p:nvSpPr>
          <p:cNvPr id="17" name="Text 12"/>
          <p:cNvSpPr/>
          <p:nvPr/>
        </p:nvSpPr>
        <p:spPr>
          <a:xfrm>
            <a:off x="5888736" y="3200400"/>
            <a:ext cx="5257800" cy="475488"/>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Gizi, kesehatan, pengasuhan, perlindungan, dan stimulasi harus dipenuhi secara simultan.</a:t>
            </a:r>
            <a:endParaRPr lang="en-US" sz="1150" dirty="0"/>
          </a:p>
        </p:txBody>
      </p:sp>
      <p:sp>
        <p:nvSpPr>
          <p:cNvPr id="18" name="Shape 13"/>
          <p:cNvSpPr/>
          <p:nvPr/>
        </p:nvSpPr>
        <p:spPr>
          <a:xfrm>
            <a:off x="4937760" y="3895344"/>
            <a:ext cx="6687007" cy="1024128"/>
          </a:xfrm>
          <a:prstGeom prst="roundRect">
            <a:avLst>
              <a:gd name="adj" fmla="val 1250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9" name="Shape 14"/>
          <p:cNvSpPr/>
          <p:nvPr/>
        </p:nvSpPr>
        <p:spPr>
          <a:xfrm>
            <a:off x="5175504" y="4133088"/>
            <a:ext cx="548640" cy="548640"/>
          </a:xfrm>
          <a:prstGeom prst="ellipse">
            <a:avLst>
              <a:gd name="adj" fmla="val 20000"/>
            </a:avLst>
          </a:prstGeom>
          <a:solidFill>
            <a:srgbClr val="F5871F"/>
          </a:solidFill>
          <a:ln w="12700">
            <a:solidFill>
              <a:srgbClr val="333333"/>
            </a:solidFill>
            <a:prstDash val="solid"/>
          </a:ln>
        </p:spPr>
      </p:sp>
      <p:pic>
        <p:nvPicPr>
          <p:cNvPr id="20" name="Image 3" descr="preencoded.png">    </p:cNvPr>
          <p:cNvPicPr>
            <a:picLocks noChangeAspect="1"/>
          </p:cNvPicPr>
          <p:nvPr/>
        </p:nvPicPr>
        <p:blipFill>
          <a:blip r:embed="rId4"/>
          <a:stretch>
            <a:fillRect/>
          </a:stretch>
        </p:blipFill>
        <p:spPr>
          <a:xfrm>
            <a:off x="5307178" y="4264762"/>
            <a:ext cx="285293" cy="285293"/>
          </a:xfrm>
          <a:prstGeom prst="rect">
            <a:avLst/>
          </a:prstGeom>
        </p:spPr>
      </p:pic>
      <p:sp>
        <p:nvSpPr>
          <p:cNvPr id="21" name="Text 15"/>
          <p:cNvSpPr/>
          <p:nvPr/>
        </p:nvSpPr>
        <p:spPr>
          <a:xfrm>
            <a:off x="5888736" y="4059936"/>
            <a:ext cx="5212080" cy="292608"/>
          </a:xfrm>
          <a:prstGeom prst="rect">
            <a:avLst/>
          </a:prstGeom>
          <a:noFill/>
          <a:ln/>
        </p:spPr>
        <p:txBody>
          <a:bodyPr wrap="square" lIns="0" tIns="0" rIns="0" bIns="0" rtlCol="0" anchor="ctr"/>
          <a:lstStyle/>
          <a:p>
            <a:pPr indent="0" marL="0">
              <a:buNone/>
            </a:pPr>
            <a:r>
              <a:rPr lang="en-US" sz="1400" b="1" dirty="0">
                <a:solidFill>
                  <a:srgbClr val="173753"/>
                </a:solidFill>
                <a:latin typeface="Calibri" pitchFamily="34" charset="0"/>
                <a:ea typeface="Calibri" pitchFamily="34" charset="-122"/>
                <a:cs typeface="Calibri" pitchFamily="34" charset="-120"/>
              </a:rPr>
              <a:t>Mencegah lebih murah</a:t>
            </a:r>
            <a:endParaRPr lang="en-US" sz="1400" dirty="0"/>
          </a:p>
        </p:txBody>
      </p:sp>
      <p:sp>
        <p:nvSpPr>
          <p:cNvPr id="22" name="Text 16"/>
          <p:cNvSpPr/>
          <p:nvPr/>
        </p:nvSpPr>
        <p:spPr>
          <a:xfrm>
            <a:off x="5888736" y="4370832"/>
            <a:ext cx="5257800" cy="475488"/>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Intervensi dini jauh lebih hemat dibanding memperbaiki keterlambatan di usia sekolah.</a:t>
            </a:r>
            <a:endParaRPr lang="en-US" sz="1150" dirty="0"/>
          </a:p>
        </p:txBody>
      </p:sp>
      <p:sp>
        <p:nvSpPr>
          <p:cNvPr id="23" name="Shape 17"/>
          <p:cNvSpPr/>
          <p:nvPr/>
        </p:nvSpPr>
        <p:spPr>
          <a:xfrm>
            <a:off x="566928" y="4956048"/>
            <a:ext cx="3503066" cy="969264"/>
          </a:xfrm>
          <a:prstGeom prst="roundRect">
            <a:avLst>
              <a:gd name="adj" fmla="val 13208"/>
            </a:avLst>
          </a:prstGeom>
          <a:solidFill>
            <a:srgbClr val="FFFFFF"/>
          </a:solidFill>
          <a:ln w="19050">
            <a:solidFill>
              <a:srgbClr val="1E76C8"/>
            </a:solidFill>
            <a:prstDash val="solid"/>
          </a:ln>
          <a:effectLst>
            <a:outerShdw sx="100000" sy="100000" kx="0" ky="0" algn="bl" rotWithShape="0" blurRad="177800" dist="38100" dir="5400000">
              <a:srgbClr val="0F3352">
                <a:alpha val="10000"/>
              </a:srgbClr>
            </a:outerShdw>
          </a:effectLst>
        </p:spPr>
      </p:sp>
      <p:sp>
        <p:nvSpPr>
          <p:cNvPr id="24" name="Text 18"/>
          <p:cNvSpPr/>
          <p:nvPr/>
        </p:nvSpPr>
        <p:spPr>
          <a:xfrm>
            <a:off x="804672" y="5084064"/>
            <a:ext cx="3045866" cy="292608"/>
          </a:xfrm>
          <a:prstGeom prst="rect">
            <a:avLst/>
          </a:prstGeom>
          <a:noFill/>
          <a:ln/>
        </p:spPr>
        <p:txBody>
          <a:bodyPr wrap="square" lIns="0" tIns="0" rIns="0" bIns="0" rtlCol="0" anchor="ctr"/>
          <a:lstStyle/>
          <a:p>
            <a:pPr indent="0" marL="0">
              <a:buNone/>
            </a:pPr>
            <a:r>
              <a:rPr lang="en-US" sz="1500" b="1" dirty="0">
                <a:solidFill>
                  <a:srgbClr val="1E76C8"/>
                </a:solidFill>
                <a:latin typeface="Calibri" pitchFamily="34" charset="0"/>
                <a:ea typeface="Calibri" pitchFamily="34" charset="-122"/>
                <a:cs typeface="Calibri" pitchFamily="34" charset="-120"/>
              </a:rPr>
              <a:t>0–2 tahun</a:t>
            </a:r>
            <a:endParaRPr lang="en-US" sz="1500" dirty="0"/>
          </a:p>
        </p:txBody>
      </p:sp>
      <p:sp>
        <p:nvSpPr>
          <p:cNvPr id="25" name="Text 19"/>
          <p:cNvSpPr/>
          <p:nvPr/>
        </p:nvSpPr>
        <p:spPr>
          <a:xfrm>
            <a:off x="804672" y="5394960"/>
            <a:ext cx="3045866" cy="384048"/>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1.000 Hari Pertama Kehidupan</a:t>
            </a:r>
            <a:endParaRPr lang="en-US" sz="1150" dirty="0"/>
          </a:p>
        </p:txBody>
      </p:sp>
      <p:sp>
        <p:nvSpPr>
          <p:cNvPr id="26" name="Shape 20"/>
          <p:cNvSpPr/>
          <p:nvPr/>
        </p:nvSpPr>
        <p:spPr>
          <a:xfrm>
            <a:off x="4344314" y="4956048"/>
            <a:ext cx="3503066" cy="969264"/>
          </a:xfrm>
          <a:prstGeom prst="roundRect">
            <a:avLst>
              <a:gd name="adj" fmla="val 13208"/>
            </a:avLst>
          </a:prstGeom>
          <a:solidFill>
            <a:srgbClr val="FFFFFF"/>
          </a:solidFill>
          <a:ln w="19050">
            <a:solidFill>
              <a:srgbClr val="2FA36B"/>
            </a:solidFill>
            <a:prstDash val="solid"/>
          </a:ln>
          <a:effectLst>
            <a:outerShdw sx="100000" sy="100000" kx="0" ky="0" algn="bl" rotWithShape="0" blurRad="177800" dist="38100" dir="5400000">
              <a:srgbClr val="0F3352">
                <a:alpha val="10000"/>
              </a:srgbClr>
            </a:outerShdw>
          </a:effectLst>
        </p:spPr>
      </p:sp>
      <p:sp>
        <p:nvSpPr>
          <p:cNvPr id="27" name="Text 21"/>
          <p:cNvSpPr/>
          <p:nvPr/>
        </p:nvSpPr>
        <p:spPr>
          <a:xfrm>
            <a:off x="4582058" y="5084064"/>
            <a:ext cx="3045866" cy="292608"/>
          </a:xfrm>
          <a:prstGeom prst="rect">
            <a:avLst/>
          </a:prstGeom>
          <a:noFill/>
          <a:ln/>
        </p:spPr>
        <p:txBody>
          <a:bodyPr wrap="square" lIns="0" tIns="0" rIns="0" bIns="0" rtlCol="0" anchor="ctr"/>
          <a:lstStyle/>
          <a:p>
            <a:pPr indent="0" marL="0">
              <a:buNone/>
            </a:pPr>
            <a:r>
              <a:rPr lang="en-US" sz="1500" b="1" dirty="0">
                <a:solidFill>
                  <a:srgbClr val="2FA36B"/>
                </a:solidFill>
                <a:latin typeface="Calibri" pitchFamily="34" charset="0"/>
                <a:ea typeface="Calibri" pitchFamily="34" charset="-122"/>
                <a:cs typeface="Calibri" pitchFamily="34" charset="-120"/>
              </a:rPr>
              <a:t>3–4 tahun</a:t>
            </a:r>
            <a:endParaRPr lang="en-US" sz="1500" dirty="0"/>
          </a:p>
        </p:txBody>
      </p:sp>
      <p:sp>
        <p:nvSpPr>
          <p:cNvPr id="28" name="Text 22"/>
          <p:cNvSpPr/>
          <p:nvPr/>
        </p:nvSpPr>
        <p:spPr>
          <a:xfrm>
            <a:off x="4582058" y="5394960"/>
            <a:ext cx="3045866" cy="384048"/>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Perluasan stimulasi &amp; sosialisasi</a:t>
            </a:r>
            <a:endParaRPr lang="en-US" sz="1150" dirty="0"/>
          </a:p>
        </p:txBody>
      </p:sp>
      <p:sp>
        <p:nvSpPr>
          <p:cNvPr id="29" name="Shape 23"/>
          <p:cNvSpPr/>
          <p:nvPr/>
        </p:nvSpPr>
        <p:spPr>
          <a:xfrm>
            <a:off x="8121701" y="4956048"/>
            <a:ext cx="3503066" cy="969264"/>
          </a:xfrm>
          <a:prstGeom prst="roundRect">
            <a:avLst>
              <a:gd name="adj" fmla="val 13208"/>
            </a:avLst>
          </a:prstGeom>
          <a:solidFill>
            <a:srgbClr val="FFFFFF"/>
          </a:solidFill>
          <a:ln w="19050">
            <a:solidFill>
              <a:srgbClr val="F5871F"/>
            </a:solidFill>
            <a:prstDash val="solid"/>
          </a:ln>
          <a:effectLst>
            <a:outerShdw sx="100000" sy="100000" kx="0" ky="0" algn="bl" rotWithShape="0" blurRad="177800" dist="38100" dir="5400000">
              <a:srgbClr val="0F3352">
                <a:alpha val="10000"/>
              </a:srgbClr>
            </a:outerShdw>
          </a:effectLst>
        </p:spPr>
      </p:sp>
      <p:sp>
        <p:nvSpPr>
          <p:cNvPr id="30" name="Text 24"/>
          <p:cNvSpPr/>
          <p:nvPr/>
        </p:nvSpPr>
        <p:spPr>
          <a:xfrm>
            <a:off x="8359445" y="5084064"/>
            <a:ext cx="3045866" cy="292608"/>
          </a:xfrm>
          <a:prstGeom prst="rect">
            <a:avLst/>
          </a:prstGeom>
          <a:noFill/>
          <a:ln/>
        </p:spPr>
        <p:txBody>
          <a:bodyPr wrap="square" lIns="0" tIns="0" rIns="0" bIns="0" rtlCol="0" anchor="ctr"/>
          <a:lstStyle/>
          <a:p>
            <a:pPr indent="0" marL="0">
              <a:buNone/>
            </a:pPr>
            <a:r>
              <a:rPr lang="en-US" sz="1500" b="1" dirty="0">
                <a:solidFill>
                  <a:srgbClr val="F5871F"/>
                </a:solidFill>
                <a:latin typeface="Calibri" pitchFamily="34" charset="0"/>
                <a:ea typeface="Calibri" pitchFamily="34" charset="-122"/>
                <a:cs typeface="Calibri" pitchFamily="34" charset="-120"/>
              </a:rPr>
              <a:t>5–6 tahun</a:t>
            </a:r>
            <a:endParaRPr lang="en-US" sz="1500" dirty="0"/>
          </a:p>
        </p:txBody>
      </p:sp>
      <p:sp>
        <p:nvSpPr>
          <p:cNvPr id="31" name="Text 25"/>
          <p:cNvSpPr/>
          <p:nvPr/>
        </p:nvSpPr>
        <p:spPr>
          <a:xfrm>
            <a:off x="8359445" y="5394960"/>
            <a:ext cx="3045866" cy="384048"/>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Prioritas layanan PAUD &amp; kesiapan sekolah</a:t>
            </a:r>
            <a:endParaRPr lang="en-US" sz="1150" dirty="0"/>
          </a:p>
        </p:txBody>
      </p:sp>
      <p:sp>
        <p:nvSpPr>
          <p:cNvPr id="32" name="Text 26"/>
          <p:cNvSpPr/>
          <p:nvPr/>
        </p:nvSpPr>
        <p:spPr>
          <a:xfrm>
            <a:off x="566928" y="6144768"/>
            <a:ext cx="8229600" cy="237744"/>
          </a:xfrm>
          <a:prstGeom prst="rect">
            <a:avLst/>
          </a:prstGeom>
          <a:noFill/>
          <a:ln/>
        </p:spPr>
        <p:txBody>
          <a:bodyPr wrap="square" lIns="0" tIns="0" rIns="0" bIns="0" rtlCol="0" anchor="ctr"/>
          <a:lstStyle/>
          <a:p>
            <a:pPr indent="0" marL="0">
              <a:buNone/>
            </a:pPr>
            <a:r>
              <a:rPr lang="en-US" sz="900" i="1" dirty="0">
                <a:solidFill>
                  <a:srgbClr val="7A93A8"/>
                </a:solidFill>
                <a:latin typeface="Calibri" pitchFamily="34" charset="0"/>
                <a:ea typeface="Calibri" pitchFamily="34" charset="-122"/>
                <a:cs typeface="Calibri" pitchFamily="34" charset="-120"/>
              </a:rPr>
              <a:t>Rujukan: Perpres No. 60 Tahun 2013 tentang Pengembangan Anak Usia Dini Holistik Integratif.</a:t>
            </a:r>
            <a:endParaRPr lang="en-US" sz="900" dirty="0"/>
          </a:p>
        </p:txBody>
      </p:sp>
      <p:sp>
        <p:nvSpPr>
          <p:cNvPr id="33" name="Text 27"/>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34" name="Text 28"/>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FFF1E0">
              <a:alpha val="55000"/>
            </a:srgbClr>
          </a:solidFill>
          <a:ln/>
        </p:spPr>
      </p:sp>
      <p:sp>
        <p:nvSpPr>
          <p:cNvPr id="3" name="Shape 1"/>
          <p:cNvSpPr/>
          <p:nvPr/>
        </p:nvSpPr>
        <p:spPr>
          <a:xfrm>
            <a:off x="10820095" y="5303520"/>
            <a:ext cx="2926080" cy="2926080"/>
          </a:xfrm>
          <a:prstGeom prst="ellipse">
            <a:avLst/>
          </a:prstGeom>
          <a:solidFill>
            <a:srgbClr val="FFF1E0">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TANTANGAN</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Empat Hambatan yang Paling Sering Ditemui</a:t>
            </a:r>
            <a:endParaRPr lang="en-US" sz="3200" dirty="0"/>
          </a:p>
        </p:txBody>
      </p:sp>
      <p:sp>
        <p:nvSpPr>
          <p:cNvPr id="6" name="Shape 4"/>
          <p:cNvSpPr/>
          <p:nvPr/>
        </p:nvSpPr>
        <p:spPr>
          <a:xfrm>
            <a:off x="566928" y="1517904"/>
            <a:ext cx="4023360" cy="1408176"/>
          </a:xfrm>
          <a:prstGeom prst="roundRect">
            <a:avLst>
              <a:gd name="adj" fmla="val 9091"/>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804672" y="1828800"/>
            <a:ext cx="603504" cy="603504"/>
          </a:xfrm>
          <a:prstGeom prst="ellipse">
            <a:avLst>
              <a:gd name="adj" fmla="val 18182"/>
            </a:avLst>
          </a:prstGeom>
          <a:solidFill>
            <a:srgbClr val="1E76C8"/>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949513" y="1973641"/>
            <a:ext cx="313822" cy="313822"/>
          </a:xfrm>
          <a:prstGeom prst="rect">
            <a:avLst/>
          </a:prstGeom>
        </p:spPr>
      </p:pic>
      <p:sp>
        <p:nvSpPr>
          <p:cNvPr id="9" name="Text 6"/>
          <p:cNvSpPr/>
          <p:nvPr/>
        </p:nvSpPr>
        <p:spPr>
          <a:xfrm>
            <a:off x="1499616" y="1700784"/>
            <a:ext cx="2871216" cy="457200"/>
          </a:xfrm>
          <a:prstGeom prst="rect">
            <a:avLst/>
          </a:prstGeom>
          <a:noFill/>
          <a:ln/>
        </p:spPr>
        <p:txBody>
          <a:bodyPr wrap="square" lIns="0" tIns="0" rIns="0" bIns="0" rtlCol="0" anchor="t"/>
          <a:lstStyle/>
          <a:p>
            <a:pPr indent="0" marL="0">
              <a:buNone/>
            </a:pPr>
            <a:r>
              <a:rPr lang="en-US" sz="1350" b="1" dirty="0">
                <a:solidFill>
                  <a:srgbClr val="173753"/>
                </a:solidFill>
                <a:latin typeface="Calibri" pitchFamily="34" charset="0"/>
                <a:ea typeface="Calibri" pitchFamily="34" charset="-122"/>
                <a:cs typeface="Calibri" pitchFamily="34" charset="-120"/>
              </a:rPr>
              <a:t>Layanan masih terfragmentasi</a:t>
            </a:r>
            <a:endParaRPr lang="en-US" sz="1350" dirty="0"/>
          </a:p>
        </p:txBody>
      </p:sp>
      <p:sp>
        <p:nvSpPr>
          <p:cNvPr id="10" name="Text 7"/>
          <p:cNvSpPr/>
          <p:nvPr/>
        </p:nvSpPr>
        <p:spPr>
          <a:xfrm>
            <a:off x="1499616" y="2176272"/>
            <a:ext cx="2852928" cy="67665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Pendidikan, kesehatan, dan gizi berjalan sendiri-sendiri; jadwal dan data tidak saling terhubung.</a:t>
            </a:r>
            <a:endParaRPr lang="en-US" sz="1100" dirty="0"/>
          </a:p>
        </p:txBody>
      </p:sp>
      <p:sp>
        <p:nvSpPr>
          <p:cNvPr id="11" name="Shape 8"/>
          <p:cNvSpPr/>
          <p:nvPr/>
        </p:nvSpPr>
        <p:spPr>
          <a:xfrm>
            <a:off x="4846320" y="1517904"/>
            <a:ext cx="4023360" cy="1408176"/>
          </a:xfrm>
          <a:prstGeom prst="roundRect">
            <a:avLst>
              <a:gd name="adj" fmla="val 9091"/>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2" name="Shape 9"/>
          <p:cNvSpPr/>
          <p:nvPr/>
        </p:nvSpPr>
        <p:spPr>
          <a:xfrm>
            <a:off x="5084064" y="1828800"/>
            <a:ext cx="603504" cy="603504"/>
          </a:xfrm>
          <a:prstGeom prst="ellipse">
            <a:avLst>
              <a:gd name="adj" fmla="val 18182"/>
            </a:avLst>
          </a:prstGeom>
          <a:solidFill>
            <a:srgbClr val="E0574B"/>
          </a:solidFill>
          <a:ln w="12700">
            <a:solidFill>
              <a:srgbClr val="333333"/>
            </a:solidFill>
            <a:prstDash val="solid"/>
          </a:ln>
        </p:spPr>
      </p:sp>
      <p:pic>
        <p:nvPicPr>
          <p:cNvPr id="13" name="Image 1" descr="preencoded.png">    </p:cNvPr>
          <p:cNvPicPr>
            <a:picLocks noChangeAspect="1"/>
          </p:cNvPicPr>
          <p:nvPr/>
        </p:nvPicPr>
        <p:blipFill>
          <a:blip r:embed="rId2"/>
          <a:stretch>
            <a:fillRect/>
          </a:stretch>
        </p:blipFill>
        <p:spPr>
          <a:xfrm>
            <a:off x="5228905" y="1973641"/>
            <a:ext cx="313822" cy="313822"/>
          </a:xfrm>
          <a:prstGeom prst="rect">
            <a:avLst/>
          </a:prstGeom>
        </p:spPr>
      </p:pic>
      <p:sp>
        <p:nvSpPr>
          <p:cNvPr id="14" name="Text 10"/>
          <p:cNvSpPr/>
          <p:nvPr/>
        </p:nvSpPr>
        <p:spPr>
          <a:xfrm>
            <a:off x="5779008" y="1700784"/>
            <a:ext cx="2871216" cy="457200"/>
          </a:xfrm>
          <a:prstGeom prst="rect">
            <a:avLst/>
          </a:prstGeom>
          <a:noFill/>
          <a:ln/>
        </p:spPr>
        <p:txBody>
          <a:bodyPr wrap="square" lIns="0" tIns="0" rIns="0" bIns="0" rtlCol="0" anchor="t"/>
          <a:lstStyle/>
          <a:p>
            <a:pPr indent="0" marL="0">
              <a:buNone/>
            </a:pPr>
            <a:r>
              <a:rPr lang="en-US" sz="1350" b="1" dirty="0">
                <a:solidFill>
                  <a:srgbClr val="173753"/>
                </a:solidFill>
                <a:latin typeface="Calibri" pitchFamily="34" charset="0"/>
                <a:ea typeface="Calibri" pitchFamily="34" charset="-122"/>
                <a:cs typeface="Calibri" pitchFamily="34" charset="-120"/>
              </a:rPr>
              <a:t>Sarana dasar belum terpenuhi</a:t>
            </a:r>
            <a:endParaRPr lang="en-US" sz="1350" dirty="0"/>
          </a:p>
        </p:txBody>
      </p:sp>
      <p:sp>
        <p:nvSpPr>
          <p:cNvPr id="15" name="Text 11"/>
          <p:cNvSpPr/>
          <p:nvPr/>
        </p:nvSpPr>
        <p:spPr>
          <a:xfrm>
            <a:off x="5779008" y="2176272"/>
            <a:ext cx="2852928" cy="67665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Sanitasi dan air bersih baru dipenuhi 8,95% satuan — kebutuhan yang melampaui kemampuan sekolah.</a:t>
            </a:r>
            <a:endParaRPr lang="en-US" sz="1100" dirty="0"/>
          </a:p>
        </p:txBody>
      </p:sp>
      <p:sp>
        <p:nvSpPr>
          <p:cNvPr id="16" name="Shape 12"/>
          <p:cNvSpPr/>
          <p:nvPr/>
        </p:nvSpPr>
        <p:spPr>
          <a:xfrm>
            <a:off x="566928" y="3163824"/>
            <a:ext cx="4023360" cy="1408176"/>
          </a:xfrm>
          <a:prstGeom prst="roundRect">
            <a:avLst>
              <a:gd name="adj" fmla="val 9091"/>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7" name="Shape 13"/>
          <p:cNvSpPr/>
          <p:nvPr/>
        </p:nvSpPr>
        <p:spPr>
          <a:xfrm>
            <a:off x="804672" y="3474720"/>
            <a:ext cx="603504" cy="603504"/>
          </a:xfrm>
          <a:prstGeom prst="ellipse">
            <a:avLst>
              <a:gd name="adj" fmla="val 18182"/>
            </a:avLst>
          </a:prstGeom>
          <a:solidFill>
            <a:srgbClr val="F5871F"/>
          </a:solidFill>
          <a:ln w="12700">
            <a:solidFill>
              <a:srgbClr val="333333"/>
            </a:solidFill>
            <a:prstDash val="solid"/>
          </a:ln>
        </p:spPr>
      </p:sp>
      <p:pic>
        <p:nvPicPr>
          <p:cNvPr id="18" name="Image 2" descr="preencoded.png">    </p:cNvPr>
          <p:cNvPicPr>
            <a:picLocks noChangeAspect="1"/>
          </p:cNvPicPr>
          <p:nvPr/>
        </p:nvPicPr>
        <p:blipFill>
          <a:blip r:embed="rId3"/>
          <a:stretch>
            <a:fillRect/>
          </a:stretch>
        </p:blipFill>
        <p:spPr>
          <a:xfrm>
            <a:off x="949513" y="3619561"/>
            <a:ext cx="313822" cy="313822"/>
          </a:xfrm>
          <a:prstGeom prst="rect">
            <a:avLst/>
          </a:prstGeom>
        </p:spPr>
      </p:pic>
      <p:sp>
        <p:nvSpPr>
          <p:cNvPr id="19" name="Text 14"/>
          <p:cNvSpPr/>
          <p:nvPr/>
        </p:nvSpPr>
        <p:spPr>
          <a:xfrm>
            <a:off x="1499616" y="3346704"/>
            <a:ext cx="2871216" cy="457200"/>
          </a:xfrm>
          <a:prstGeom prst="rect">
            <a:avLst/>
          </a:prstGeom>
          <a:noFill/>
          <a:ln/>
        </p:spPr>
        <p:txBody>
          <a:bodyPr wrap="square" lIns="0" tIns="0" rIns="0" bIns="0" rtlCol="0" anchor="t"/>
          <a:lstStyle/>
          <a:p>
            <a:pPr indent="0" marL="0">
              <a:buNone/>
            </a:pPr>
            <a:r>
              <a:rPr lang="en-US" sz="1350" b="1" dirty="0">
                <a:solidFill>
                  <a:srgbClr val="173753"/>
                </a:solidFill>
                <a:latin typeface="Calibri" pitchFamily="34" charset="0"/>
                <a:ea typeface="Calibri" pitchFamily="34" charset="-122"/>
                <a:cs typeface="Calibri" pitchFamily="34" charset="-120"/>
              </a:rPr>
              <a:t>Kapasitas pendidik terbatas</a:t>
            </a:r>
            <a:endParaRPr lang="en-US" sz="1350" dirty="0"/>
          </a:p>
        </p:txBody>
      </p:sp>
      <p:sp>
        <p:nvSpPr>
          <p:cNvPr id="20" name="Text 15"/>
          <p:cNvSpPr/>
          <p:nvPr/>
        </p:nvSpPr>
        <p:spPr>
          <a:xfrm>
            <a:off x="1499616" y="3822192"/>
            <a:ext cx="2852928" cy="67665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Guru diposisikan sebagai penghubung PAUD HI, namun belum semua memperoleh penguatan kapasitas.</a:t>
            </a:r>
            <a:endParaRPr lang="en-US" sz="1100" dirty="0"/>
          </a:p>
        </p:txBody>
      </p:sp>
      <p:sp>
        <p:nvSpPr>
          <p:cNvPr id="21" name="Shape 16"/>
          <p:cNvSpPr/>
          <p:nvPr/>
        </p:nvSpPr>
        <p:spPr>
          <a:xfrm>
            <a:off x="4846320" y="3163824"/>
            <a:ext cx="4023360" cy="1408176"/>
          </a:xfrm>
          <a:prstGeom prst="roundRect">
            <a:avLst>
              <a:gd name="adj" fmla="val 9091"/>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2" name="Shape 17"/>
          <p:cNvSpPr/>
          <p:nvPr/>
        </p:nvSpPr>
        <p:spPr>
          <a:xfrm>
            <a:off x="5084064" y="3474720"/>
            <a:ext cx="603504" cy="603504"/>
          </a:xfrm>
          <a:prstGeom prst="ellipse">
            <a:avLst>
              <a:gd name="adj" fmla="val 18182"/>
            </a:avLst>
          </a:prstGeom>
          <a:solidFill>
            <a:srgbClr val="7A66B8"/>
          </a:solidFill>
          <a:ln w="12700">
            <a:solidFill>
              <a:srgbClr val="333333"/>
            </a:solidFill>
            <a:prstDash val="solid"/>
          </a:ln>
        </p:spPr>
      </p:sp>
      <p:pic>
        <p:nvPicPr>
          <p:cNvPr id="23" name="Image 3" descr="preencoded.png">    </p:cNvPr>
          <p:cNvPicPr>
            <a:picLocks noChangeAspect="1"/>
          </p:cNvPicPr>
          <p:nvPr/>
        </p:nvPicPr>
        <p:blipFill>
          <a:blip r:embed="rId4"/>
          <a:stretch>
            <a:fillRect/>
          </a:stretch>
        </p:blipFill>
        <p:spPr>
          <a:xfrm>
            <a:off x="5228905" y="3619561"/>
            <a:ext cx="313822" cy="313822"/>
          </a:xfrm>
          <a:prstGeom prst="rect">
            <a:avLst/>
          </a:prstGeom>
        </p:spPr>
      </p:pic>
      <p:sp>
        <p:nvSpPr>
          <p:cNvPr id="24" name="Text 18"/>
          <p:cNvSpPr/>
          <p:nvPr/>
        </p:nvSpPr>
        <p:spPr>
          <a:xfrm>
            <a:off x="5779008" y="3346704"/>
            <a:ext cx="2871216" cy="457200"/>
          </a:xfrm>
          <a:prstGeom prst="rect">
            <a:avLst/>
          </a:prstGeom>
          <a:noFill/>
          <a:ln/>
        </p:spPr>
        <p:txBody>
          <a:bodyPr wrap="square" lIns="0" tIns="0" rIns="0" bIns="0" rtlCol="0" anchor="t"/>
          <a:lstStyle/>
          <a:p>
            <a:pPr indent="0" marL="0">
              <a:buNone/>
            </a:pPr>
            <a:r>
              <a:rPr lang="en-US" sz="1350" b="1" dirty="0">
                <a:solidFill>
                  <a:srgbClr val="173753"/>
                </a:solidFill>
                <a:latin typeface="Calibri" pitchFamily="34" charset="0"/>
                <a:ea typeface="Calibri" pitchFamily="34" charset="-122"/>
                <a:cs typeface="Calibri" pitchFamily="34" charset="-120"/>
              </a:rPr>
              <a:t>Koordinasi &amp; data belum rutin</a:t>
            </a:r>
            <a:endParaRPr lang="en-US" sz="1350" dirty="0"/>
          </a:p>
        </p:txBody>
      </p:sp>
      <p:sp>
        <p:nvSpPr>
          <p:cNvPr id="25" name="Text 19"/>
          <p:cNvSpPr/>
          <p:nvPr/>
        </p:nvSpPr>
        <p:spPr>
          <a:xfrm>
            <a:off x="5779008" y="3822192"/>
            <a:ext cx="2852928" cy="67665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Koordinasi lintas sektor baru 75,46%; pemutakhiran data capaian belum menjadi kebiasaan.</a:t>
            </a:r>
            <a:endParaRPr lang="en-US" sz="1100" dirty="0"/>
          </a:p>
        </p:txBody>
      </p:sp>
      <p:sp>
        <p:nvSpPr>
          <p:cNvPr id="26" name="Shape 20"/>
          <p:cNvSpPr/>
          <p:nvPr/>
        </p:nvSpPr>
        <p:spPr>
          <a:xfrm>
            <a:off x="9257386" y="1490472"/>
            <a:ext cx="2449678" cy="2852928"/>
          </a:xfrm>
          <a:prstGeom prst="roundRect">
            <a:avLst>
              <a:gd name="adj" fmla="val 5226"/>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27" name="Image 4" descr="preencoded.png">    </p:cNvPr>
          <p:cNvPicPr>
            <a:picLocks noChangeAspect="1"/>
          </p:cNvPicPr>
          <p:nvPr/>
        </p:nvPicPr>
        <p:blipFill>
          <a:blip r:embed="rId5"/>
          <a:stretch>
            <a:fillRect/>
          </a:stretch>
        </p:blipFill>
        <p:spPr>
          <a:xfrm>
            <a:off x="9339682" y="1572768"/>
            <a:ext cx="2285086" cy="2688336"/>
          </a:xfrm>
          <a:prstGeom prst="rect">
            <a:avLst/>
          </a:prstGeom>
        </p:spPr>
      </p:pic>
      <p:sp>
        <p:nvSpPr>
          <p:cNvPr id="28" name="Shape 21"/>
          <p:cNvSpPr/>
          <p:nvPr/>
        </p:nvSpPr>
        <p:spPr>
          <a:xfrm>
            <a:off x="566928" y="4590288"/>
            <a:ext cx="11057839" cy="1298448"/>
          </a:xfrm>
          <a:prstGeom prst="roundRect">
            <a:avLst>
              <a:gd name="adj" fmla="val 9859"/>
            </a:avLst>
          </a:prstGeom>
          <a:solidFill>
            <a:srgbClr val="FFF1E0"/>
          </a:solidFill>
          <a:ln w="12700">
            <a:solidFill>
              <a:srgbClr val="FFD9B3"/>
            </a:solidFill>
            <a:prstDash val="solid"/>
          </a:ln>
          <a:effectLst>
            <a:outerShdw sx="100000" sy="100000" kx="0" ky="0" algn="bl" rotWithShape="0" blurRad="177800" dist="38100" dir="5400000">
              <a:srgbClr val="0F3352">
                <a:alpha val="10000"/>
              </a:srgbClr>
            </a:outerShdw>
          </a:effectLst>
        </p:spPr>
      </p:sp>
      <p:sp>
        <p:nvSpPr>
          <p:cNvPr id="29" name="Text 22"/>
          <p:cNvSpPr/>
          <p:nvPr/>
        </p:nvSpPr>
        <p:spPr>
          <a:xfrm>
            <a:off x="896112" y="4736592"/>
            <a:ext cx="4572000" cy="292608"/>
          </a:xfrm>
          <a:prstGeom prst="rect">
            <a:avLst/>
          </a:prstGeom>
          <a:noFill/>
          <a:ln/>
        </p:spPr>
        <p:txBody>
          <a:bodyPr wrap="square" lIns="0" tIns="0" rIns="0" bIns="0" rtlCol="0" anchor="ctr"/>
          <a:lstStyle/>
          <a:p>
            <a:pPr indent="0" marL="0">
              <a:buNone/>
            </a:pPr>
            <a:r>
              <a:rPr lang="en-US" sz="1400" b="1" dirty="0">
                <a:solidFill>
                  <a:srgbClr val="C2620A"/>
                </a:solidFill>
                <a:latin typeface="Calibri" pitchFamily="34" charset="0"/>
                <a:ea typeface="Calibri" pitchFamily="34" charset="-122"/>
                <a:cs typeface="Calibri" pitchFamily="34" charset="-120"/>
              </a:rPr>
              <a:t>Benang merahnya sama</a:t>
            </a:r>
            <a:endParaRPr lang="en-US" sz="1400" dirty="0"/>
          </a:p>
        </p:txBody>
      </p:sp>
      <p:sp>
        <p:nvSpPr>
          <p:cNvPr id="30" name="Text 23"/>
          <p:cNvSpPr/>
          <p:nvPr/>
        </p:nvSpPr>
        <p:spPr>
          <a:xfrm>
            <a:off x="896112" y="5047488"/>
            <a:ext cx="10399471" cy="731520"/>
          </a:xfrm>
          <a:prstGeom prst="rect">
            <a:avLst/>
          </a:prstGeom>
          <a:noFill/>
          <a:ln/>
        </p:spPr>
        <p:txBody>
          <a:bodyPr wrap="square" lIns="0" tIns="0" rIns="0" bIns="0" rtlCol="0" anchor="t"/>
          <a:lstStyle/>
          <a:p>
            <a:pPr indent="0" marL="0">
              <a:buNone/>
            </a:pPr>
            <a:r>
              <a:rPr lang="en-US" sz="1250" dirty="0">
                <a:solidFill>
                  <a:srgbClr val="3E5C77"/>
                </a:solidFill>
                <a:latin typeface="Calibri" pitchFamily="34" charset="0"/>
                <a:ea typeface="Calibri" pitchFamily="34" charset="-122"/>
                <a:cs typeface="Calibri" pitchFamily="34" charset="-120"/>
              </a:rPr>
              <a:t>Keempat hambatan di atas tidak dapat diselesaikan oleh satuan PAUD sendirian. Semuanya bermuara pada satu kebutuhan yang sama: kemitraan yang terencana, tercatat, dan berkelanjutan dengan pihak di luar sekolah.</a:t>
            </a:r>
            <a:endParaRPr lang="en-US" sz="1250" dirty="0"/>
          </a:p>
        </p:txBody>
      </p:sp>
      <p:sp>
        <p:nvSpPr>
          <p:cNvPr id="31" name="Text 24"/>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32" name="Text 25"/>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6B44"/>
        </a:solidFill>
      </p:bgPr>
    </p:bg>
    <p:spTree>
      <p:nvGrpSpPr>
        <p:cNvPr id="1" name=""/>
        <p:cNvGrpSpPr/>
        <p:nvPr/>
      </p:nvGrpSpPr>
      <p:grpSpPr>
        <a:xfrm>
          <a:off x="0" y="0"/>
          <a:ext cx="0" cy="0"/>
          <a:chOff x="0" y="0"/>
          <a:chExt cx="0" cy="0"/>
        </a:xfrm>
      </p:grpSpPr>
      <p:sp>
        <p:nvSpPr>
          <p:cNvPr id="2" name="Shape 0"/>
          <p:cNvSpPr/>
          <p:nvPr/>
        </p:nvSpPr>
        <p:spPr>
          <a:xfrm>
            <a:off x="-1097280" y="-1280160"/>
            <a:ext cx="3840480" cy="3840480"/>
          </a:xfrm>
          <a:prstGeom prst="ellipse">
            <a:avLst/>
          </a:prstGeom>
          <a:solidFill>
            <a:srgbClr val="FFFFFF">
              <a:alpha val="12000"/>
            </a:srgbClr>
          </a:solidFill>
          <a:ln/>
        </p:spPr>
      </p:sp>
      <p:sp>
        <p:nvSpPr>
          <p:cNvPr id="3" name="Shape 1"/>
          <p:cNvSpPr/>
          <p:nvPr/>
        </p:nvSpPr>
        <p:spPr>
          <a:xfrm>
            <a:off x="2294084" y="3447288"/>
            <a:ext cx="7603528" cy="3054096"/>
          </a:xfrm>
          <a:prstGeom prst="roundRect">
            <a:avLst>
              <a:gd name="adj" fmla="val 4192"/>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4" name="Image 0" descr="preencoded.png">    </p:cNvPr>
          <p:cNvPicPr>
            <a:picLocks noChangeAspect="1"/>
          </p:cNvPicPr>
          <p:nvPr/>
        </p:nvPicPr>
        <p:blipFill>
          <a:blip r:embed="rId1"/>
          <a:stretch>
            <a:fillRect/>
          </a:stretch>
        </p:blipFill>
        <p:spPr>
          <a:xfrm>
            <a:off x="2376380" y="3529584"/>
            <a:ext cx="7438936" cy="2889504"/>
          </a:xfrm>
          <a:prstGeom prst="rect">
            <a:avLst/>
          </a:prstGeom>
        </p:spPr>
      </p:pic>
      <p:sp>
        <p:nvSpPr>
          <p:cNvPr id="5" name="Text 2"/>
          <p:cNvSpPr/>
          <p:nvPr/>
        </p:nvSpPr>
        <p:spPr>
          <a:xfrm>
            <a:off x="585216" y="475488"/>
            <a:ext cx="2377440" cy="1051560"/>
          </a:xfrm>
          <a:prstGeom prst="rect">
            <a:avLst/>
          </a:prstGeom>
          <a:noFill/>
          <a:ln/>
        </p:spPr>
        <p:txBody>
          <a:bodyPr wrap="square" lIns="0" tIns="0" rIns="0" bIns="0" rtlCol="0" anchor="ctr"/>
          <a:lstStyle/>
          <a:p>
            <a:pPr indent="0" marL="0">
              <a:buNone/>
            </a:pPr>
            <a:r>
              <a:rPr lang="en-US" sz="7200" b="1" dirty="0">
                <a:solidFill>
                  <a:srgbClr val="FFFFFF">
                    <a:alpha val="66000"/>
                  </a:srgbClr>
                </a:solidFill>
                <a:latin typeface="Calibri" pitchFamily="34" charset="0"/>
                <a:ea typeface="Calibri" pitchFamily="34" charset="-122"/>
                <a:cs typeface="Calibri" pitchFamily="34" charset="-120"/>
              </a:rPr>
              <a:t>02</a:t>
            </a:r>
            <a:endParaRPr lang="en-US" sz="7200" dirty="0"/>
          </a:p>
        </p:txBody>
      </p:sp>
      <p:sp>
        <p:nvSpPr>
          <p:cNvPr id="6" name="Text 3"/>
          <p:cNvSpPr/>
          <p:nvPr/>
        </p:nvSpPr>
        <p:spPr>
          <a:xfrm>
            <a:off x="566928" y="1572768"/>
            <a:ext cx="9966960" cy="105156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Memahami PAUD Holistik Integratif</a:t>
            </a:r>
            <a:endParaRPr lang="en-US" sz="3600" dirty="0"/>
          </a:p>
        </p:txBody>
      </p:sp>
      <p:sp>
        <p:nvSpPr>
          <p:cNvPr id="7" name="Text 4"/>
          <p:cNvSpPr/>
          <p:nvPr/>
        </p:nvSpPr>
        <p:spPr>
          <a:xfrm>
            <a:off x="566928" y="2706624"/>
            <a:ext cx="8778240" cy="731520"/>
          </a:xfrm>
          <a:prstGeom prst="rect">
            <a:avLst/>
          </a:prstGeom>
          <a:noFill/>
          <a:ln/>
        </p:spPr>
        <p:txBody>
          <a:bodyPr wrap="square" lIns="0" tIns="0" rIns="0" bIns="0" rtlCol="0" anchor="t"/>
          <a:lstStyle/>
          <a:p>
            <a:pPr indent="0" marL="0">
              <a:buNone/>
            </a:pPr>
            <a:r>
              <a:rPr lang="en-US" sz="1500" dirty="0">
                <a:solidFill>
                  <a:srgbClr val="FFFFFF">
                    <a:alpha val="88000"/>
                  </a:srgbClr>
                </a:solidFill>
                <a:latin typeface="Calibri" pitchFamily="34" charset="0"/>
                <a:ea typeface="Calibri" pitchFamily="34" charset="-122"/>
                <a:cs typeface="Calibri" pitchFamily="34" charset="-120"/>
              </a:rPr>
              <a:t>Definisi, lima layanan esensial, prinsip penyelenggaraan, kerangka regulasi, dan delapan indikator di satuan PAUD.</a:t>
            </a:r>
            <a:endParaRPr lang="en-US" sz="1500" dirty="0"/>
          </a:p>
        </p:txBody>
      </p:sp>
      <p:sp>
        <p:nvSpPr>
          <p:cNvPr id="8" name="Text 5"/>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9" name="Text 6"/>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E3F6EC">
              <a:alpha val="55000"/>
            </a:srgbClr>
          </a:solidFill>
          <a:ln/>
        </p:spPr>
      </p:sp>
      <p:sp>
        <p:nvSpPr>
          <p:cNvPr id="3" name="Shape 1"/>
          <p:cNvSpPr/>
          <p:nvPr/>
        </p:nvSpPr>
        <p:spPr>
          <a:xfrm>
            <a:off x="10820095" y="5303520"/>
            <a:ext cx="2926080" cy="2926080"/>
          </a:xfrm>
          <a:prstGeom prst="ellipse">
            <a:avLst/>
          </a:prstGeom>
          <a:solidFill>
            <a:srgbClr val="E3F6EC">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2FA36B"/>
                </a:solidFill>
                <a:latin typeface="Calibri" pitchFamily="34" charset="0"/>
                <a:ea typeface="Calibri" pitchFamily="34" charset="-122"/>
                <a:cs typeface="Calibri" pitchFamily="34" charset="-120"/>
              </a:rPr>
              <a:t>DEFINISI</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Apa Itu PAUD Holistik Integratif?</a:t>
            </a:r>
            <a:endParaRPr lang="en-US" sz="3200" dirty="0"/>
          </a:p>
        </p:txBody>
      </p:sp>
      <p:sp>
        <p:nvSpPr>
          <p:cNvPr id="6" name="Shape 4"/>
          <p:cNvSpPr/>
          <p:nvPr/>
        </p:nvSpPr>
        <p:spPr>
          <a:xfrm>
            <a:off x="566928" y="1517904"/>
            <a:ext cx="6766560" cy="2139696"/>
          </a:xfrm>
          <a:prstGeom prst="roundRect">
            <a:avLst>
              <a:gd name="adj" fmla="val 5983"/>
            </a:avLst>
          </a:prstGeom>
          <a:solidFill>
            <a:srgbClr val="E3F6EC"/>
          </a:solidFill>
          <a:ln w="12700">
            <a:solidFill>
              <a:srgbClr val="BCE8D1"/>
            </a:solidFill>
            <a:prstDash val="solid"/>
          </a:ln>
          <a:effectLst>
            <a:outerShdw sx="100000" sy="100000" kx="0" ky="0" algn="bl" rotWithShape="0" blurRad="177800" dist="38100" dir="5400000">
              <a:srgbClr val="0F3352">
                <a:alpha val="10000"/>
              </a:srgbClr>
            </a:outerShdw>
          </a:effectLst>
        </p:spPr>
      </p:sp>
      <p:pic>
        <p:nvPicPr>
          <p:cNvPr id="7" name="Image 0" descr="preencoded.png">    </p:cNvPr>
          <p:cNvPicPr>
            <a:picLocks noChangeAspect="1"/>
          </p:cNvPicPr>
          <p:nvPr/>
        </p:nvPicPr>
        <p:blipFill>
          <a:blip r:embed="rId1"/>
          <a:stretch>
            <a:fillRect/>
          </a:stretch>
        </p:blipFill>
        <p:spPr>
          <a:xfrm>
            <a:off x="896112" y="1755648"/>
            <a:ext cx="384048" cy="384048"/>
          </a:xfrm>
          <a:prstGeom prst="rect">
            <a:avLst/>
          </a:prstGeom>
        </p:spPr>
      </p:pic>
      <p:sp>
        <p:nvSpPr>
          <p:cNvPr id="8" name="Text 5"/>
          <p:cNvSpPr/>
          <p:nvPr/>
        </p:nvSpPr>
        <p:spPr>
          <a:xfrm>
            <a:off x="1463040" y="1737360"/>
            <a:ext cx="5577840" cy="1280160"/>
          </a:xfrm>
          <a:prstGeom prst="rect">
            <a:avLst/>
          </a:prstGeom>
          <a:noFill/>
          <a:ln/>
        </p:spPr>
        <p:txBody>
          <a:bodyPr wrap="square" lIns="0" tIns="0" rIns="0" bIns="0" rtlCol="0" anchor="t"/>
          <a:lstStyle/>
          <a:p>
            <a:pPr indent="0" marL="0">
              <a:buNone/>
            </a:pPr>
            <a:r>
              <a:rPr lang="en-US" sz="1600" dirty="0">
                <a:solidFill>
                  <a:srgbClr val="173753"/>
                </a:solidFill>
                <a:latin typeface="Calibri" pitchFamily="34" charset="0"/>
                <a:ea typeface="Calibri" pitchFamily="34" charset="-122"/>
                <a:cs typeface="Calibri" pitchFamily="34" charset="-120"/>
              </a:rPr>
              <a:t>Upaya pengembangan anak usia dini yang dilakukan untuk memenuhi kebutuhan esensial anak yang beragam dan saling terkait secara simultan, sistematis, dan terintegrasi.</a:t>
            </a:r>
            <a:endParaRPr lang="en-US" sz="1600" dirty="0"/>
          </a:p>
        </p:txBody>
      </p:sp>
      <p:sp>
        <p:nvSpPr>
          <p:cNvPr id="9" name="Text 6"/>
          <p:cNvSpPr/>
          <p:nvPr/>
        </p:nvSpPr>
        <p:spPr>
          <a:xfrm>
            <a:off x="1463040" y="3054096"/>
            <a:ext cx="5486400" cy="274320"/>
          </a:xfrm>
          <a:prstGeom prst="rect">
            <a:avLst/>
          </a:prstGeom>
          <a:noFill/>
          <a:ln/>
        </p:spPr>
        <p:txBody>
          <a:bodyPr wrap="square" lIns="0" tIns="0" rIns="0" bIns="0" rtlCol="0" anchor="ctr"/>
          <a:lstStyle/>
          <a:p>
            <a:pPr indent="0" marL="0">
              <a:buNone/>
            </a:pPr>
            <a:r>
              <a:rPr lang="en-US" sz="1200" b="1" dirty="0">
                <a:solidFill>
                  <a:srgbClr val="176B44"/>
                </a:solidFill>
                <a:latin typeface="Calibri" pitchFamily="34" charset="0"/>
                <a:ea typeface="Calibri" pitchFamily="34" charset="-122"/>
                <a:cs typeface="Calibri" pitchFamily="34" charset="-120"/>
              </a:rPr>
              <a:t>Perpres No. 60 Tahun 2013</a:t>
            </a:r>
            <a:endParaRPr lang="en-US" sz="1200" dirty="0"/>
          </a:p>
        </p:txBody>
      </p:sp>
      <p:sp>
        <p:nvSpPr>
          <p:cNvPr id="10" name="Shape 7"/>
          <p:cNvSpPr/>
          <p:nvPr/>
        </p:nvSpPr>
        <p:spPr>
          <a:xfrm>
            <a:off x="566928" y="3840480"/>
            <a:ext cx="6766560" cy="786384"/>
          </a:xfrm>
          <a:prstGeom prst="roundRect">
            <a:avLst>
              <a:gd name="adj" fmla="val 1627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1" name="Shape 8"/>
          <p:cNvSpPr/>
          <p:nvPr/>
        </p:nvSpPr>
        <p:spPr>
          <a:xfrm>
            <a:off x="804672" y="3986784"/>
            <a:ext cx="493776" cy="493776"/>
          </a:xfrm>
          <a:prstGeom prst="ellipse">
            <a:avLst>
              <a:gd name="adj" fmla="val 22222"/>
            </a:avLst>
          </a:prstGeom>
          <a:solidFill>
            <a:srgbClr val="1E76C8"/>
          </a:solidFill>
          <a:ln w="12700">
            <a:solidFill>
              <a:srgbClr val="333333"/>
            </a:solidFill>
            <a:prstDash val="solid"/>
          </a:ln>
        </p:spPr>
      </p:sp>
      <p:pic>
        <p:nvPicPr>
          <p:cNvPr id="12" name="Image 1" descr="preencoded.png">    </p:cNvPr>
          <p:cNvPicPr>
            <a:picLocks noChangeAspect="1"/>
          </p:cNvPicPr>
          <p:nvPr/>
        </p:nvPicPr>
        <p:blipFill>
          <a:blip r:embed="rId2"/>
          <a:stretch>
            <a:fillRect/>
          </a:stretch>
        </p:blipFill>
        <p:spPr>
          <a:xfrm>
            <a:off x="923178" y="4105290"/>
            <a:ext cx="256764" cy="256764"/>
          </a:xfrm>
          <a:prstGeom prst="rect">
            <a:avLst/>
          </a:prstGeom>
        </p:spPr>
      </p:pic>
      <p:sp>
        <p:nvSpPr>
          <p:cNvPr id="13" name="Text 9"/>
          <p:cNvSpPr/>
          <p:nvPr/>
        </p:nvSpPr>
        <p:spPr>
          <a:xfrm>
            <a:off x="1463040" y="3950208"/>
            <a:ext cx="1463040" cy="274320"/>
          </a:xfrm>
          <a:prstGeom prst="rect">
            <a:avLst/>
          </a:prstGeom>
          <a:noFill/>
          <a:ln/>
        </p:spPr>
        <p:txBody>
          <a:bodyPr wrap="square" lIns="0" tIns="0" rIns="0" bIns="0" rtlCol="0" anchor="ctr"/>
          <a:lstStyle/>
          <a:p>
            <a:pPr indent="0" marL="0">
              <a:buNone/>
            </a:pPr>
            <a:r>
              <a:rPr lang="en-US" sz="1350" b="1" dirty="0">
                <a:solidFill>
                  <a:srgbClr val="1E76C8"/>
                </a:solidFill>
                <a:latin typeface="Calibri" pitchFamily="34" charset="0"/>
                <a:ea typeface="Calibri" pitchFamily="34" charset="-122"/>
                <a:cs typeface="Calibri" pitchFamily="34" charset="-120"/>
              </a:rPr>
              <a:t>Simultan</a:t>
            </a:r>
            <a:endParaRPr lang="en-US" sz="1350" dirty="0"/>
          </a:p>
        </p:txBody>
      </p:sp>
      <p:sp>
        <p:nvSpPr>
          <p:cNvPr id="14" name="Text 10"/>
          <p:cNvSpPr/>
          <p:nvPr/>
        </p:nvSpPr>
        <p:spPr>
          <a:xfrm>
            <a:off x="2852928" y="3950208"/>
            <a:ext cx="4352544" cy="566928"/>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Kebutuhan anak dipenuhi pada waktu yang bersamaan, tidak bergiliran.</a:t>
            </a:r>
            <a:endParaRPr lang="en-US" sz="1150" dirty="0"/>
          </a:p>
        </p:txBody>
      </p:sp>
      <p:sp>
        <p:nvSpPr>
          <p:cNvPr id="15" name="Shape 11"/>
          <p:cNvSpPr/>
          <p:nvPr/>
        </p:nvSpPr>
        <p:spPr>
          <a:xfrm>
            <a:off x="566928" y="4736592"/>
            <a:ext cx="6766560" cy="786384"/>
          </a:xfrm>
          <a:prstGeom prst="roundRect">
            <a:avLst>
              <a:gd name="adj" fmla="val 1627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6" name="Shape 12"/>
          <p:cNvSpPr/>
          <p:nvPr/>
        </p:nvSpPr>
        <p:spPr>
          <a:xfrm>
            <a:off x="804672" y="4882896"/>
            <a:ext cx="493776" cy="493776"/>
          </a:xfrm>
          <a:prstGeom prst="ellipse">
            <a:avLst>
              <a:gd name="adj" fmla="val 22222"/>
            </a:avLst>
          </a:prstGeom>
          <a:solidFill>
            <a:srgbClr val="F5871F"/>
          </a:solidFill>
          <a:ln w="12700">
            <a:solidFill>
              <a:srgbClr val="333333"/>
            </a:solidFill>
            <a:prstDash val="solid"/>
          </a:ln>
        </p:spPr>
      </p:sp>
      <p:pic>
        <p:nvPicPr>
          <p:cNvPr id="17" name="Image 2" descr="preencoded.png">    </p:cNvPr>
          <p:cNvPicPr>
            <a:picLocks noChangeAspect="1"/>
          </p:cNvPicPr>
          <p:nvPr/>
        </p:nvPicPr>
        <p:blipFill>
          <a:blip r:embed="rId3"/>
          <a:stretch>
            <a:fillRect/>
          </a:stretch>
        </p:blipFill>
        <p:spPr>
          <a:xfrm>
            <a:off x="923178" y="5001402"/>
            <a:ext cx="256764" cy="256764"/>
          </a:xfrm>
          <a:prstGeom prst="rect">
            <a:avLst/>
          </a:prstGeom>
        </p:spPr>
      </p:pic>
      <p:sp>
        <p:nvSpPr>
          <p:cNvPr id="18" name="Text 13"/>
          <p:cNvSpPr/>
          <p:nvPr/>
        </p:nvSpPr>
        <p:spPr>
          <a:xfrm>
            <a:off x="1463040" y="4846320"/>
            <a:ext cx="1463040" cy="274320"/>
          </a:xfrm>
          <a:prstGeom prst="rect">
            <a:avLst/>
          </a:prstGeom>
          <a:noFill/>
          <a:ln/>
        </p:spPr>
        <p:txBody>
          <a:bodyPr wrap="square" lIns="0" tIns="0" rIns="0" bIns="0" rtlCol="0" anchor="ctr"/>
          <a:lstStyle/>
          <a:p>
            <a:pPr indent="0" marL="0">
              <a:buNone/>
            </a:pPr>
            <a:r>
              <a:rPr lang="en-US" sz="1350" b="1" dirty="0">
                <a:solidFill>
                  <a:srgbClr val="F5871F"/>
                </a:solidFill>
                <a:latin typeface="Calibri" pitchFamily="34" charset="0"/>
                <a:ea typeface="Calibri" pitchFamily="34" charset="-122"/>
                <a:cs typeface="Calibri" pitchFamily="34" charset="-120"/>
              </a:rPr>
              <a:t>Sistematis</a:t>
            </a:r>
            <a:endParaRPr lang="en-US" sz="1350" dirty="0"/>
          </a:p>
        </p:txBody>
      </p:sp>
      <p:sp>
        <p:nvSpPr>
          <p:cNvPr id="19" name="Text 14"/>
          <p:cNvSpPr/>
          <p:nvPr/>
        </p:nvSpPr>
        <p:spPr>
          <a:xfrm>
            <a:off x="2852928" y="4846320"/>
            <a:ext cx="4352544" cy="566928"/>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Ada perencanaan, penanggung jawab, jadwal, dan pencatatan yang jelas.</a:t>
            </a:r>
            <a:endParaRPr lang="en-US" sz="1150" dirty="0"/>
          </a:p>
        </p:txBody>
      </p:sp>
      <p:sp>
        <p:nvSpPr>
          <p:cNvPr id="20" name="Shape 15"/>
          <p:cNvSpPr/>
          <p:nvPr/>
        </p:nvSpPr>
        <p:spPr>
          <a:xfrm>
            <a:off x="566928" y="5632704"/>
            <a:ext cx="6766560" cy="786384"/>
          </a:xfrm>
          <a:prstGeom prst="roundRect">
            <a:avLst>
              <a:gd name="adj" fmla="val 1627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1" name="Shape 16"/>
          <p:cNvSpPr/>
          <p:nvPr/>
        </p:nvSpPr>
        <p:spPr>
          <a:xfrm>
            <a:off x="804672" y="5779008"/>
            <a:ext cx="493776" cy="493776"/>
          </a:xfrm>
          <a:prstGeom prst="ellipse">
            <a:avLst>
              <a:gd name="adj" fmla="val 22222"/>
            </a:avLst>
          </a:prstGeom>
          <a:solidFill>
            <a:srgbClr val="7A66B8"/>
          </a:solidFill>
          <a:ln w="12700">
            <a:solidFill>
              <a:srgbClr val="333333"/>
            </a:solidFill>
            <a:prstDash val="solid"/>
          </a:ln>
        </p:spPr>
      </p:sp>
      <p:pic>
        <p:nvPicPr>
          <p:cNvPr id="22" name="Image 3" descr="preencoded.png">    </p:cNvPr>
          <p:cNvPicPr>
            <a:picLocks noChangeAspect="1"/>
          </p:cNvPicPr>
          <p:nvPr/>
        </p:nvPicPr>
        <p:blipFill>
          <a:blip r:embed="rId4"/>
          <a:stretch>
            <a:fillRect/>
          </a:stretch>
        </p:blipFill>
        <p:spPr>
          <a:xfrm>
            <a:off x="923178" y="5897514"/>
            <a:ext cx="256764" cy="256764"/>
          </a:xfrm>
          <a:prstGeom prst="rect">
            <a:avLst/>
          </a:prstGeom>
        </p:spPr>
      </p:pic>
      <p:sp>
        <p:nvSpPr>
          <p:cNvPr id="23" name="Text 17"/>
          <p:cNvSpPr/>
          <p:nvPr/>
        </p:nvSpPr>
        <p:spPr>
          <a:xfrm>
            <a:off x="1463040" y="5742432"/>
            <a:ext cx="1463040" cy="274320"/>
          </a:xfrm>
          <a:prstGeom prst="rect">
            <a:avLst/>
          </a:prstGeom>
          <a:noFill/>
          <a:ln/>
        </p:spPr>
        <p:txBody>
          <a:bodyPr wrap="square" lIns="0" tIns="0" rIns="0" bIns="0" rtlCol="0" anchor="ctr"/>
          <a:lstStyle/>
          <a:p>
            <a:pPr indent="0" marL="0">
              <a:buNone/>
            </a:pPr>
            <a:r>
              <a:rPr lang="en-US" sz="1350" b="1" dirty="0">
                <a:solidFill>
                  <a:srgbClr val="7A66B8"/>
                </a:solidFill>
                <a:latin typeface="Calibri" pitchFamily="34" charset="0"/>
                <a:ea typeface="Calibri" pitchFamily="34" charset="-122"/>
                <a:cs typeface="Calibri" pitchFamily="34" charset="-120"/>
              </a:rPr>
              <a:t>Terintegrasi</a:t>
            </a:r>
            <a:endParaRPr lang="en-US" sz="1350" dirty="0"/>
          </a:p>
        </p:txBody>
      </p:sp>
      <p:sp>
        <p:nvSpPr>
          <p:cNvPr id="24" name="Text 18"/>
          <p:cNvSpPr/>
          <p:nvPr/>
        </p:nvSpPr>
        <p:spPr>
          <a:xfrm>
            <a:off x="2852928" y="5742432"/>
            <a:ext cx="4352544" cy="566928"/>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Layanan pendidikan menyatu dengan layanan kesehatan, gizi, dan perlindungan.</a:t>
            </a:r>
            <a:endParaRPr lang="en-US" sz="1150" dirty="0"/>
          </a:p>
        </p:txBody>
      </p:sp>
      <p:pic>
        <p:nvPicPr>
          <p:cNvPr id="25" name="Image 4" descr="preencoded.png">    </p:cNvPr>
          <p:cNvPicPr>
            <a:picLocks noChangeAspect="1"/>
          </p:cNvPicPr>
          <p:nvPr/>
        </p:nvPicPr>
        <p:blipFill>
          <a:blip r:embed="rId5"/>
          <a:stretch>
            <a:fillRect/>
          </a:stretch>
        </p:blipFill>
        <p:spPr>
          <a:xfrm>
            <a:off x="7843487" y="1554480"/>
            <a:ext cx="3881186" cy="3931920"/>
          </a:xfrm>
          <a:prstGeom prst="rect">
            <a:avLst/>
          </a:prstGeom>
        </p:spPr>
      </p:pic>
      <p:sp>
        <p:nvSpPr>
          <p:cNvPr id="26" name="Text 19"/>
          <p:cNvSpPr/>
          <p:nvPr/>
        </p:nvSpPr>
        <p:spPr>
          <a:xfrm>
            <a:off x="7680960" y="5541264"/>
            <a:ext cx="3931920" cy="640080"/>
          </a:xfrm>
          <a:prstGeom prst="rect">
            <a:avLst/>
          </a:prstGeom>
          <a:noFill/>
          <a:ln/>
        </p:spPr>
        <p:txBody>
          <a:bodyPr wrap="square" lIns="0" tIns="0" rIns="0" bIns="0" rtlCol="0" anchor="t"/>
          <a:lstStyle/>
          <a:p>
            <a:pPr algn="ctr" indent="0" marL="0">
              <a:buNone/>
            </a:pPr>
            <a:r>
              <a:rPr lang="en-US" sz="1150" i="1" dirty="0">
                <a:solidFill>
                  <a:srgbClr val="176B44"/>
                </a:solidFill>
                <a:latin typeface="Calibri" pitchFamily="34" charset="0"/>
                <a:ea typeface="Calibri" pitchFamily="34" charset="-122"/>
                <a:cs typeface="Calibri" pitchFamily="34" charset="-120"/>
              </a:rPr>
              <a:t>PAUD HI bukan program tambahan, melainkan cara satuan PAUD memandang dan melayani anak secara utuh.</a:t>
            </a:r>
            <a:endParaRPr lang="en-US" sz="1150" dirty="0"/>
          </a:p>
        </p:txBody>
      </p:sp>
      <p:sp>
        <p:nvSpPr>
          <p:cNvPr id="27" name="Text 20"/>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28" name="Text 21"/>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2FA36B"/>
                </a:solidFill>
                <a:latin typeface="Calibri" pitchFamily="34" charset="0"/>
                <a:ea typeface="Calibri" pitchFamily="34" charset="-122"/>
                <a:cs typeface="Calibri" pitchFamily="34" charset="-120"/>
              </a:rPr>
              <a:t>RUANG LINGKUP</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Lima Layanan Esensial untuk Setiap Anak</a:t>
            </a:r>
            <a:endParaRPr lang="en-US" sz="3200" dirty="0"/>
          </a:p>
        </p:txBody>
      </p:sp>
      <p:sp>
        <p:nvSpPr>
          <p:cNvPr id="6" name="Shape 4"/>
          <p:cNvSpPr/>
          <p:nvPr/>
        </p:nvSpPr>
        <p:spPr>
          <a:xfrm>
            <a:off x="566928" y="1517904"/>
            <a:ext cx="2036003" cy="248716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1182594" y="1773936"/>
            <a:ext cx="804672" cy="804672"/>
          </a:xfrm>
          <a:prstGeom prst="ellipse">
            <a:avLst/>
          </a:prstGeom>
          <a:solidFill>
            <a:srgbClr val="1E76C8"/>
          </a:solidFill>
          <a:ln/>
        </p:spPr>
      </p:sp>
      <p:pic>
        <p:nvPicPr>
          <p:cNvPr id="8" name="Image 0" descr="preencoded.png">    </p:cNvPr>
          <p:cNvPicPr>
            <a:picLocks noChangeAspect="1"/>
          </p:cNvPicPr>
          <p:nvPr/>
        </p:nvPicPr>
        <p:blipFill>
          <a:blip r:embed="rId1"/>
          <a:stretch>
            <a:fillRect/>
          </a:stretch>
        </p:blipFill>
        <p:spPr>
          <a:xfrm>
            <a:off x="1374618" y="1965960"/>
            <a:ext cx="420624" cy="420624"/>
          </a:xfrm>
          <a:prstGeom prst="rect">
            <a:avLst/>
          </a:prstGeom>
        </p:spPr>
      </p:pic>
      <p:sp>
        <p:nvSpPr>
          <p:cNvPr id="9" name="Text 6"/>
          <p:cNvSpPr/>
          <p:nvPr/>
        </p:nvSpPr>
        <p:spPr>
          <a:xfrm>
            <a:off x="713232" y="2743200"/>
            <a:ext cx="1743395" cy="329184"/>
          </a:xfrm>
          <a:prstGeom prst="rect">
            <a:avLst/>
          </a:prstGeom>
          <a:noFill/>
          <a:ln/>
        </p:spPr>
        <p:txBody>
          <a:bodyPr wrap="square" lIns="0" tIns="0" rIns="0" bIns="0" rtlCol="0" anchor="ctr"/>
          <a:lstStyle/>
          <a:p>
            <a:pPr algn="ctr" indent="0" marL="0">
              <a:buNone/>
            </a:pPr>
            <a:r>
              <a:rPr lang="en-US" sz="1450" b="1" dirty="0">
                <a:solidFill>
                  <a:srgbClr val="173753"/>
                </a:solidFill>
                <a:latin typeface="Calibri" pitchFamily="34" charset="0"/>
                <a:ea typeface="Calibri" pitchFamily="34" charset="-122"/>
                <a:cs typeface="Calibri" pitchFamily="34" charset="-120"/>
              </a:rPr>
              <a:t>Pendidikan</a:t>
            </a:r>
            <a:endParaRPr lang="en-US" sz="1450" dirty="0"/>
          </a:p>
        </p:txBody>
      </p:sp>
      <p:sp>
        <p:nvSpPr>
          <p:cNvPr id="10" name="Text 7"/>
          <p:cNvSpPr/>
          <p:nvPr/>
        </p:nvSpPr>
        <p:spPr>
          <a:xfrm>
            <a:off x="749808" y="3090672"/>
            <a:ext cx="1670243" cy="786384"/>
          </a:xfrm>
          <a:prstGeom prst="rect">
            <a:avLst/>
          </a:prstGeom>
          <a:noFill/>
          <a:ln/>
        </p:spPr>
        <p:txBody>
          <a:bodyPr wrap="square" lIns="0" tIns="0" rIns="0" bIns="0" rtlCol="0" anchor="t"/>
          <a:lstStyle/>
          <a:p>
            <a:pPr algn="ctr" indent="0" marL="0">
              <a:buNone/>
            </a:pPr>
            <a:r>
              <a:rPr lang="en-US" sz="1100" dirty="0">
                <a:solidFill>
                  <a:srgbClr val="3E5C77"/>
                </a:solidFill>
                <a:latin typeface="Calibri" pitchFamily="34" charset="0"/>
                <a:ea typeface="Calibri" pitchFamily="34" charset="-122"/>
                <a:cs typeface="Calibri" pitchFamily="34" charset="-120"/>
              </a:rPr>
              <a:t>Stimulasi dan pembelajaran bermakna melalui bermain.</a:t>
            </a:r>
            <a:endParaRPr lang="en-US" sz="1100" dirty="0"/>
          </a:p>
        </p:txBody>
      </p:sp>
      <p:sp>
        <p:nvSpPr>
          <p:cNvPr id="11" name="Shape 8"/>
          <p:cNvSpPr/>
          <p:nvPr/>
        </p:nvSpPr>
        <p:spPr>
          <a:xfrm>
            <a:off x="2822387" y="1517904"/>
            <a:ext cx="2036003" cy="248716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2" name="Shape 9"/>
          <p:cNvSpPr/>
          <p:nvPr/>
        </p:nvSpPr>
        <p:spPr>
          <a:xfrm>
            <a:off x="3438053" y="1773936"/>
            <a:ext cx="804672" cy="804672"/>
          </a:xfrm>
          <a:prstGeom prst="ellipse">
            <a:avLst/>
          </a:prstGeom>
          <a:solidFill>
            <a:srgbClr val="2FA36B"/>
          </a:solidFill>
          <a:ln/>
        </p:spPr>
      </p:sp>
      <p:pic>
        <p:nvPicPr>
          <p:cNvPr id="13" name="Image 1" descr="preencoded.png">    </p:cNvPr>
          <p:cNvPicPr>
            <a:picLocks noChangeAspect="1"/>
          </p:cNvPicPr>
          <p:nvPr/>
        </p:nvPicPr>
        <p:blipFill>
          <a:blip r:embed="rId2"/>
          <a:stretch>
            <a:fillRect/>
          </a:stretch>
        </p:blipFill>
        <p:spPr>
          <a:xfrm>
            <a:off x="3630077" y="1965960"/>
            <a:ext cx="420624" cy="420624"/>
          </a:xfrm>
          <a:prstGeom prst="rect">
            <a:avLst/>
          </a:prstGeom>
        </p:spPr>
      </p:pic>
      <p:sp>
        <p:nvSpPr>
          <p:cNvPr id="14" name="Text 10"/>
          <p:cNvSpPr/>
          <p:nvPr/>
        </p:nvSpPr>
        <p:spPr>
          <a:xfrm>
            <a:off x="2968691" y="2743200"/>
            <a:ext cx="1743395" cy="329184"/>
          </a:xfrm>
          <a:prstGeom prst="rect">
            <a:avLst/>
          </a:prstGeom>
          <a:noFill/>
          <a:ln/>
        </p:spPr>
        <p:txBody>
          <a:bodyPr wrap="square" lIns="0" tIns="0" rIns="0" bIns="0" rtlCol="0" anchor="ctr"/>
          <a:lstStyle/>
          <a:p>
            <a:pPr algn="ctr" indent="0" marL="0">
              <a:buNone/>
            </a:pPr>
            <a:r>
              <a:rPr lang="en-US" sz="1450" b="1" dirty="0">
                <a:solidFill>
                  <a:srgbClr val="173753"/>
                </a:solidFill>
                <a:latin typeface="Calibri" pitchFamily="34" charset="0"/>
                <a:ea typeface="Calibri" pitchFamily="34" charset="-122"/>
                <a:cs typeface="Calibri" pitchFamily="34" charset="-120"/>
              </a:rPr>
              <a:t>Kesehatan &amp; Gizi</a:t>
            </a:r>
            <a:endParaRPr lang="en-US" sz="1450" dirty="0"/>
          </a:p>
        </p:txBody>
      </p:sp>
      <p:sp>
        <p:nvSpPr>
          <p:cNvPr id="15" name="Text 11"/>
          <p:cNvSpPr/>
          <p:nvPr/>
        </p:nvSpPr>
        <p:spPr>
          <a:xfrm>
            <a:off x="3005267" y="3090672"/>
            <a:ext cx="1670243" cy="786384"/>
          </a:xfrm>
          <a:prstGeom prst="rect">
            <a:avLst/>
          </a:prstGeom>
          <a:noFill/>
          <a:ln/>
        </p:spPr>
        <p:txBody>
          <a:bodyPr wrap="square" lIns="0" tIns="0" rIns="0" bIns="0" rtlCol="0" anchor="t"/>
          <a:lstStyle/>
          <a:p>
            <a:pPr algn="ctr" indent="0" marL="0">
              <a:buNone/>
            </a:pPr>
            <a:r>
              <a:rPr lang="en-US" sz="1100" dirty="0">
                <a:solidFill>
                  <a:srgbClr val="3E5C77"/>
                </a:solidFill>
                <a:latin typeface="Calibri" pitchFamily="34" charset="0"/>
                <a:ea typeface="Calibri" pitchFamily="34" charset="-122"/>
                <a:cs typeface="Calibri" pitchFamily="34" charset="-120"/>
              </a:rPr>
              <a:t>Pemantauan tumbuh kembang, PHBS, dan makanan bergizi.</a:t>
            </a:r>
            <a:endParaRPr lang="en-US" sz="1100" dirty="0"/>
          </a:p>
        </p:txBody>
      </p:sp>
      <p:sp>
        <p:nvSpPr>
          <p:cNvPr id="16" name="Shape 12"/>
          <p:cNvSpPr/>
          <p:nvPr/>
        </p:nvSpPr>
        <p:spPr>
          <a:xfrm>
            <a:off x="5077846" y="1517904"/>
            <a:ext cx="2036003" cy="248716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7" name="Shape 13"/>
          <p:cNvSpPr/>
          <p:nvPr/>
        </p:nvSpPr>
        <p:spPr>
          <a:xfrm>
            <a:off x="5693512" y="1773936"/>
            <a:ext cx="804672" cy="804672"/>
          </a:xfrm>
          <a:prstGeom prst="ellipse">
            <a:avLst/>
          </a:prstGeom>
          <a:solidFill>
            <a:srgbClr val="F5871F"/>
          </a:solidFill>
          <a:ln/>
        </p:spPr>
      </p:sp>
      <p:pic>
        <p:nvPicPr>
          <p:cNvPr id="18" name="Image 2" descr="preencoded.png">    </p:cNvPr>
          <p:cNvPicPr>
            <a:picLocks noChangeAspect="1"/>
          </p:cNvPicPr>
          <p:nvPr/>
        </p:nvPicPr>
        <p:blipFill>
          <a:blip r:embed="rId3"/>
          <a:stretch>
            <a:fillRect/>
          </a:stretch>
        </p:blipFill>
        <p:spPr>
          <a:xfrm>
            <a:off x="5885536" y="1965960"/>
            <a:ext cx="420624" cy="420624"/>
          </a:xfrm>
          <a:prstGeom prst="rect">
            <a:avLst/>
          </a:prstGeom>
        </p:spPr>
      </p:pic>
      <p:sp>
        <p:nvSpPr>
          <p:cNvPr id="19" name="Text 14"/>
          <p:cNvSpPr/>
          <p:nvPr/>
        </p:nvSpPr>
        <p:spPr>
          <a:xfrm>
            <a:off x="5224150" y="2743200"/>
            <a:ext cx="1743395" cy="329184"/>
          </a:xfrm>
          <a:prstGeom prst="rect">
            <a:avLst/>
          </a:prstGeom>
          <a:noFill/>
          <a:ln/>
        </p:spPr>
        <p:txBody>
          <a:bodyPr wrap="square" lIns="0" tIns="0" rIns="0" bIns="0" rtlCol="0" anchor="ctr"/>
          <a:lstStyle/>
          <a:p>
            <a:pPr algn="ctr" indent="0" marL="0">
              <a:buNone/>
            </a:pPr>
            <a:r>
              <a:rPr lang="en-US" sz="1450" b="1" dirty="0">
                <a:solidFill>
                  <a:srgbClr val="173753"/>
                </a:solidFill>
                <a:latin typeface="Calibri" pitchFamily="34" charset="0"/>
                <a:ea typeface="Calibri" pitchFamily="34" charset="-122"/>
                <a:cs typeface="Calibri" pitchFamily="34" charset="-120"/>
              </a:rPr>
              <a:t>Pengasuhan</a:t>
            </a:r>
            <a:endParaRPr lang="en-US" sz="1450" dirty="0"/>
          </a:p>
        </p:txBody>
      </p:sp>
      <p:sp>
        <p:nvSpPr>
          <p:cNvPr id="20" name="Text 15"/>
          <p:cNvSpPr/>
          <p:nvPr/>
        </p:nvSpPr>
        <p:spPr>
          <a:xfrm>
            <a:off x="5260726" y="3090672"/>
            <a:ext cx="1670243" cy="786384"/>
          </a:xfrm>
          <a:prstGeom prst="rect">
            <a:avLst/>
          </a:prstGeom>
          <a:noFill/>
          <a:ln/>
        </p:spPr>
        <p:txBody>
          <a:bodyPr wrap="square" lIns="0" tIns="0" rIns="0" bIns="0" rtlCol="0" anchor="t"/>
          <a:lstStyle/>
          <a:p>
            <a:pPr algn="ctr" indent="0" marL="0">
              <a:buNone/>
            </a:pPr>
            <a:r>
              <a:rPr lang="en-US" sz="1100" dirty="0">
                <a:solidFill>
                  <a:srgbClr val="3E5C77"/>
                </a:solidFill>
                <a:latin typeface="Calibri" pitchFamily="34" charset="0"/>
                <a:ea typeface="Calibri" pitchFamily="34" charset="-122"/>
                <a:cs typeface="Calibri" pitchFamily="34" charset="-120"/>
              </a:rPr>
              <a:t>Penguatan peran orang tua dan pengasuhan positif di rumah.</a:t>
            </a:r>
            <a:endParaRPr lang="en-US" sz="1100" dirty="0"/>
          </a:p>
        </p:txBody>
      </p:sp>
      <p:sp>
        <p:nvSpPr>
          <p:cNvPr id="21" name="Shape 16"/>
          <p:cNvSpPr/>
          <p:nvPr/>
        </p:nvSpPr>
        <p:spPr>
          <a:xfrm>
            <a:off x="7333305" y="1517904"/>
            <a:ext cx="2036003" cy="248716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2" name="Shape 17"/>
          <p:cNvSpPr/>
          <p:nvPr/>
        </p:nvSpPr>
        <p:spPr>
          <a:xfrm>
            <a:off x="7948971" y="1773936"/>
            <a:ext cx="804672" cy="804672"/>
          </a:xfrm>
          <a:prstGeom prst="ellipse">
            <a:avLst/>
          </a:prstGeom>
          <a:solidFill>
            <a:srgbClr val="7A66B8"/>
          </a:solidFill>
          <a:ln/>
        </p:spPr>
      </p:sp>
      <p:pic>
        <p:nvPicPr>
          <p:cNvPr id="23" name="Image 3" descr="preencoded.png">    </p:cNvPr>
          <p:cNvPicPr>
            <a:picLocks noChangeAspect="1"/>
          </p:cNvPicPr>
          <p:nvPr/>
        </p:nvPicPr>
        <p:blipFill>
          <a:blip r:embed="rId4"/>
          <a:stretch>
            <a:fillRect/>
          </a:stretch>
        </p:blipFill>
        <p:spPr>
          <a:xfrm>
            <a:off x="8140995" y="1965960"/>
            <a:ext cx="420624" cy="420624"/>
          </a:xfrm>
          <a:prstGeom prst="rect">
            <a:avLst/>
          </a:prstGeom>
        </p:spPr>
      </p:pic>
      <p:sp>
        <p:nvSpPr>
          <p:cNvPr id="24" name="Text 18"/>
          <p:cNvSpPr/>
          <p:nvPr/>
        </p:nvSpPr>
        <p:spPr>
          <a:xfrm>
            <a:off x="7479609" y="2743200"/>
            <a:ext cx="1743395" cy="329184"/>
          </a:xfrm>
          <a:prstGeom prst="rect">
            <a:avLst/>
          </a:prstGeom>
          <a:noFill/>
          <a:ln/>
        </p:spPr>
        <p:txBody>
          <a:bodyPr wrap="square" lIns="0" tIns="0" rIns="0" bIns="0" rtlCol="0" anchor="ctr"/>
          <a:lstStyle/>
          <a:p>
            <a:pPr algn="ctr" indent="0" marL="0">
              <a:buNone/>
            </a:pPr>
            <a:r>
              <a:rPr lang="en-US" sz="1450" b="1" dirty="0">
                <a:solidFill>
                  <a:srgbClr val="173753"/>
                </a:solidFill>
                <a:latin typeface="Calibri" pitchFamily="34" charset="0"/>
                <a:ea typeface="Calibri" pitchFamily="34" charset="-122"/>
                <a:cs typeface="Calibri" pitchFamily="34" charset="-120"/>
              </a:rPr>
              <a:t>Perlindungan</a:t>
            </a:r>
            <a:endParaRPr lang="en-US" sz="1450" dirty="0"/>
          </a:p>
        </p:txBody>
      </p:sp>
      <p:sp>
        <p:nvSpPr>
          <p:cNvPr id="25" name="Text 19"/>
          <p:cNvSpPr/>
          <p:nvPr/>
        </p:nvSpPr>
        <p:spPr>
          <a:xfrm>
            <a:off x="7516185" y="3090672"/>
            <a:ext cx="1670243" cy="786384"/>
          </a:xfrm>
          <a:prstGeom prst="rect">
            <a:avLst/>
          </a:prstGeom>
          <a:noFill/>
          <a:ln/>
        </p:spPr>
        <p:txBody>
          <a:bodyPr wrap="square" lIns="0" tIns="0" rIns="0" bIns="0" rtlCol="0" anchor="t"/>
          <a:lstStyle/>
          <a:p>
            <a:pPr algn="ctr" indent="0" marL="0">
              <a:buNone/>
            </a:pPr>
            <a:r>
              <a:rPr lang="en-US" sz="1100" dirty="0">
                <a:solidFill>
                  <a:srgbClr val="3E5C77"/>
                </a:solidFill>
                <a:latin typeface="Calibri" pitchFamily="34" charset="0"/>
                <a:ea typeface="Calibri" pitchFamily="34" charset="-122"/>
                <a:cs typeface="Calibri" pitchFamily="34" charset="-120"/>
              </a:rPr>
              <a:t>Lingkungan aman, bebas kekerasan, dan ramah anak.</a:t>
            </a:r>
            <a:endParaRPr lang="en-US" sz="1100" dirty="0"/>
          </a:p>
        </p:txBody>
      </p:sp>
      <p:sp>
        <p:nvSpPr>
          <p:cNvPr id="26" name="Shape 20"/>
          <p:cNvSpPr/>
          <p:nvPr/>
        </p:nvSpPr>
        <p:spPr>
          <a:xfrm>
            <a:off x="9588764" y="1517904"/>
            <a:ext cx="2036003" cy="2487168"/>
          </a:xfrm>
          <a:prstGeom prst="roundRect">
            <a:avLst>
              <a:gd name="adj" fmla="val 6288"/>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7" name="Shape 21"/>
          <p:cNvSpPr/>
          <p:nvPr/>
        </p:nvSpPr>
        <p:spPr>
          <a:xfrm>
            <a:off x="10204430" y="1773936"/>
            <a:ext cx="804672" cy="804672"/>
          </a:xfrm>
          <a:prstGeom prst="ellipse">
            <a:avLst/>
          </a:prstGeom>
          <a:solidFill>
            <a:srgbClr val="1F9C9C"/>
          </a:solidFill>
          <a:ln/>
        </p:spPr>
      </p:sp>
      <p:pic>
        <p:nvPicPr>
          <p:cNvPr id="28" name="Image 4" descr="preencoded.png">    </p:cNvPr>
          <p:cNvPicPr>
            <a:picLocks noChangeAspect="1"/>
          </p:cNvPicPr>
          <p:nvPr/>
        </p:nvPicPr>
        <p:blipFill>
          <a:blip r:embed="rId5"/>
          <a:stretch>
            <a:fillRect/>
          </a:stretch>
        </p:blipFill>
        <p:spPr>
          <a:xfrm>
            <a:off x="10396454" y="1965960"/>
            <a:ext cx="420624" cy="420624"/>
          </a:xfrm>
          <a:prstGeom prst="rect">
            <a:avLst/>
          </a:prstGeom>
        </p:spPr>
      </p:pic>
      <p:sp>
        <p:nvSpPr>
          <p:cNvPr id="29" name="Text 22"/>
          <p:cNvSpPr/>
          <p:nvPr/>
        </p:nvSpPr>
        <p:spPr>
          <a:xfrm>
            <a:off x="9735068" y="2743200"/>
            <a:ext cx="1743395" cy="329184"/>
          </a:xfrm>
          <a:prstGeom prst="rect">
            <a:avLst/>
          </a:prstGeom>
          <a:noFill/>
          <a:ln/>
        </p:spPr>
        <p:txBody>
          <a:bodyPr wrap="square" lIns="0" tIns="0" rIns="0" bIns="0" rtlCol="0" anchor="ctr"/>
          <a:lstStyle/>
          <a:p>
            <a:pPr algn="ctr" indent="0" marL="0">
              <a:buNone/>
            </a:pPr>
            <a:r>
              <a:rPr lang="en-US" sz="1450" b="1" dirty="0">
                <a:solidFill>
                  <a:srgbClr val="173753"/>
                </a:solidFill>
                <a:latin typeface="Calibri" pitchFamily="34" charset="0"/>
                <a:ea typeface="Calibri" pitchFamily="34" charset="-122"/>
                <a:cs typeface="Calibri" pitchFamily="34" charset="-120"/>
              </a:rPr>
              <a:t>Kesejahteraan</a:t>
            </a:r>
            <a:endParaRPr lang="en-US" sz="1450" dirty="0"/>
          </a:p>
        </p:txBody>
      </p:sp>
      <p:sp>
        <p:nvSpPr>
          <p:cNvPr id="30" name="Text 23"/>
          <p:cNvSpPr/>
          <p:nvPr/>
        </p:nvSpPr>
        <p:spPr>
          <a:xfrm>
            <a:off x="9771644" y="3090672"/>
            <a:ext cx="1670243" cy="786384"/>
          </a:xfrm>
          <a:prstGeom prst="rect">
            <a:avLst/>
          </a:prstGeom>
          <a:noFill/>
          <a:ln/>
        </p:spPr>
        <p:txBody>
          <a:bodyPr wrap="square" lIns="0" tIns="0" rIns="0" bIns="0" rtlCol="0" anchor="t"/>
          <a:lstStyle/>
          <a:p>
            <a:pPr algn="ctr" indent="0" marL="0">
              <a:buNone/>
            </a:pPr>
            <a:r>
              <a:rPr lang="en-US" sz="1100" dirty="0">
                <a:solidFill>
                  <a:srgbClr val="3E5C77"/>
                </a:solidFill>
                <a:latin typeface="Calibri" pitchFamily="34" charset="0"/>
                <a:ea typeface="Calibri" pitchFamily="34" charset="-122"/>
                <a:cs typeface="Calibri" pitchFamily="34" charset="-120"/>
              </a:rPr>
              <a:t>Kepemilikan identitas dan akses bantuan bagi anak rentan.</a:t>
            </a:r>
            <a:endParaRPr lang="en-US" sz="1100" dirty="0"/>
          </a:p>
        </p:txBody>
      </p:sp>
      <p:sp>
        <p:nvSpPr>
          <p:cNvPr id="31" name="Shape 24"/>
          <p:cNvSpPr/>
          <p:nvPr/>
        </p:nvSpPr>
        <p:spPr>
          <a:xfrm>
            <a:off x="566928" y="4261104"/>
            <a:ext cx="8229600" cy="1463040"/>
          </a:xfrm>
          <a:prstGeom prst="roundRect">
            <a:avLst>
              <a:gd name="adj" fmla="val 8750"/>
            </a:avLst>
          </a:prstGeom>
          <a:solidFill>
            <a:srgbClr val="DCEDFB"/>
          </a:solidFill>
          <a:ln w="12700">
            <a:solidFill>
              <a:srgbClr val="B9DBF6"/>
            </a:solidFill>
            <a:prstDash val="solid"/>
          </a:ln>
          <a:effectLst>
            <a:outerShdw sx="100000" sy="100000" kx="0" ky="0" algn="bl" rotWithShape="0" blurRad="177800" dist="38100" dir="5400000">
              <a:srgbClr val="0F3352">
                <a:alpha val="10000"/>
              </a:srgbClr>
            </a:outerShdw>
          </a:effectLst>
        </p:spPr>
      </p:sp>
      <p:sp>
        <p:nvSpPr>
          <p:cNvPr id="32" name="Text 25"/>
          <p:cNvSpPr/>
          <p:nvPr/>
        </p:nvSpPr>
        <p:spPr>
          <a:xfrm>
            <a:off x="896112" y="4443984"/>
            <a:ext cx="7498080" cy="292608"/>
          </a:xfrm>
          <a:prstGeom prst="rect">
            <a:avLst/>
          </a:prstGeom>
          <a:noFill/>
          <a:ln/>
        </p:spPr>
        <p:txBody>
          <a:bodyPr wrap="square" lIns="0" tIns="0" rIns="0" bIns="0" rtlCol="0" anchor="ctr"/>
          <a:lstStyle/>
          <a:p>
            <a:pPr indent="0" marL="0">
              <a:buNone/>
            </a:pPr>
            <a:r>
              <a:rPr lang="en-US" sz="1400" b="1" dirty="0">
                <a:solidFill>
                  <a:srgbClr val="0F4C88"/>
                </a:solidFill>
                <a:latin typeface="Calibri" pitchFamily="34" charset="0"/>
                <a:ea typeface="Calibri" pitchFamily="34" charset="-122"/>
                <a:cs typeface="Calibri" pitchFamily="34" charset="-120"/>
              </a:rPr>
              <a:t>Semua anak, tanpa terkecuali</a:t>
            </a:r>
            <a:endParaRPr lang="en-US" sz="1400" dirty="0"/>
          </a:p>
        </p:txBody>
      </p:sp>
      <p:sp>
        <p:nvSpPr>
          <p:cNvPr id="33" name="Text 26"/>
          <p:cNvSpPr/>
          <p:nvPr/>
        </p:nvSpPr>
        <p:spPr>
          <a:xfrm>
            <a:off x="896112" y="4754880"/>
            <a:ext cx="7589520" cy="877824"/>
          </a:xfrm>
          <a:prstGeom prst="rect">
            <a:avLst/>
          </a:prstGeom>
          <a:noFill/>
          <a:ln/>
        </p:spPr>
        <p:txBody>
          <a:bodyPr wrap="square" lIns="0" tIns="0" rIns="0" bIns="0" rtlCol="0" anchor="t"/>
          <a:lstStyle/>
          <a:p>
            <a:pPr indent="0" marL="0">
              <a:buNone/>
            </a:pPr>
            <a:r>
              <a:rPr lang="en-US" sz="1200" dirty="0">
                <a:solidFill>
                  <a:srgbClr val="3E5C77"/>
                </a:solidFill>
                <a:latin typeface="Calibri" pitchFamily="34" charset="0"/>
                <a:ea typeface="Calibri" pitchFamily="34" charset="-122"/>
                <a:cs typeface="Calibri" pitchFamily="34" charset="-120"/>
              </a:rPr>
              <a:t>Kelima layanan ini melekat pada setiap anak usia dini — termasuk anak dengan disabilitas, anak dari keluarga rentan, dan anak yang belum memiliki dokumen kependudukan. Satuan PAUD menjadi rumah kedua tempat layanan esensial lainnya ikut didorong pemenuhannya melalui koordinasi lintas sektor.</a:t>
            </a:r>
            <a:endParaRPr lang="en-US" sz="1200" dirty="0"/>
          </a:p>
        </p:txBody>
      </p:sp>
      <p:pic>
        <p:nvPicPr>
          <p:cNvPr id="34" name="Image 5" descr="preencoded.png">    </p:cNvPr>
          <p:cNvPicPr>
            <a:picLocks noChangeAspect="1"/>
          </p:cNvPicPr>
          <p:nvPr/>
        </p:nvPicPr>
        <p:blipFill>
          <a:blip r:embed="rId6"/>
          <a:stretch>
            <a:fillRect/>
          </a:stretch>
        </p:blipFill>
        <p:spPr>
          <a:xfrm>
            <a:off x="10271650" y="4114800"/>
            <a:ext cx="1215957" cy="1828800"/>
          </a:xfrm>
          <a:prstGeom prst="rect">
            <a:avLst/>
          </a:prstGeom>
        </p:spPr>
      </p:pic>
      <p:sp>
        <p:nvSpPr>
          <p:cNvPr id="35" name="Text 27"/>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36" name="Text 28"/>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F0EBFA">
              <a:alpha val="55000"/>
            </a:srgbClr>
          </a:solidFill>
          <a:ln/>
        </p:spPr>
      </p:sp>
      <p:sp>
        <p:nvSpPr>
          <p:cNvPr id="3" name="Shape 1"/>
          <p:cNvSpPr/>
          <p:nvPr/>
        </p:nvSpPr>
        <p:spPr>
          <a:xfrm>
            <a:off x="10820095" y="5303520"/>
            <a:ext cx="2926080" cy="2926080"/>
          </a:xfrm>
          <a:prstGeom prst="ellipse">
            <a:avLst/>
          </a:prstGeom>
          <a:solidFill>
            <a:srgbClr val="F0EBFA">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7A66B8"/>
                </a:solidFill>
                <a:latin typeface="Calibri" pitchFamily="34" charset="0"/>
                <a:ea typeface="Calibri" pitchFamily="34" charset="-122"/>
                <a:cs typeface="Calibri" pitchFamily="34" charset="-120"/>
              </a:rPr>
              <a:t>PRINSIP</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Empat Prinsip Penyelenggaraan PAUD HI</a:t>
            </a:r>
            <a:endParaRPr lang="en-US" sz="3200" dirty="0"/>
          </a:p>
        </p:txBody>
      </p:sp>
      <p:sp>
        <p:nvSpPr>
          <p:cNvPr id="6" name="Shape 4"/>
          <p:cNvSpPr/>
          <p:nvPr/>
        </p:nvSpPr>
        <p:spPr>
          <a:xfrm>
            <a:off x="566928" y="1572768"/>
            <a:ext cx="3291840" cy="1371600"/>
          </a:xfrm>
          <a:prstGeom prst="roundRect">
            <a:avLst>
              <a:gd name="adj" fmla="val 9333"/>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822960" y="1847088"/>
            <a:ext cx="621792" cy="621792"/>
          </a:xfrm>
          <a:prstGeom prst="ellipse">
            <a:avLst>
              <a:gd name="adj" fmla="val 17647"/>
            </a:avLst>
          </a:prstGeom>
          <a:solidFill>
            <a:srgbClr val="1E76C8"/>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972190" y="1996318"/>
            <a:ext cx="323332" cy="323332"/>
          </a:xfrm>
          <a:prstGeom prst="rect">
            <a:avLst/>
          </a:prstGeom>
        </p:spPr>
      </p:pic>
      <p:sp>
        <p:nvSpPr>
          <p:cNvPr id="9" name="Text 6"/>
          <p:cNvSpPr/>
          <p:nvPr/>
        </p:nvSpPr>
        <p:spPr>
          <a:xfrm>
            <a:off x="1572768" y="1810512"/>
            <a:ext cx="2103120" cy="329184"/>
          </a:xfrm>
          <a:prstGeom prst="rect">
            <a:avLst/>
          </a:prstGeom>
          <a:noFill/>
          <a:ln/>
        </p:spPr>
        <p:txBody>
          <a:bodyPr wrap="square" lIns="0" tIns="0" rIns="0" bIns="0" rtlCol="0" anchor="ctr"/>
          <a:lstStyle/>
          <a:p>
            <a:pPr indent="0" marL="0">
              <a:buNone/>
            </a:pPr>
            <a:r>
              <a:rPr lang="en-US" sz="1600" b="1" dirty="0">
                <a:solidFill>
                  <a:srgbClr val="1E76C8"/>
                </a:solidFill>
                <a:latin typeface="Calibri" pitchFamily="34" charset="0"/>
                <a:ea typeface="Calibri" pitchFamily="34" charset="-122"/>
                <a:cs typeface="Calibri" pitchFamily="34" charset="-120"/>
              </a:rPr>
              <a:t>Holistik</a:t>
            </a:r>
            <a:endParaRPr lang="en-US" sz="1600" dirty="0"/>
          </a:p>
        </p:txBody>
      </p:sp>
      <p:sp>
        <p:nvSpPr>
          <p:cNvPr id="10" name="Text 7"/>
          <p:cNvSpPr/>
          <p:nvPr/>
        </p:nvSpPr>
        <p:spPr>
          <a:xfrm>
            <a:off x="1572768" y="2157984"/>
            <a:ext cx="2066544" cy="676656"/>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Memperhatikan seluruh kebutuhan anak — fisik, kognitif, sosial, emosional, dan spiritual.</a:t>
            </a:r>
            <a:endParaRPr lang="en-US" sz="1150" dirty="0"/>
          </a:p>
        </p:txBody>
      </p:sp>
      <p:sp>
        <p:nvSpPr>
          <p:cNvPr id="11" name="Shape 8"/>
          <p:cNvSpPr/>
          <p:nvPr/>
        </p:nvSpPr>
        <p:spPr>
          <a:xfrm>
            <a:off x="4133088" y="1572768"/>
            <a:ext cx="3291840" cy="1371600"/>
          </a:xfrm>
          <a:prstGeom prst="roundRect">
            <a:avLst>
              <a:gd name="adj" fmla="val 9333"/>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2" name="Shape 9"/>
          <p:cNvSpPr/>
          <p:nvPr/>
        </p:nvSpPr>
        <p:spPr>
          <a:xfrm>
            <a:off x="4389120" y="1847088"/>
            <a:ext cx="621792" cy="621792"/>
          </a:xfrm>
          <a:prstGeom prst="ellipse">
            <a:avLst>
              <a:gd name="adj" fmla="val 17647"/>
            </a:avLst>
          </a:prstGeom>
          <a:solidFill>
            <a:srgbClr val="2FA36B"/>
          </a:solidFill>
          <a:ln w="12700">
            <a:solidFill>
              <a:srgbClr val="333333"/>
            </a:solidFill>
            <a:prstDash val="solid"/>
          </a:ln>
        </p:spPr>
      </p:sp>
      <p:pic>
        <p:nvPicPr>
          <p:cNvPr id="13" name="Image 1" descr="preencoded.png">    </p:cNvPr>
          <p:cNvPicPr>
            <a:picLocks noChangeAspect="1"/>
          </p:cNvPicPr>
          <p:nvPr/>
        </p:nvPicPr>
        <p:blipFill>
          <a:blip r:embed="rId2"/>
          <a:stretch>
            <a:fillRect/>
          </a:stretch>
        </p:blipFill>
        <p:spPr>
          <a:xfrm>
            <a:off x="4538350" y="1996318"/>
            <a:ext cx="323332" cy="323332"/>
          </a:xfrm>
          <a:prstGeom prst="rect">
            <a:avLst/>
          </a:prstGeom>
        </p:spPr>
      </p:pic>
      <p:sp>
        <p:nvSpPr>
          <p:cNvPr id="14" name="Text 10"/>
          <p:cNvSpPr/>
          <p:nvPr/>
        </p:nvSpPr>
        <p:spPr>
          <a:xfrm>
            <a:off x="5138928" y="1810512"/>
            <a:ext cx="2103120" cy="329184"/>
          </a:xfrm>
          <a:prstGeom prst="rect">
            <a:avLst/>
          </a:prstGeom>
          <a:noFill/>
          <a:ln/>
        </p:spPr>
        <p:txBody>
          <a:bodyPr wrap="square" lIns="0" tIns="0" rIns="0" bIns="0" rtlCol="0" anchor="ctr"/>
          <a:lstStyle/>
          <a:p>
            <a:pPr indent="0" marL="0">
              <a:buNone/>
            </a:pPr>
            <a:r>
              <a:rPr lang="en-US" sz="1600" b="1" dirty="0">
                <a:solidFill>
                  <a:srgbClr val="2FA36B"/>
                </a:solidFill>
                <a:latin typeface="Calibri" pitchFamily="34" charset="0"/>
                <a:ea typeface="Calibri" pitchFamily="34" charset="-122"/>
                <a:cs typeface="Calibri" pitchFamily="34" charset="-120"/>
              </a:rPr>
              <a:t>Integratif</a:t>
            </a:r>
            <a:endParaRPr lang="en-US" sz="1600" dirty="0"/>
          </a:p>
        </p:txBody>
      </p:sp>
      <p:sp>
        <p:nvSpPr>
          <p:cNvPr id="15" name="Text 11"/>
          <p:cNvSpPr/>
          <p:nvPr/>
        </p:nvSpPr>
        <p:spPr>
          <a:xfrm>
            <a:off x="5138928" y="2157984"/>
            <a:ext cx="2066544" cy="676656"/>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Terpadu antar layanan dan antar sektor, bukan kegiatan yang berdiri sendiri.</a:t>
            </a:r>
            <a:endParaRPr lang="en-US" sz="1150" dirty="0"/>
          </a:p>
        </p:txBody>
      </p:sp>
      <p:sp>
        <p:nvSpPr>
          <p:cNvPr id="16" name="Shape 12"/>
          <p:cNvSpPr/>
          <p:nvPr/>
        </p:nvSpPr>
        <p:spPr>
          <a:xfrm>
            <a:off x="566928" y="3218688"/>
            <a:ext cx="3291840" cy="1371600"/>
          </a:xfrm>
          <a:prstGeom prst="roundRect">
            <a:avLst>
              <a:gd name="adj" fmla="val 9333"/>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7" name="Shape 13"/>
          <p:cNvSpPr/>
          <p:nvPr/>
        </p:nvSpPr>
        <p:spPr>
          <a:xfrm>
            <a:off x="822960" y="3493008"/>
            <a:ext cx="621792" cy="621792"/>
          </a:xfrm>
          <a:prstGeom prst="ellipse">
            <a:avLst>
              <a:gd name="adj" fmla="val 17647"/>
            </a:avLst>
          </a:prstGeom>
          <a:solidFill>
            <a:srgbClr val="F5871F"/>
          </a:solidFill>
          <a:ln w="12700">
            <a:solidFill>
              <a:srgbClr val="333333"/>
            </a:solidFill>
            <a:prstDash val="solid"/>
          </a:ln>
        </p:spPr>
      </p:sp>
      <p:pic>
        <p:nvPicPr>
          <p:cNvPr id="18" name="Image 2" descr="preencoded.png">    </p:cNvPr>
          <p:cNvPicPr>
            <a:picLocks noChangeAspect="1"/>
          </p:cNvPicPr>
          <p:nvPr/>
        </p:nvPicPr>
        <p:blipFill>
          <a:blip r:embed="rId3"/>
          <a:stretch>
            <a:fillRect/>
          </a:stretch>
        </p:blipFill>
        <p:spPr>
          <a:xfrm>
            <a:off x="972190" y="3642238"/>
            <a:ext cx="323332" cy="323332"/>
          </a:xfrm>
          <a:prstGeom prst="rect">
            <a:avLst/>
          </a:prstGeom>
        </p:spPr>
      </p:pic>
      <p:sp>
        <p:nvSpPr>
          <p:cNvPr id="19" name="Text 14"/>
          <p:cNvSpPr/>
          <p:nvPr/>
        </p:nvSpPr>
        <p:spPr>
          <a:xfrm>
            <a:off x="1572768" y="3456432"/>
            <a:ext cx="2103120" cy="329184"/>
          </a:xfrm>
          <a:prstGeom prst="rect">
            <a:avLst/>
          </a:prstGeom>
          <a:noFill/>
          <a:ln/>
        </p:spPr>
        <p:txBody>
          <a:bodyPr wrap="square" lIns="0" tIns="0" rIns="0" bIns="0" rtlCol="0" anchor="ctr"/>
          <a:lstStyle/>
          <a:p>
            <a:pPr indent="0" marL="0">
              <a:buNone/>
            </a:pPr>
            <a:r>
              <a:rPr lang="en-US" sz="1600" b="1" dirty="0">
                <a:solidFill>
                  <a:srgbClr val="F5871F"/>
                </a:solidFill>
                <a:latin typeface="Calibri" pitchFamily="34" charset="0"/>
                <a:ea typeface="Calibri" pitchFamily="34" charset="-122"/>
                <a:cs typeface="Calibri" pitchFamily="34" charset="-120"/>
              </a:rPr>
              <a:t>Kolaboratif</a:t>
            </a:r>
            <a:endParaRPr lang="en-US" sz="1600" dirty="0"/>
          </a:p>
        </p:txBody>
      </p:sp>
      <p:sp>
        <p:nvSpPr>
          <p:cNvPr id="20" name="Text 15"/>
          <p:cNvSpPr/>
          <p:nvPr/>
        </p:nvSpPr>
        <p:spPr>
          <a:xfrm>
            <a:off x="1572768" y="3803904"/>
            <a:ext cx="2066544" cy="676656"/>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Bersama orang tua, masyarakat, pemerintah daerah, dan mitra pembangunan.</a:t>
            </a:r>
            <a:endParaRPr lang="en-US" sz="1150" dirty="0"/>
          </a:p>
        </p:txBody>
      </p:sp>
      <p:sp>
        <p:nvSpPr>
          <p:cNvPr id="21" name="Shape 16"/>
          <p:cNvSpPr/>
          <p:nvPr/>
        </p:nvSpPr>
        <p:spPr>
          <a:xfrm>
            <a:off x="4133088" y="3218688"/>
            <a:ext cx="3291840" cy="1371600"/>
          </a:xfrm>
          <a:prstGeom prst="roundRect">
            <a:avLst>
              <a:gd name="adj" fmla="val 9333"/>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2" name="Shape 17"/>
          <p:cNvSpPr/>
          <p:nvPr/>
        </p:nvSpPr>
        <p:spPr>
          <a:xfrm>
            <a:off x="4389120" y="3493008"/>
            <a:ext cx="621792" cy="621792"/>
          </a:xfrm>
          <a:prstGeom prst="ellipse">
            <a:avLst>
              <a:gd name="adj" fmla="val 17647"/>
            </a:avLst>
          </a:prstGeom>
          <a:solidFill>
            <a:srgbClr val="7A66B8"/>
          </a:solidFill>
          <a:ln w="12700">
            <a:solidFill>
              <a:srgbClr val="333333"/>
            </a:solidFill>
            <a:prstDash val="solid"/>
          </a:ln>
        </p:spPr>
      </p:sp>
      <p:pic>
        <p:nvPicPr>
          <p:cNvPr id="23" name="Image 3" descr="preencoded.png">    </p:cNvPr>
          <p:cNvPicPr>
            <a:picLocks noChangeAspect="1"/>
          </p:cNvPicPr>
          <p:nvPr/>
        </p:nvPicPr>
        <p:blipFill>
          <a:blip r:embed="rId4"/>
          <a:stretch>
            <a:fillRect/>
          </a:stretch>
        </p:blipFill>
        <p:spPr>
          <a:xfrm>
            <a:off x="4538350" y="3642238"/>
            <a:ext cx="323332" cy="323332"/>
          </a:xfrm>
          <a:prstGeom prst="rect">
            <a:avLst/>
          </a:prstGeom>
        </p:spPr>
      </p:pic>
      <p:sp>
        <p:nvSpPr>
          <p:cNvPr id="24" name="Text 18"/>
          <p:cNvSpPr/>
          <p:nvPr/>
        </p:nvSpPr>
        <p:spPr>
          <a:xfrm>
            <a:off x="5138928" y="3456432"/>
            <a:ext cx="2103120" cy="329184"/>
          </a:xfrm>
          <a:prstGeom prst="rect">
            <a:avLst/>
          </a:prstGeom>
          <a:noFill/>
          <a:ln/>
        </p:spPr>
        <p:txBody>
          <a:bodyPr wrap="square" lIns="0" tIns="0" rIns="0" bIns="0" rtlCol="0" anchor="ctr"/>
          <a:lstStyle/>
          <a:p>
            <a:pPr indent="0" marL="0">
              <a:buNone/>
            </a:pPr>
            <a:r>
              <a:rPr lang="en-US" sz="1600" b="1" dirty="0">
                <a:solidFill>
                  <a:srgbClr val="7A66B8"/>
                </a:solidFill>
                <a:latin typeface="Calibri" pitchFamily="34" charset="0"/>
                <a:ea typeface="Calibri" pitchFamily="34" charset="-122"/>
                <a:cs typeface="Calibri" pitchFamily="34" charset="-120"/>
              </a:rPr>
              <a:t>Berkualitas</a:t>
            </a:r>
            <a:endParaRPr lang="en-US" sz="1600" dirty="0"/>
          </a:p>
        </p:txBody>
      </p:sp>
      <p:sp>
        <p:nvSpPr>
          <p:cNvPr id="25" name="Text 19"/>
          <p:cNvSpPr/>
          <p:nvPr/>
        </p:nvSpPr>
        <p:spPr>
          <a:xfrm>
            <a:off x="5138928" y="3803904"/>
            <a:ext cx="2066544" cy="676656"/>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Layanan terbaik dan berkesinambungan, bukan sekadar memenuhi administrasi.</a:t>
            </a:r>
            <a:endParaRPr lang="en-US" sz="1150" dirty="0"/>
          </a:p>
        </p:txBody>
      </p:sp>
      <p:sp>
        <p:nvSpPr>
          <p:cNvPr id="26" name="Shape 20"/>
          <p:cNvSpPr/>
          <p:nvPr/>
        </p:nvSpPr>
        <p:spPr>
          <a:xfrm>
            <a:off x="7680960" y="1572768"/>
            <a:ext cx="3943807" cy="2816352"/>
          </a:xfrm>
          <a:prstGeom prst="roundRect">
            <a:avLst>
              <a:gd name="adj" fmla="val 4545"/>
            </a:avLst>
          </a:prstGeom>
          <a:solidFill>
            <a:srgbClr val="F0EBFA"/>
          </a:solidFill>
          <a:ln w="12700">
            <a:solidFill>
              <a:srgbClr val="DED4F2"/>
            </a:solidFill>
            <a:prstDash val="solid"/>
          </a:ln>
          <a:effectLst>
            <a:outerShdw sx="100000" sy="100000" kx="0" ky="0" algn="bl" rotWithShape="0" blurRad="177800" dist="38100" dir="5400000">
              <a:srgbClr val="0F3352">
                <a:alpha val="10000"/>
              </a:srgbClr>
            </a:outerShdw>
          </a:effectLst>
        </p:spPr>
      </p:sp>
      <p:sp>
        <p:nvSpPr>
          <p:cNvPr id="27" name="Text 21"/>
          <p:cNvSpPr/>
          <p:nvPr/>
        </p:nvSpPr>
        <p:spPr>
          <a:xfrm>
            <a:off x="7882128" y="1700784"/>
            <a:ext cx="3566160" cy="457200"/>
          </a:xfrm>
          <a:prstGeom prst="rect">
            <a:avLst/>
          </a:prstGeom>
          <a:noFill/>
          <a:ln/>
        </p:spPr>
        <p:txBody>
          <a:bodyPr wrap="square" lIns="0" tIns="0" rIns="0" bIns="0" rtlCol="0" anchor="t"/>
          <a:lstStyle/>
          <a:p>
            <a:pPr algn="ctr" indent="0" marL="0">
              <a:buNone/>
            </a:pPr>
            <a:r>
              <a:rPr lang="en-US" sz="1250" b="1" dirty="0">
                <a:solidFill>
                  <a:srgbClr val="7A66B8"/>
                </a:solidFill>
                <a:latin typeface="Calibri" pitchFamily="34" charset="0"/>
                <a:ea typeface="Calibri" pitchFamily="34" charset="-122"/>
                <a:cs typeface="Calibri" pitchFamily="34" charset="-120"/>
              </a:rPr>
              <a:t>Dua elemen PAUD Berkualitas yang paling terkait</a:t>
            </a:r>
            <a:endParaRPr lang="en-US" sz="1250" dirty="0"/>
          </a:p>
        </p:txBody>
      </p:sp>
      <p:pic>
        <p:nvPicPr>
          <p:cNvPr id="28" name="Image 4" descr="preencoded.png">    </p:cNvPr>
          <p:cNvPicPr>
            <a:picLocks noChangeAspect="1"/>
          </p:cNvPicPr>
          <p:nvPr/>
        </p:nvPicPr>
        <p:blipFill>
          <a:blip r:embed="rId5"/>
          <a:stretch>
            <a:fillRect/>
          </a:stretch>
        </p:blipFill>
        <p:spPr>
          <a:xfrm>
            <a:off x="8202168" y="2231136"/>
            <a:ext cx="1060704" cy="1060704"/>
          </a:xfrm>
          <a:prstGeom prst="rect">
            <a:avLst/>
          </a:prstGeom>
        </p:spPr>
      </p:pic>
      <p:pic>
        <p:nvPicPr>
          <p:cNvPr id="29" name="Image 5" descr="preencoded.png">    </p:cNvPr>
          <p:cNvPicPr>
            <a:picLocks noChangeAspect="1"/>
          </p:cNvPicPr>
          <p:nvPr/>
        </p:nvPicPr>
        <p:blipFill>
          <a:blip r:embed="rId6"/>
          <a:stretch>
            <a:fillRect/>
          </a:stretch>
        </p:blipFill>
        <p:spPr>
          <a:xfrm>
            <a:off x="10030338" y="2231136"/>
            <a:ext cx="1061964" cy="1060704"/>
          </a:xfrm>
          <a:prstGeom prst="rect">
            <a:avLst/>
          </a:prstGeom>
        </p:spPr>
      </p:pic>
      <p:sp>
        <p:nvSpPr>
          <p:cNvPr id="30" name="Text 22"/>
          <p:cNvSpPr/>
          <p:nvPr/>
        </p:nvSpPr>
        <p:spPr>
          <a:xfrm>
            <a:off x="7918704" y="3419856"/>
            <a:ext cx="3493008" cy="877824"/>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Kemitraan dengan orang tua dan dukungan pemenuhan kebutuhan esensial anak usia dini adalah dua elemen yang paling langsung diwujudkan lewat kemitraan.</a:t>
            </a:r>
            <a:endParaRPr lang="en-US" sz="1050" dirty="0"/>
          </a:p>
        </p:txBody>
      </p:sp>
      <p:sp>
        <p:nvSpPr>
          <p:cNvPr id="31" name="Shape 23"/>
          <p:cNvSpPr/>
          <p:nvPr/>
        </p:nvSpPr>
        <p:spPr>
          <a:xfrm>
            <a:off x="566928" y="4626864"/>
            <a:ext cx="11057839" cy="1060704"/>
          </a:xfrm>
          <a:prstGeom prst="roundRect">
            <a:avLst>
              <a:gd name="adj" fmla="val 12069"/>
            </a:avLst>
          </a:prstGeom>
          <a:solidFill>
            <a:srgbClr val="F0EBFA"/>
          </a:solidFill>
          <a:ln w="12700">
            <a:solidFill>
              <a:srgbClr val="DED4F2"/>
            </a:solidFill>
            <a:prstDash val="solid"/>
          </a:ln>
          <a:effectLst>
            <a:outerShdw sx="100000" sy="100000" kx="0" ky="0" algn="bl" rotWithShape="0" blurRad="177800" dist="38100" dir="5400000">
              <a:srgbClr val="0F3352">
                <a:alpha val="10000"/>
              </a:srgbClr>
            </a:outerShdw>
          </a:effectLst>
        </p:spPr>
      </p:sp>
      <p:sp>
        <p:nvSpPr>
          <p:cNvPr id="32" name="Text 24"/>
          <p:cNvSpPr/>
          <p:nvPr/>
        </p:nvSpPr>
        <p:spPr>
          <a:xfrm>
            <a:off x="896112" y="4864608"/>
            <a:ext cx="10399471" cy="640080"/>
          </a:xfrm>
          <a:prstGeom prst="rect">
            <a:avLst/>
          </a:prstGeom>
          <a:noFill/>
          <a:ln/>
        </p:spPr>
        <p:txBody>
          <a:bodyPr wrap="square" lIns="0" tIns="0" rIns="0" bIns="0" rtlCol="0" anchor="t"/>
          <a:lstStyle/>
          <a:p>
            <a:pPr indent="0" marL="0">
              <a:buNone/>
            </a:pPr>
            <a:r>
              <a:rPr lang="en-US" sz="1300" dirty="0">
                <a:solidFill>
                  <a:srgbClr val="173753"/>
                </a:solidFill>
                <a:latin typeface="Calibri" pitchFamily="34" charset="0"/>
                <a:ea typeface="Calibri" pitchFamily="34" charset="-122"/>
                <a:cs typeface="Calibri" pitchFamily="34" charset="-120"/>
              </a:rPr>
              <a:t>Keempat prinsip ini menjadi ukuran sederhana: bila satu layanan berjalan tanpa yang lain, atau berjalan tanpa mitra, penyelenggaraan kita belum benar-benar holistik integratif.</a:t>
            </a:r>
            <a:endParaRPr lang="en-US" sz="1300" dirty="0"/>
          </a:p>
        </p:txBody>
      </p:sp>
      <p:sp>
        <p:nvSpPr>
          <p:cNvPr id="33" name="Text 25"/>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34" name="Text 26"/>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LANDASAN HUKUM</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Kerangka Regulasi yang Mendasari PAUD HI</a:t>
            </a:r>
            <a:endParaRPr lang="en-US" sz="3200" dirty="0"/>
          </a:p>
        </p:txBody>
      </p:sp>
      <p:sp>
        <p:nvSpPr>
          <p:cNvPr id="6" name="Shape 4"/>
          <p:cNvSpPr/>
          <p:nvPr/>
        </p:nvSpPr>
        <p:spPr>
          <a:xfrm>
            <a:off x="1599560" y="2066544"/>
            <a:ext cx="8992575" cy="0"/>
          </a:xfrm>
          <a:prstGeom prst="line">
            <a:avLst/>
          </a:prstGeom>
          <a:noFill/>
          <a:ln w="31750">
            <a:solidFill>
              <a:srgbClr val="E1EBF3"/>
            </a:solidFill>
            <a:prstDash val="dash"/>
          </a:ln>
        </p:spPr>
      </p:sp>
      <p:sp>
        <p:nvSpPr>
          <p:cNvPr id="7" name="Shape 5"/>
          <p:cNvSpPr/>
          <p:nvPr/>
        </p:nvSpPr>
        <p:spPr>
          <a:xfrm>
            <a:off x="1215512" y="1682496"/>
            <a:ext cx="768096" cy="768096"/>
          </a:xfrm>
          <a:prstGeom prst="ellipse">
            <a:avLst/>
          </a:prstGeom>
          <a:solidFill>
            <a:srgbClr val="1E76C8"/>
          </a:solidFill>
          <a:ln w="38100">
            <a:solidFill>
              <a:srgbClr val="FFFFFF"/>
            </a:solidFill>
            <a:prstDash val="solid"/>
          </a:ln>
        </p:spPr>
      </p:sp>
      <p:pic>
        <p:nvPicPr>
          <p:cNvPr id="8" name="Image 0" descr="preencoded.png">    </p:cNvPr>
          <p:cNvPicPr>
            <a:picLocks noChangeAspect="1"/>
          </p:cNvPicPr>
          <p:nvPr/>
        </p:nvPicPr>
        <p:blipFill>
          <a:blip r:embed="rId1"/>
          <a:stretch>
            <a:fillRect/>
          </a:stretch>
        </p:blipFill>
        <p:spPr>
          <a:xfrm>
            <a:off x="1398392" y="1865376"/>
            <a:ext cx="402336" cy="402336"/>
          </a:xfrm>
          <a:prstGeom prst="rect">
            <a:avLst/>
          </a:prstGeom>
        </p:spPr>
      </p:pic>
      <p:sp>
        <p:nvSpPr>
          <p:cNvPr id="9" name="Shape 6"/>
          <p:cNvSpPr/>
          <p:nvPr/>
        </p:nvSpPr>
        <p:spPr>
          <a:xfrm>
            <a:off x="566928" y="2651760"/>
            <a:ext cx="2065264" cy="2157984"/>
          </a:xfrm>
          <a:prstGeom prst="roundRect">
            <a:avLst>
              <a:gd name="adj" fmla="val 619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0" name="Text 7"/>
          <p:cNvSpPr/>
          <p:nvPr/>
        </p:nvSpPr>
        <p:spPr>
          <a:xfrm>
            <a:off x="749808" y="2779776"/>
            <a:ext cx="1699504" cy="329184"/>
          </a:xfrm>
          <a:prstGeom prst="rect">
            <a:avLst/>
          </a:prstGeom>
          <a:noFill/>
          <a:ln/>
        </p:spPr>
        <p:txBody>
          <a:bodyPr wrap="square" lIns="0" tIns="0" rIns="0" bIns="0" rtlCol="0" anchor="ctr"/>
          <a:lstStyle/>
          <a:p>
            <a:pPr algn="ctr" indent="0" marL="0">
              <a:buNone/>
            </a:pPr>
            <a:r>
              <a:rPr lang="en-US" sz="1350" b="1" dirty="0">
                <a:solidFill>
                  <a:srgbClr val="1E76C8"/>
                </a:solidFill>
                <a:latin typeface="Calibri" pitchFamily="34" charset="0"/>
                <a:ea typeface="Calibri" pitchFamily="34" charset="-122"/>
                <a:cs typeface="Calibri" pitchFamily="34" charset="-120"/>
              </a:rPr>
              <a:t>UU No. 20/2003</a:t>
            </a:r>
            <a:endParaRPr lang="en-US" sz="1350" dirty="0"/>
          </a:p>
        </p:txBody>
      </p:sp>
      <p:sp>
        <p:nvSpPr>
          <p:cNvPr id="11" name="Text 8"/>
          <p:cNvSpPr/>
          <p:nvPr/>
        </p:nvSpPr>
        <p:spPr>
          <a:xfrm>
            <a:off x="731520" y="3108960"/>
            <a:ext cx="1736080" cy="512064"/>
          </a:xfrm>
          <a:prstGeom prst="rect">
            <a:avLst/>
          </a:prstGeom>
          <a:noFill/>
          <a:ln/>
        </p:spPr>
        <p:txBody>
          <a:bodyPr wrap="square" lIns="0" tIns="0" rIns="0" bIns="0" rtlCol="0" anchor="t"/>
          <a:lstStyle/>
          <a:p>
            <a:pPr algn="ctr" indent="0" marL="0">
              <a:buNone/>
            </a:pPr>
            <a:r>
              <a:rPr lang="en-US" sz="1200" b="1" dirty="0">
                <a:solidFill>
                  <a:srgbClr val="173753"/>
                </a:solidFill>
                <a:latin typeface="Calibri" pitchFamily="34" charset="0"/>
                <a:ea typeface="Calibri" pitchFamily="34" charset="-122"/>
                <a:cs typeface="Calibri" pitchFamily="34" charset="-120"/>
              </a:rPr>
              <a:t>Sistem Pendidikan Nasional</a:t>
            </a:r>
            <a:endParaRPr lang="en-US" sz="1200" dirty="0"/>
          </a:p>
        </p:txBody>
      </p:sp>
      <p:sp>
        <p:nvSpPr>
          <p:cNvPr id="12" name="Text 9"/>
          <p:cNvSpPr/>
          <p:nvPr/>
        </p:nvSpPr>
        <p:spPr>
          <a:xfrm>
            <a:off x="749808" y="3639312"/>
            <a:ext cx="1699504" cy="1060704"/>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PAUD sebagai bagian utuh sistem pendidikan nasional.</a:t>
            </a:r>
            <a:endParaRPr lang="en-US" sz="1050" dirty="0"/>
          </a:p>
        </p:txBody>
      </p:sp>
      <p:sp>
        <p:nvSpPr>
          <p:cNvPr id="13" name="Shape 10"/>
          <p:cNvSpPr/>
          <p:nvPr/>
        </p:nvSpPr>
        <p:spPr>
          <a:xfrm>
            <a:off x="3463656" y="1682496"/>
            <a:ext cx="768096" cy="768096"/>
          </a:xfrm>
          <a:prstGeom prst="ellipse">
            <a:avLst/>
          </a:prstGeom>
          <a:solidFill>
            <a:srgbClr val="2FA36B"/>
          </a:solidFill>
          <a:ln w="38100">
            <a:solidFill>
              <a:srgbClr val="FFFFFF"/>
            </a:solidFill>
            <a:prstDash val="solid"/>
          </a:ln>
        </p:spPr>
      </p:sp>
      <p:pic>
        <p:nvPicPr>
          <p:cNvPr id="14" name="Image 1" descr="preencoded.png">    </p:cNvPr>
          <p:cNvPicPr>
            <a:picLocks noChangeAspect="1"/>
          </p:cNvPicPr>
          <p:nvPr/>
        </p:nvPicPr>
        <p:blipFill>
          <a:blip r:embed="rId2"/>
          <a:stretch>
            <a:fillRect/>
          </a:stretch>
        </p:blipFill>
        <p:spPr>
          <a:xfrm>
            <a:off x="3646536" y="1865376"/>
            <a:ext cx="402336" cy="402336"/>
          </a:xfrm>
          <a:prstGeom prst="rect">
            <a:avLst/>
          </a:prstGeom>
        </p:spPr>
      </p:pic>
      <p:sp>
        <p:nvSpPr>
          <p:cNvPr id="15" name="Shape 11"/>
          <p:cNvSpPr/>
          <p:nvPr/>
        </p:nvSpPr>
        <p:spPr>
          <a:xfrm>
            <a:off x="2815072" y="2651760"/>
            <a:ext cx="2065264" cy="2157984"/>
          </a:xfrm>
          <a:prstGeom prst="roundRect">
            <a:avLst>
              <a:gd name="adj" fmla="val 619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6" name="Text 12"/>
          <p:cNvSpPr/>
          <p:nvPr/>
        </p:nvSpPr>
        <p:spPr>
          <a:xfrm>
            <a:off x="2997952" y="2779776"/>
            <a:ext cx="1699504" cy="329184"/>
          </a:xfrm>
          <a:prstGeom prst="rect">
            <a:avLst/>
          </a:prstGeom>
          <a:noFill/>
          <a:ln/>
        </p:spPr>
        <p:txBody>
          <a:bodyPr wrap="square" lIns="0" tIns="0" rIns="0" bIns="0" rtlCol="0" anchor="ctr"/>
          <a:lstStyle/>
          <a:p>
            <a:pPr algn="ctr" indent="0" marL="0">
              <a:buNone/>
            </a:pPr>
            <a:r>
              <a:rPr lang="en-US" sz="1350" b="1" dirty="0">
                <a:solidFill>
                  <a:srgbClr val="2FA36B"/>
                </a:solidFill>
                <a:latin typeface="Calibri" pitchFamily="34" charset="0"/>
                <a:ea typeface="Calibri" pitchFamily="34" charset="-122"/>
                <a:cs typeface="Calibri" pitchFamily="34" charset="-120"/>
              </a:rPr>
              <a:t>Perpres No. 60/2013</a:t>
            </a:r>
            <a:endParaRPr lang="en-US" sz="1350" dirty="0"/>
          </a:p>
        </p:txBody>
      </p:sp>
      <p:sp>
        <p:nvSpPr>
          <p:cNvPr id="17" name="Text 13"/>
          <p:cNvSpPr/>
          <p:nvPr/>
        </p:nvSpPr>
        <p:spPr>
          <a:xfrm>
            <a:off x="2979664" y="3108960"/>
            <a:ext cx="1736080" cy="512064"/>
          </a:xfrm>
          <a:prstGeom prst="rect">
            <a:avLst/>
          </a:prstGeom>
          <a:noFill/>
          <a:ln/>
        </p:spPr>
        <p:txBody>
          <a:bodyPr wrap="square" lIns="0" tIns="0" rIns="0" bIns="0" rtlCol="0" anchor="t"/>
          <a:lstStyle/>
          <a:p>
            <a:pPr algn="ctr" indent="0" marL="0">
              <a:buNone/>
            </a:pPr>
            <a:r>
              <a:rPr lang="en-US" sz="1200" b="1" dirty="0">
                <a:solidFill>
                  <a:srgbClr val="173753"/>
                </a:solidFill>
                <a:latin typeface="Calibri" pitchFamily="34" charset="0"/>
                <a:ea typeface="Calibri" pitchFamily="34" charset="-122"/>
                <a:cs typeface="Calibri" pitchFamily="34" charset="-120"/>
              </a:rPr>
              <a:t>PAUD Holistik Integratif</a:t>
            </a:r>
            <a:endParaRPr lang="en-US" sz="1200" dirty="0"/>
          </a:p>
        </p:txBody>
      </p:sp>
      <p:sp>
        <p:nvSpPr>
          <p:cNvPr id="18" name="Text 14"/>
          <p:cNvSpPr/>
          <p:nvPr/>
        </p:nvSpPr>
        <p:spPr>
          <a:xfrm>
            <a:off x="2997952" y="3639312"/>
            <a:ext cx="1699504" cy="1060704"/>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Payung utama: kebutuhan esensial anak dipenuhi simultan dan terintegrasi.</a:t>
            </a:r>
            <a:endParaRPr lang="en-US" sz="1050" dirty="0"/>
          </a:p>
        </p:txBody>
      </p:sp>
      <p:sp>
        <p:nvSpPr>
          <p:cNvPr id="19" name="Shape 15"/>
          <p:cNvSpPr/>
          <p:nvPr/>
        </p:nvSpPr>
        <p:spPr>
          <a:xfrm>
            <a:off x="5711800" y="1682496"/>
            <a:ext cx="768096" cy="768096"/>
          </a:xfrm>
          <a:prstGeom prst="ellipse">
            <a:avLst/>
          </a:prstGeom>
          <a:solidFill>
            <a:srgbClr val="F5871F"/>
          </a:solidFill>
          <a:ln w="38100">
            <a:solidFill>
              <a:srgbClr val="FFFFFF"/>
            </a:solidFill>
            <a:prstDash val="solid"/>
          </a:ln>
        </p:spPr>
      </p:sp>
      <p:pic>
        <p:nvPicPr>
          <p:cNvPr id="20" name="Image 2" descr="preencoded.png">    </p:cNvPr>
          <p:cNvPicPr>
            <a:picLocks noChangeAspect="1"/>
          </p:cNvPicPr>
          <p:nvPr/>
        </p:nvPicPr>
        <p:blipFill>
          <a:blip r:embed="rId3"/>
          <a:stretch>
            <a:fillRect/>
          </a:stretch>
        </p:blipFill>
        <p:spPr>
          <a:xfrm>
            <a:off x="5894680" y="1865376"/>
            <a:ext cx="402336" cy="402336"/>
          </a:xfrm>
          <a:prstGeom prst="rect">
            <a:avLst/>
          </a:prstGeom>
        </p:spPr>
      </p:pic>
      <p:sp>
        <p:nvSpPr>
          <p:cNvPr id="21" name="Shape 16"/>
          <p:cNvSpPr/>
          <p:nvPr/>
        </p:nvSpPr>
        <p:spPr>
          <a:xfrm>
            <a:off x="5063216" y="2651760"/>
            <a:ext cx="2065264" cy="2157984"/>
          </a:xfrm>
          <a:prstGeom prst="roundRect">
            <a:avLst>
              <a:gd name="adj" fmla="val 619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2" name="Text 17"/>
          <p:cNvSpPr/>
          <p:nvPr/>
        </p:nvSpPr>
        <p:spPr>
          <a:xfrm>
            <a:off x="5246096" y="2779776"/>
            <a:ext cx="1699504" cy="329184"/>
          </a:xfrm>
          <a:prstGeom prst="rect">
            <a:avLst/>
          </a:prstGeom>
          <a:noFill/>
          <a:ln/>
        </p:spPr>
        <p:txBody>
          <a:bodyPr wrap="square" lIns="0" tIns="0" rIns="0" bIns="0" rtlCol="0" anchor="ctr"/>
          <a:lstStyle/>
          <a:p>
            <a:pPr algn="ctr" indent="0" marL="0">
              <a:buNone/>
            </a:pPr>
            <a:r>
              <a:rPr lang="en-US" sz="1350" b="1" dirty="0">
                <a:solidFill>
                  <a:srgbClr val="F5871F"/>
                </a:solidFill>
                <a:latin typeface="Calibri" pitchFamily="34" charset="0"/>
                <a:ea typeface="Calibri" pitchFamily="34" charset="-122"/>
                <a:cs typeface="Calibri" pitchFamily="34" charset="-120"/>
              </a:rPr>
              <a:t>Permenko PMK No. 1/2019</a:t>
            </a:r>
            <a:endParaRPr lang="en-US" sz="1350" dirty="0"/>
          </a:p>
        </p:txBody>
      </p:sp>
      <p:sp>
        <p:nvSpPr>
          <p:cNvPr id="23" name="Text 18"/>
          <p:cNvSpPr/>
          <p:nvPr/>
        </p:nvSpPr>
        <p:spPr>
          <a:xfrm>
            <a:off x="5227808" y="3108960"/>
            <a:ext cx="1736080" cy="512064"/>
          </a:xfrm>
          <a:prstGeom prst="rect">
            <a:avLst/>
          </a:prstGeom>
          <a:noFill/>
          <a:ln/>
        </p:spPr>
        <p:txBody>
          <a:bodyPr wrap="square" lIns="0" tIns="0" rIns="0" bIns="0" rtlCol="0" anchor="t"/>
          <a:lstStyle/>
          <a:p>
            <a:pPr algn="ctr" indent="0" marL="0">
              <a:buNone/>
            </a:pPr>
            <a:r>
              <a:rPr lang="en-US" sz="1200" b="1" dirty="0">
                <a:solidFill>
                  <a:srgbClr val="173753"/>
                </a:solidFill>
                <a:latin typeface="Calibri" pitchFamily="34" charset="0"/>
                <a:ea typeface="Calibri" pitchFamily="34" charset="-122"/>
                <a:cs typeface="Calibri" pitchFamily="34" charset="-120"/>
              </a:rPr>
              <a:t>Gugus Tugas PAUD HI</a:t>
            </a:r>
            <a:endParaRPr lang="en-US" sz="1200" dirty="0"/>
          </a:p>
        </p:txBody>
      </p:sp>
      <p:sp>
        <p:nvSpPr>
          <p:cNvPr id="24" name="Text 19"/>
          <p:cNvSpPr/>
          <p:nvPr/>
        </p:nvSpPr>
        <p:spPr>
          <a:xfrm>
            <a:off x="5246096" y="3639312"/>
            <a:ext cx="1699504" cy="1060704"/>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Kemendikdasmen sebagai sub gugus tugas bidang pendidikan.</a:t>
            </a:r>
            <a:endParaRPr lang="en-US" sz="1050" dirty="0"/>
          </a:p>
        </p:txBody>
      </p:sp>
      <p:sp>
        <p:nvSpPr>
          <p:cNvPr id="25" name="Shape 20"/>
          <p:cNvSpPr/>
          <p:nvPr/>
        </p:nvSpPr>
        <p:spPr>
          <a:xfrm>
            <a:off x="7959943" y="1682496"/>
            <a:ext cx="768096" cy="768096"/>
          </a:xfrm>
          <a:prstGeom prst="ellipse">
            <a:avLst/>
          </a:prstGeom>
          <a:solidFill>
            <a:srgbClr val="E0574B"/>
          </a:solidFill>
          <a:ln w="38100">
            <a:solidFill>
              <a:srgbClr val="FFFFFF"/>
            </a:solidFill>
            <a:prstDash val="solid"/>
          </a:ln>
        </p:spPr>
      </p:sp>
      <p:pic>
        <p:nvPicPr>
          <p:cNvPr id="26" name="Image 3" descr="preencoded.png">    </p:cNvPr>
          <p:cNvPicPr>
            <a:picLocks noChangeAspect="1"/>
          </p:cNvPicPr>
          <p:nvPr/>
        </p:nvPicPr>
        <p:blipFill>
          <a:blip r:embed="rId4"/>
          <a:stretch>
            <a:fillRect/>
          </a:stretch>
        </p:blipFill>
        <p:spPr>
          <a:xfrm>
            <a:off x="8142823" y="1865376"/>
            <a:ext cx="402336" cy="402336"/>
          </a:xfrm>
          <a:prstGeom prst="rect">
            <a:avLst/>
          </a:prstGeom>
        </p:spPr>
      </p:pic>
      <p:sp>
        <p:nvSpPr>
          <p:cNvPr id="27" name="Shape 21"/>
          <p:cNvSpPr/>
          <p:nvPr/>
        </p:nvSpPr>
        <p:spPr>
          <a:xfrm>
            <a:off x="7311360" y="2651760"/>
            <a:ext cx="2065264" cy="2157984"/>
          </a:xfrm>
          <a:prstGeom prst="roundRect">
            <a:avLst>
              <a:gd name="adj" fmla="val 619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8" name="Text 22"/>
          <p:cNvSpPr/>
          <p:nvPr/>
        </p:nvSpPr>
        <p:spPr>
          <a:xfrm>
            <a:off x="7494240" y="2779776"/>
            <a:ext cx="1699504" cy="329184"/>
          </a:xfrm>
          <a:prstGeom prst="rect">
            <a:avLst/>
          </a:prstGeom>
          <a:noFill/>
          <a:ln/>
        </p:spPr>
        <p:txBody>
          <a:bodyPr wrap="square" lIns="0" tIns="0" rIns="0" bIns="0" rtlCol="0" anchor="ctr"/>
          <a:lstStyle/>
          <a:p>
            <a:pPr algn="ctr" indent="0" marL="0">
              <a:buNone/>
            </a:pPr>
            <a:r>
              <a:rPr lang="en-US" sz="1350" b="1" dirty="0">
                <a:solidFill>
                  <a:srgbClr val="E0574B"/>
                </a:solidFill>
                <a:latin typeface="Calibri" pitchFamily="34" charset="0"/>
                <a:ea typeface="Calibri" pitchFamily="34" charset="-122"/>
                <a:cs typeface="Calibri" pitchFamily="34" charset="-120"/>
              </a:rPr>
              <a:t>Perpres No. 72/2021</a:t>
            </a:r>
            <a:endParaRPr lang="en-US" sz="1350" dirty="0"/>
          </a:p>
        </p:txBody>
      </p:sp>
      <p:sp>
        <p:nvSpPr>
          <p:cNvPr id="29" name="Text 23"/>
          <p:cNvSpPr/>
          <p:nvPr/>
        </p:nvSpPr>
        <p:spPr>
          <a:xfrm>
            <a:off x="7475952" y="3108960"/>
            <a:ext cx="1736080" cy="512064"/>
          </a:xfrm>
          <a:prstGeom prst="rect">
            <a:avLst/>
          </a:prstGeom>
          <a:noFill/>
          <a:ln/>
        </p:spPr>
        <p:txBody>
          <a:bodyPr wrap="square" lIns="0" tIns="0" rIns="0" bIns="0" rtlCol="0" anchor="t"/>
          <a:lstStyle/>
          <a:p>
            <a:pPr algn="ctr" indent="0" marL="0">
              <a:buNone/>
            </a:pPr>
            <a:r>
              <a:rPr lang="en-US" sz="1200" b="1" dirty="0">
                <a:solidFill>
                  <a:srgbClr val="173753"/>
                </a:solidFill>
                <a:latin typeface="Calibri" pitchFamily="34" charset="0"/>
                <a:ea typeface="Calibri" pitchFamily="34" charset="-122"/>
                <a:cs typeface="Calibri" pitchFamily="34" charset="-120"/>
              </a:rPr>
              <a:t>Percepatan Penurunan Stunting</a:t>
            </a:r>
            <a:endParaRPr lang="en-US" sz="1200" dirty="0"/>
          </a:p>
        </p:txBody>
      </p:sp>
      <p:sp>
        <p:nvSpPr>
          <p:cNvPr id="30" name="Text 24"/>
          <p:cNvSpPr/>
          <p:nvPr/>
        </p:nvSpPr>
        <p:spPr>
          <a:xfrm>
            <a:off x="7494240" y="3639312"/>
            <a:ext cx="1699504" cy="1060704"/>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Sektor pendidikan berkontribusi melalui intervensi sensitif.</a:t>
            </a:r>
            <a:endParaRPr lang="en-US" sz="1050" dirty="0"/>
          </a:p>
        </p:txBody>
      </p:sp>
      <p:sp>
        <p:nvSpPr>
          <p:cNvPr id="31" name="Shape 25"/>
          <p:cNvSpPr/>
          <p:nvPr/>
        </p:nvSpPr>
        <p:spPr>
          <a:xfrm>
            <a:off x="10208087" y="1682496"/>
            <a:ext cx="768096" cy="768096"/>
          </a:xfrm>
          <a:prstGeom prst="ellipse">
            <a:avLst/>
          </a:prstGeom>
          <a:solidFill>
            <a:srgbClr val="7A66B8"/>
          </a:solidFill>
          <a:ln w="38100">
            <a:solidFill>
              <a:srgbClr val="FFFFFF"/>
            </a:solidFill>
            <a:prstDash val="solid"/>
          </a:ln>
        </p:spPr>
      </p:sp>
      <p:pic>
        <p:nvPicPr>
          <p:cNvPr id="32" name="Image 4" descr="preencoded.png">    </p:cNvPr>
          <p:cNvPicPr>
            <a:picLocks noChangeAspect="1"/>
          </p:cNvPicPr>
          <p:nvPr/>
        </p:nvPicPr>
        <p:blipFill>
          <a:blip r:embed="rId5"/>
          <a:stretch>
            <a:fillRect/>
          </a:stretch>
        </p:blipFill>
        <p:spPr>
          <a:xfrm>
            <a:off x="10390967" y="1865376"/>
            <a:ext cx="402336" cy="402336"/>
          </a:xfrm>
          <a:prstGeom prst="rect">
            <a:avLst/>
          </a:prstGeom>
        </p:spPr>
      </p:pic>
      <p:sp>
        <p:nvSpPr>
          <p:cNvPr id="33" name="Shape 26"/>
          <p:cNvSpPr/>
          <p:nvPr/>
        </p:nvSpPr>
        <p:spPr>
          <a:xfrm>
            <a:off x="9559503" y="2651760"/>
            <a:ext cx="2065264" cy="2157984"/>
          </a:xfrm>
          <a:prstGeom prst="roundRect">
            <a:avLst>
              <a:gd name="adj" fmla="val 619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4" name="Text 27"/>
          <p:cNvSpPr/>
          <p:nvPr/>
        </p:nvSpPr>
        <p:spPr>
          <a:xfrm>
            <a:off x="9742383" y="2779776"/>
            <a:ext cx="1699504" cy="329184"/>
          </a:xfrm>
          <a:prstGeom prst="rect">
            <a:avLst/>
          </a:prstGeom>
          <a:noFill/>
          <a:ln/>
        </p:spPr>
        <p:txBody>
          <a:bodyPr wrap="square" lIns="0" tIns="0" rIns="0" bIns="0" rtlCol="0" anchor="ctr"/>
          <a:lstStyle/>
          <a:p>
            <a:pPr algn="ctr" indent="0" marL="0">
              <a:buNone/>
            </a:pPr>
            <a:r>
              <a:rPr lang="en-US" sz="1350" b="1" dirty="0">
                <a:solidFill>
                  <a:srgbClr val="7A66B8"/>
                </a:solidFill>
                <a:latin typeface="Calibri" pitchFamily="34" charset="0"/>
                <a:ea typeface="Calibri" pitchFamily="34" charset="-122"/>
                <a:cs typeface="Calibri" pitchFamily="34" charset="-120"/>
              </a:rPr>
              <a:t>RAN PAUD HI</a:t>
            </a:r>
            <a:endParaRPr lang="en-US" sz="1350" dirty="0"/>
          </a:p>
        </p:txBody>
      </p:sp>
      <p:sp>
        <p:nvSpPr>
          <p:cNvPr id="35" name="Text 28"/>
          <p:cNvSpPr/>
          <p:nvPr/>
        </p:nvSpPr>
        <p:spPr>
          <a:xfrm>
            <a:off x="9724095" y="3108960"/>
            <a:ext cx="1736080" cy="512064"/>
          </a:xfrm>
          <a:prstGeom prst="rect">
            <a:avLst/>
          </a:prstGeom>
          <a:noFill/>
          <a:ln/>
        </p:spPr>
        <p:txBody>
          <a:bodyPr wrap="square" lIns="0" tIns="0" rIns="0" bIns="0" rtlCol="0" anchor="t"/>
          <a:lstStyle/>
          <a:p>
            <a:pPr algn="ctr" indent="0" marL="0">
              <a:buNone/>
            </a:pPr>
            <a:r>
              <a:rPr lang="en-US" sz="1200" b="1" dirty="0">
                <a:solidFill>
                  <a:srgbClr val="173753"/>
                </a:solidFill>
                <a:latin typeface="Calibri" pitchFamily="34" charset="0"/>
                <a:ea typeface="Calibri" pitchFamily="34" charset="-122"/>
                <a:cs typeface="Calibri" pitchFamily="34" charset="-120"/>
              </a:rPr>
              <a:t>Bidang Pendidikan</a:t>
            </a:r>
            <a:endParaRPr lang="en-US" sz="1200" dirty="0"/>
          </a:p>
        </p:txBody>
      </p:sp>
      <p:sp>
        <p:nvSpPr>
          <p:cNvPr id="36" name="Text 29"/>
          <p:cNvSpPr/>
          <p:nvPr/>
        </p:nvSpPr>
        <p:spPr>
          <a:xfrm>
            <a:off x="9742383" y="3639312"/>
            <a:ext cx="1699504" cy="1060704"/>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Akses, kualitas layanan, dan kompetensi pendidik sebagai penghubung.</a:t>
            </a:r>
            <a:endParaRPr lang="en-US" sz="1050" dirty="0"/>
          </a:p>
        </p:txBody>
      </p:sp>
      <p:sp>
        <p:nvSpPr>
          <p:cNvPr id="37" name="Shape 30"/>
          <p:cNvSpPr/>
          <p:nvPr/>
        </p:nvSpPr>
        <p:spPr>
          <a:xfrm>
            <a:off x="566928" y="4956048"/>
            <a:ext cx="11057839" cy="1298448"/>
          </a:xfrm>
          <a:prstGeom prst="roundRect">
            <a:avLst>
              <a:gd name="adj" fmla="val 9859"/>
            </a:avLst>
          </a:prstGeom>
          <a:solidFill>
            <a:srgbClr val="DCEDFB"/>
          </a:solidFill>
          <a:ln w="12700">
            <a:solidFill>
              <a:srgbClr val="B9DBF6"/>
            </a:solidFill>
            <a:prstDash val="solid"/>
          </a:ln>
          <a:effectLst>
            <a:outerShdw sx="100000" sy="100000" kx="0" ky="0" algn="bl" rotWithShape="0" blurRad="177800" dist="38100" dir="5400000">
              <a:srgbClr val="0F3352">
                <a:alpha val="10000"/>
              </a:srgbClr>
            </a:outerShdw>
          </a:effectLst>
        </p:spPr>
      </p:sp>
      <p:pic>
        <p:nvPicPr>
          <p:cNvPr id="38" name="Image 5" descr="preencoded.png">    </p:cNvPr>
          <p:cNvPicPr>
            <a:picLocks noChangeAspect="1"/>
          </p:cNvPicPr>
          <p:nvPr/>
        </p:nvPicPr>
        <p:blipFill>
          <a:blip r:embed="rId6"/>
          <a:stretch>
            <a:fillRect/>
          </a:stretch>
        </p:blipFill>
        <p:spPr>
          <a:xfrm>
            <a:off x="713232" y="5074920"/>
            <a:ext cx="1578429" cy="1060704"/>
          </a:xfrm>
          <a:prstGeom prst="rect">
            <a:avLst/>
          </a:prstGeom>
        </p:spPr>
      </p:pic>
      <p:pic>
        <p:nvPicPr>
          <p:cNvPr id="39" name="Image 6" descr="preencoded.png">    </p:cNvPr>
          <p:cNvPicPr>
            <a:picLocks noChangeAspect="1"/>
          </p:cNvPicPr>
          <p:nvPr/>
        </p:nvPicPr>
        <p:blipFill>
          <a:blip r:embed="rId7"/>
          <a:stretch>
            <a:fillRect/>
          </a:stretch>
        </p:blipFill>
        <p:spPr>
          <a:xfrm>
            <a:off x="10393092" y="5074920"/>
            <a:ext cx="1085372" cy="1060704"/>
          </a:xfrm>
          <a:prstGeom prst="rect">
            <a:avLst/>
          </a:prstGeom>
        </p:spPr>
      </p:pic>
      <p:sp>
        <p:nvSpPr>
          <p:cNvPr id="40" name="Text 31"/>
          <p:cNvSpPr/>
          <p:nvPr/>
        </p:nvSpPr>
        <p:spPr>
          <a:xfrm>
            <a:off x="2487168" y="5102352"/>
            <a:ext cx="7863840" cy="1005840"/>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Regulasi menegaskan satu hal: PAUD HI adalah kerja bersama lintas sektor, bukan tugas satu instansi. Gugus Tugas PAUD HI beranggotakan kementerian dan lembaga lintas bidang — pendidikan, kesehatan, sosial, agama, dalam negeri, desa, dan kependudukan.</a:t>
            </a:r>
            <a:endParaRPr lang="en-US" sz="1200" dirty="0"/>
          </a:p>
        </p:txBody>
      </p:sp>
      <p:sp>
        <p:nvSpPr>
          <p:cNvPr id="41" name="Text 32"/>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42" name="Text 33"/>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FDECEA">
              <a:alpha val="55000"/>
            </a:srgbClr>
          </a:solidFill>
          <a:ln/>
        </p:spPr>
      </p:sp>
      <p:sp>
        <p:nvSpPr>
          <p:cNvPr id="3" name="Shape 1"/>
          <p:cNvSpPr/>
          <p:nvPr/>
        </p:nvSpPr>
        <p:spPr>
          <a:xfrm>
            <a:off x="10820095" y="5303520"/>
            <a:ext cx="2926080" cy="2926080"/>
          </a:xfrm>
          <a:prstGeom prst="ellipse">
            <a:avLst/>
          </a:prstGeom>
          <a:solidFill>
            <a:srgbClr val="FDECEA">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E0574B"/>
                </a:solidFill>
                <a:latin typeface="Calibri" pitchFamily="34" charset="0"/>
                <a:ea typeface="Calibri" pitchFamily="34" charset="-122"/>
                <a:cs typeface="Calibri" pitchFamily="34" charset="-120"/>
              </a:rPr>
              <a:t>LURUSKAN DULU</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Miskonsepsi yang Sering Terjadi</a:t>
            </a:r>
            <a:endParaRPr lang="en-US" sz="3200" dirty="0"/>
          </a:p>
        </p:txBody>
      </p:sp>
      <p:sp>
        <p:nvSpPr>
          <p:cNvPr id="6" name="Text 4"/>
          <p:cNvSpPr/>
          <p:nvPr/>
        </p:nvSpPr>
        <p:spPr>
          <a:xfrm>
            <a:off x="658368" y="1463040"/>
            <a:ext cx="4754880" cy="274320"/>
          </a:xfrm>
          <a:prstGeom prst="rect">
            <a:avLst/>
          </a:prstGeom>
          <a:noFill/>
          <a:ln/>
        </p:spPr>
        <p:txBody>
          <a:bodyPr wrap="square" lIns="0" tIns="0" rIns="0" bIns="0" rtlCol="0" anchor="ctr"/>
          <a:lstStyle/>
          <a:p>
            <a:pPr indent="0" marL="0">
              <a:buNone/>
            </a:pPr>
            <a:r>
              <a:rPr lang="en-US" sz="1100" b="1" spc="200" kern="0" dirty="0">
                <a:solidFill>
                  <a:srgbClr val="E0574B"/>
                </a:solidFill>
                <a:latin typeface="Calibri" pitchFamily="34" charset="0"/>
                <a:ea typeface="Calibri" pitchFamily="34" charset="-122"/>
                <a:cs typeface="Calibri" pitchFamily="34" charset="-120"/>
              </a:rPr>
              <a:t>MITOS</a:t>
            </a:r>
            <a:endParaRPr lang="en-US" sz="1100" dirty="0"/>
          </a:p>
        </p:txBody>
      </p:sp>
      <p:sp>
        <p:nvSpPr>
          <p:cNvPr id="7" name="Text 5"/>
          <p:cNvSpPr/>
          <p:nvPr/>
        </p:nvSpPr>
        <p:spPr>
          <a:xfrm>
            <a:off x="6035040" y="1463040"/>
            <a:ext cx="5486400" cy="274320"/>
          </a:xfrm>
          <a:prstGeom prst="rect">
            <a:avLst/>
          </a:prstGeom>
          <a:noFill/>
          <a:ln/>
        </p:spPr>
        <p:txBody>
          <a:bodyPr wrap="square" lIns="0" tIns="0" rIns="0" bIns="0" rtlCol="0" anchor="ctr"/>
          <a:lstStyle/>
          <a:p>
            <a:pPr indent="0" marL="0">
              <a:buNone/>
            </a:pPr>
            <a:r>
              <a:rPr lang="en-US" sz="1100" b="1" spc="200" kern="0" dirty="0">
                <a:solidFill>
                  <a:srgbClr val="2FA36B"/>
                </a:solidFill>
                <a:latin typeface="Calibri" pitchFamily="34" charset="0"/>
                <a:ea typeface="Calibri" pitchFamily="34" charset="-122"/>
                <a:cs typeface="Calibri" pitchFamily="34" charset="-120"/>
              </a:rPr>
              <a:t>FAKTA</a:t>
            </a:r>
            <a:endParaRPr lang="en-US" sz="1100" dirty="0"/>
          </a:p>
        </p:txBody>
      </p:sp>
      <p:sp>
        <p:nvSpPr>
          <p:cNvPr id="8" name="Shape 6"/>
          <p:cNvSpPr/>
          <p:nvPr/>
        </p:nvSpPr>
        <p:spPr>
          <a:xfrm>
            <a:off x="566928" y="1773936"/>
            <a:ext cx="5029200" cy="896112"/>
          </a:xfrm>
          <a:prstGeom prst="roundRect">
            <a:avLst>
              <a:gd name="adj" fmla="val 14286"/>
            </a:avLst>
          </a:prstGeom>
          <a:solidFill>
            <a:srgbClr val="FDECEA"/>
          </a:solidFill>
          <a:ln w="12700">
            <a:solidFill>
              <a:srgbClr val="F6D6D2"/>
            </a:solidFill>
            <a:prstDash val="solid"/>
          </a:ln>
          <a:effectLst>
            <a:outerShdw sx="100000" sy="100000" kx="0" ky="0" algn="bl" rotWithShape="0" blurRad="177800" dist="38100" dir="5400000">
              <a:srgbClr val="0F3352">
                <a:alpha val="10000"/>
              </a:srgbClr>
            </a:outerShdw>
          </a:effectLst>
        </p:spPr>
      </p:sp>
      <p:pic>
        <p:nvPicPr>
          <p:cNvPr id="9" name="Image 0" descr="preencoded.png">    </p:cNvPr>
          <p:cNvPicPr>
            <a:picLocks noChangeAspect="1"/>
          </p:cNvPicPr>
          <p:nvPr/>
        </p:nvPicPr>
        <p:blipFill>
          <a:blip r:embed="rId1"/>
          <a:stretch>
            <a:fillRect/>
          </a:stretch>
        </p:blipFill>
        <p:spPr>
          <a:xfrm>
            <a:off x="786384" y="2048256"/>
            <a:ext cx="347472" cy="347472"/>
          </a:xfrm>
          <a:prstGeom prst="rect">
            <a:avLst/>
          </a:prstGeom>
        </p:spPr>
      </p:pic>
      <p:sp>
        <p:nvSpPr>
          <p:cNvPr id="10" name="Text 7"/>
          <p:cNvSpPr/>
          <p:nvPr/>
        </p:nvSpPr>
        <p:spPr>
          <a:xfrm>
            <a:off x="1261872" y="1901952"/>
            <a:ext cx="4206240" cy="658368"/>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PAUD HI adalah salah satu jenis lembaga PAUD.</a:t>
            </a:r>
            <a:endParaRPr lang="en-US" sz="1200" dirty="0"/>
          </a:p>
        </p:txBody>
      </p:sp>
      <p:sp>
        <p:nvSpPr>
          <p:cNvPr id="11" name="Shape 8"/>
          <p:cNvSpPr/>
          <p:nvPr/>
        </p:nvSpPr>
        <p:spPr>
          <a:xfrm>
            <a:off x="5705856" y="2084832"/>
            <a:ext cx="274320" cy="274320"/>
          </a:xfrm>
          <a:prstGeom prst="rightArrow">
            <a:avLst/>
          </a:prstGeom>
          <a:solidFill>
            <a:srgbClr val="7A93A8"/>
          </a:solidFill>
          <a:ln/>
        </p:spPr>
      </p:sp>
      <p:sp>
        <p:nvSpPr>
          <p:cNvPr id="12" name="Shape 9"/>
          <p:cNvSpPr/>
          <p:nvPr/>
        </p:nvSpPr>
        <p:spPr>
          <a:xfrm>
            <a:off x="6035040" y="1773936"/>
            <a:ext cx="5589727" cy="896112"/>
          </a:xfrm>
          <a:prstGeom prst="roundRect">
            <a:avLst>
              <a:gd name="adj" fmla="val 14286"/>
            </a:avLst>
          </a:prstGeom>
          <a:solidFill>
            <a:srgbClr val="E3F6EC"/>
          </a:solidFill>
          <a:ln w="12700">
            <a:solidFill>
              <a:srgbClr val="BCE8D1"/>
            </a:solidFill>
            <a:prstDash val="solid"/>
          </a:ln>
          <a:effectLst>
            <a:outerShdw sx="100000" sy="100000" kx="0" ky="0" algn="bl" rotWithShape="0" blurRad="177800" dist="38100" dir="5400000">
              <a:srgbClr val="0F3352">
                <a:alpha val="10000"/>
              </a:srgbClr>
            </a:outerShdw>
          </a:effectLst>
        </p:spPr>
      </p:sp>
      <p:pic>
        <p:nvPicPr>
          <p:cNvPr id="13" name="Image 1" descr="preencoded.png">    </p:cNvPr>
          <p:cNvPicPr>
            <a:picLocks noChangeAspect="1"/>
          </p:cNvPicPr>
          <p:nvPr/>
        </p:nvPicPr>
        <p:blipFill>
          <a:blip r:embed="rId2"/>
          <a:stretch>
            <a:fillRect/>
          </a:stretch>
        </p:blipFill>
        <p:spPr>
          <a:xfrm>
            <a:off x="6254496" y="2048256"/>
            <a:ext cx="347472" cy="347472"/>
          </a:xfrm>
          <a:prstGeom prst="rect">
            <a:avLst/>
          </a:prstGeom>
        </p:spPr>
      </p:pic>
      <p:sp>
        <p:nvSpPr>
          <p:cNvPr id="14" name="Text 10"/>
          <p:cNvSpPr/>
          <p:nvPr/>
        </p:nvSpPr>
        <p:spPr>
          <a:xfrm>
            <a:off x="6729984" y="1883664"/>
            <a:ext cx="4711903" cy="694944"/>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PAUD HI adalah pendekatan layanan yang dijalankan semua satuan PAUD — bukan jenis lembaga baru.</a:t>
            </a:r>
            <a:endParaRPr lang="en-US" sz="1200" dirty="0"/>
          </a:p>
        </p:txBody>
      </p:sp>
      <p:sp>
        <p:nvSpPr>
          <p:cNvPr id="15" name="Shape 11"/>
          <p:cNvSpPr/>
          <p:nvPr/>
        </p:nvSpPr>
        <p:spPr>
          <a:xfrm>
            <a:off x="566928" y="2798064"/>
            <a:ext cx="5029200" cy="896112"/>
          </a:xfrm>
          <a:prstGeom prst="roundRect">
            <a:avLst>
              <a:gd name="adj" fmla="val 14286"/>
            </a:avLst>
          </a:prstGeom>
          <a:solidFill>
            <a:srgbClr val="FDECEA"/>
          </a:solidFill>
          <a:ln w="12700">
            <a:solidFill>
              <a:srgbClr val="F6D6D2"/>
            </a:solidFill>
            <a:prstDash val="solid"/>
          </a:ln>
          <a:effectLst>
            <a:outerShdw sx="100000" sy="100000" kx="0" ky="0" algn="bl" rotWithShape="0" blurRad="177800" dist="38100" dir="5400000">
              <a:srgbClr val="0F3352">
                <a:alpha val="10000"/>
              </a:srgbClr>
            </a:outerShdw>
          </a:effectLst>
        </p:spPr>
      </p:sp>
      <p:pic>
        <p:nvPicPr>
          <p:cNvPr id="16" name="Image 2" descr="preencoded.png">    </p:cNvPr>
          <p:cNvPicPr>
            <a:picLocks noChangeAspect="1"/>
          </p:cNvPicPr>
          <p:nvPr/>
        </p:nvPicPr>
        <p:blipFill>
          <a:blip r:embed="rId3"/>
          <a:stretch>
            <a:fillRect/>
          </a:stretch>
        </p:blipFill>
        <p:spPr>
          <a:xfrm>
            <a:off x="786384" y="3072384"/>
            <a:ext cx="347472" cy="347472"/>
          </a:xfrm>
          <a:prstGeom prst="rect">
            <a:avLst/>
          </a:prstGeom>
        </p:spPr>
      </p:pic>
      <p:sp>
        <p:nvSpPr>
          <p:cNvPr id="17" name="Text 12"/>
          <p:cNvSpPr/>
          <p:nvPr/>
        </p:nvSpPr>
        <p:spPr>
          <a:xfrm>
            <a:off x="1261872" y="2926080"/>
            <a:ext cx="4206240" cy="658368"/>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PAUD HI adalah label atau predikat sekolah.</a:t>
            </a:r>
            <a:endParaRPr lang="en-US" sz="1200" dirty="0"/>
          </a:p>
        </p:txBody>
      </p:sp>
      <p:sp>
        <p:nvSpPr>
          <p:cNvPr id="18" name="Shape 13"/>
          <p:cNvSpPr/>
          <p:nvPr/>
        </p:nvSpPr>
        <p:spPr>
          <a:xfrm>
            <a:off x="5705856" y="3108960"/>
            <a:ext cx="274320" cy="274320"/>
          </a:xfrm>
          <a:prstGeom prst="rightArrow">
            <a:avLst/>
          </a:prstGeom>
          <a:solidFill>
            <a:srgbClr val="7A93A8"/>
          </a:solidFill>
          <a:ln/>
        </p:spPr>
      </p:sp>
      <p:sp>
        <p:nvSpPr>
          <p:cNvPr id="19" name="Shape 14"/>
          <p:cNvSpPr/>
          <p:nvPr/>
        </p:nvSpPr>
        <p:spPr>
          <a:xfrm>
            <a:off x="6035040" y="2798064"/>
            <a:ext cx="5589727" cy="896112"/>
          </a:xfrm>
          <a:prstGeom prst="roundRect">
            <a:avLst>
              <a:gd name="adj" fmla="val 14286"/>
            </a:avLst>
          </a:prstGeom>
          <a:solidFill>
            <a:srgbClr val="E3F6EC"/>
          </a:solidFill>
          <a:ln w="12700">
            <a:solidFill>
              <a:srgbClr val="BCE8D1"/>
            </a:solidFill>
            <a:prstDash val="solid"/>
          </a:ln>
          <a:effectLst>
            <a:outerShdw sx="100000" sy="100000" kx="0" ky="0" algn="bl" rotWithShape="0" blurRad="177800" dist="38100" dir="5400000">
              <a:srgbClr val="0F3352">
                <a:alpha val="10000"/>
              </a:srgbClr>
            </a:outerShdw>
          </a:effectLst>
        </p:spPr>
      </p:sp>
      <p:pic>
        <p:nvPicPr>
          <p:cNvPr id="20" name="Image 3" descr="preencoded.png">    </p:cNvPr>
          <p:cNvPicPr>
            <a:picLocks noChangeAspect="1"/>
          </p:cNvPicPr>
          <p:nvPr/>
        </p:nvPicPr>
        <p:blipFill>
          <a:blip r:embed="rId4"/>
          <a:stretch>
            <a:fillRect/>
          </a:stretch>
        </p:blipFill>
        <p:spPr>
          <a:xfrm>
            <a:off x="6254496" y="3072384"/>
            <a:ext cx="347472" cy="347472"/>
          </a:xfrm>
          <a:prstGeom prst="rect">
            <a:avLst/>
          </a:prstGeom>
        </p:spPr>
      </p:pic>
      <p:sp>
        <p:nvSpPr>
          <p:cNvPr id="21" name="Text 15"/>
          <p:cNvSpPr/>
          <p:nvPr/>
        </p:nvSpPr>
        <p:spPr>
          <a:xfrm>
            <a:off x="6729984" y="2907792"/>
            <a:ext cx="4711903" cy="694944"/>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PAUD HI bukan label; ia terlihat dari praktik pemenuhan kebutuhan esensial anak sehari-hari.</a:t>
            </a:r>
            <a:endParaRPr lang="en-US" sz="1200" dirty="0"/>
          </a:p>
        </p:txBody>
      </p:sp>
      <p:sp>
        <p:nvSpPr>
          <p:cNvPr id="22" name="Shape 16"/>
          <p:cNvSpPr/>
          <p:nvPr/>
        </p:nvSpPr>
        <p:spPr>
          <a:xfrm>
            <a:off x="566928" y="3822192"/>
            <a:ext cx="5029200" cy="896112"/>
          </a:xfrm>
          <a:prstGeom prst="roundRect">
            <a:avLst>
              <a:gd name="adj" fmla="val 14286"/>
            </a:avLst>
          </a:prstGeom>
          <a:solidFill>
            <a:srgbClr val="FDECEA"/>
          </a:solidFill>
          <a:ln w="12700">
            <a:solidFill>
              <a:srgbClr val="F6D6D2"/>
            </a:solidFill>
            <a:prstDash val="solid"/>
          </a:ln>
          <a:effectLst>
            <a:outerShdw sx="100000" sy="100000" kx="0" ky="0" algn="bl" rotWithShape="0" blurRad="177800" dist="38100" dir="5400000">
              <a:srgbClr val="0F3352">
                <a:alpha val="10000"/>
              </a:srgbClr>
            </a:outerShdw>
          </a:effectLst>
        </p:spPr>
      </p:sp>
      <p:pic>
        <p:nvPicPr>
          <p:cNvPr id="23" name="Image 4" descr="preencoded.png">    </p:cNvPr>
          <p:cNvPicPr>
            <a:picLocks noChangeAspect="1"/>
          </p:cNvPicPr>
          <p:nvPr/>
        </p:nvPicPr>
        <p:blipFill>
          <a:blip r:embed="rId5"/>
          <a:stretch>
            <a:fillRect/>
          </a:stretch>
        </p:blipFill>
        <p:spPr>
          <a:xfrm>
            <a:off x="786384" y="4096512"/>
            <a:ext cx="347472" cy="347472"/>
          </a:xfrm>
          <a:prstGeom prst="rect">
            <a:avLst/>
          </a:prstGeom>
        </p:spPr>
      </p:pic>
      <p:sp>
        <p:nvSpPr>
          <p:cNvPr id="24" name="Text 17"/>
          <p:cNvSpPr/>
          <p:nvPr/>
        </p:nvSpPr>
        <p:spPr>
          <a:xfrm>
            <a:off x="1261872" y="3950208"/>
            <a:ext cx="4206240" cy="658368"/>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PAUD HI hanya tugas dinas pendidikan.</a:t>
            </a:r>
            <a:endParaRPr lang="en-US" sz="1200" dirty="0"/>
          </a:p>
        </p:txBody>
      </p:sp>
      <p:sp>
        <p:nvSpPr>
          <p:cNvPr id="25" name="Shape 18"/>
          <p:cNvSpPr/>
          <p:nvPr/>
        </p:nvSpPr>
        <p:spPr>
          <a:xfrm>
            <a:off x="5705856" y="4133088"/>
            <a:ext cx="274320" cy="274320"/>
          </a:xfrm>
          <a:prstGeom prst="rightArrow">
            <a:avLst/>
          </a:prstGeom>
          <a:solidFill>
            <a:srgbClr val="7A93A8"/>
          </a:solidFill>
          <a:ln/>
        </p:spPr>
      </p:sp>
      <p:sp>
        <p:nvSpPr>
          <p:cNvPr id="26" name="Shape 19"/>
          <p:cNvSpPr/>
          <p:nvPr/>
        </p:nvSpPr>
        <p:spPr>
          <a:xfrm>
            <a:off x="6035040" y="3822192"/>
            <a:ext cx="5589727" cy="896112"/>
          </a:xfrm>
          <a:prstGeom prst="roundRect">
            <a:avLst>
              <a:gd name="adj" fmla="val 14286"/>
            </a:avLst>
          </a:prstGeom>
          <a:solidFill>
            <a:srgbClr val="E3F6EC"/>
          </a:solidFill>
          <a:ln w="12700">
            <a:solidFill>
              <a:srgbClr val="BCE8D1"/>
            </a:solidFill>
            <a:prstDash val="solid"/>
          </a:ln>
          <a:effectLst>
            <a:outerShdw sx="100000" sy="100000" kx="0" ky="0" algn="bl" rotWithShape="0" blurRad="177800" dist="38100" dir="5400000">
              <a:srgbClr val="0F3352">
                <a:alpha val="10000"/>
              </a:srgbClr>
            </a:outerShdw>
          </a:effectLst>
        </p:spPr>
      </p:sp>
      <p:pic>
        <p:nvPicPr>
          <p:cNvPr id="27" name="Image 5" descr="preencoded.png">    </p:cNvPr>
          <p:cNvPicPr>
            <a:picLocks noChangeAspect="1"/>
          </p:cNvPicPr>
          <p:nvPr/>
        </p:nvPicPr>
        <p:blipFill>
          <a:blip r:embed="rId6"/>
          <a:stretch>
            <a:fillRect/>
          </a:stretch>
        </p:blipFill>
        <p:spPr>
          <a:xfrm>
            <a:off x="6254496" y="4096512"/>
            <a:ext cx="347472" cy="347472"/>
          </a:xfrm>
          <a:prstGeom prst="rect">
            <a:avLst/>
          </a:prstGeom>
        </p:spPr>
      </p:pic>
      <p:sp>
        <p:nvSpPr>
          <p:cNvPr id="28" name="Text 20"/>
          <p:cNvSpPr/>
          <p:nvPr/>
        </p:nvSpPr>
        <p:spPr>
          <a:xfrm>
            <a:off x="6729984" y="3931920"/>
            <a:ext cx="4711903" cy="694944"/>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PAUD HI dijalankan lintas sektor: kesehatan, sosial, dukcapil, desa, dan masyarakat.</a:t>
            </a:r>
            <a:endParaRPr lang="en-US" sz="1200" dirty="0"/>
          </a:p>
        </p:txBody>
      </p:sp>
      <p:sp>
        <p:nvSpPr>
          <p:cNvPr id="29" name="Shape 21"/>
          <p:cNvSpPr/>
          <p:nvPr/>
        </p:nvSpPr>
        <p:spPr>
          <a:xfrm>
            <a:off x="566928" y="4846320"/>
            <a:ext cx="5029200" cy="896112"/>
          </a:xfrm>
          <a:prstGeom prst="roundRect">
            <a:avLst>
              <a:gd name="adj" fmla="val 14286"/>
            </a:avLst>
          </a:prstGeom>
          <a:solidFill>
            <a:srgbClr val="FDECEA"/>
          </a:solidFill>
          <a:ln w="12700">
            <a:solidFill>
              <a:srgbClr val="F6D6D2"/>
            </a:solidFill>
            <a:prstDash val="solid"/>
          </a:ln>
          <a:effectLst>
            <a:outerShdw sx="100000" sy="100000" kx="0" ky="0" algn="bl" rotWithShape="0" blurRad="177800" dist="38100" dir="5400000">
              <a:srgbClr val="0F3352">
                <a:alpha val="10000"/>
              </a:srgbClr>
            </a:outerShdw>
          </a:effectLst>
        </p:spPr>
      </p:sp>
      <p:pic>
        <p:nvPicPr>
          <p:cNvPr id="30" name="Image 6" descr="preencoded.png">    </p:cNvPr>
          <p:cNvPicPr>
            <a:picLocks noChangeAspect="1"/>
          </p:cNvPicPr>
          <p:nvPr/>
        </p:nvPicPr>
        <p:blipFill>
          <a:blip r:embed="rId7"/>
          <a:stretch>
            <a:fillRect/>
          </a:stretch>
        </p:blipFill>
        <p:spPr>
          <a:xfrm>
            <a:off x="786384" y="5120640"/>
            <a:ext cx="347472" cy="347472"/>
          </a:xfrm>
          <a:prstGeom prst="rect">
            <a:avLst/>
          </a:prstGeom>
        </p:spPr>
      </p:pic>
      <p:sp>
        <p:nvSpPr>
          <p:cNvPr id="31" name="Text 22"/>
          <p:cNvSpPr/>
          <p:nvPr/>
        </p:nvSpPr>
        <p:spPr>
          <a:xfrm>
            <a:off x="1261872" y="4974336"/>
            <a:ext cx="4206240" cy="658368"/>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PAUD HI menjadi tugas utama guru.</a:t>
            </a:r>
            <a:endParaRPr lang="en-US" sz="1200" dirty="0"/>
          </a:p>
        </p:txBody>
      </p:sp>
      <p:sp>
        <p:nvSpPr>
          <p:cNvPr id="32" name="Shape 23"/>
          <p:cNvSpPr/>
          <p:nvPr/>
        </p:nvSpPr>
        <p:spPr>
          <a:xfrm>
            <a:off x="5705856" y="5157216"/>
            <a:ext cx="274320" cy="274320"/>
          </a:xfrm>
          <a:prstGeom prst="rightArrow">
            <a:avLst/>
          </a:prstGeom>
          <a:solidFill>
            <a:srgbClr val="7A93A8"/>
          </a:solidFill>
          <a:ln/>
        </p:spPr>
      </p:sp>
      <p:sp>
        <p:nvSpPr>
          <p:cNvPr id="33" name="Shape 24"/>
          <p:cNvSpPr/>
          <p:nvPr/>
        </p:nvSpPr>
        <p:spPr>
          <a:xfrm>
            <a:off x="6035040" y="4846320"/>
            <a:ext cx="5589727" cy="896112"/>
          </a:xfrm>
          <a:prstGeom prst="roundRect">
            <a:avLst>
              <a:gd name="adj" fmla="val 14286"/>
            </a:avLst>
          </a:prstGeom>
          <a:solidFill>
            <a:srgbClr val="E3F6EC"/>
          </a:solidFill>
          <a:ln w="12700">
            <a:solidFill>
              <a:srgbClr val="BCE8D1"/>
            </a:solidFill>
            <a:prstDash val="solid"/>
          </a:ln>
          <a:effectLst>
            <a:outerShdw sx="100000" sy="100000" kx="0" ky="0" algn="bl" rotWithShape="0" blurRad="177800" dist="38100" dir="5400000">
              <a:srgbClr val="0F3352">
                <a:alpha val="10000"/>
              </a:srgbClr>
            </a:outerShdw>
          </a:effectLst>
        </p:spPr>
      </p:sp>
      <p:pic>
        <p:nvPicPr>
          <p:cNvPr id="34" name="Image 7" descr="preencoded.png">    </p:cNvPr>
          <p:cNvPicPr>
            <a:picLocks noChangeAspect="1"/>
          </p:cNvPicPr>
          <p:nvPr/>
        </p:nvPicPr>
        <p:blipFill>
          <a:blip r:embed="rId8"/>
          <a:stretch>
            <a:fillRect/>
          </a:stretch>
        </p:blipFill>
        <p:spPr>
          <a:xfrm>
            <a:off x="6254496" y="5120640"/>
            <a:ext cx="347472" cy="347472"/>
          </a:xfrm>
          <a:prstGeom prst="rect">
            <a:avLst/>
          </a:prstGeom>
        </p:spPr>
      </p:pic>
      <p:sp>
        <p:nvSpPr>
          <p:cNvPr id="35" name="Text 25"/>
          <p:cNvSpPr/>
          <p:nvPr/>
        </p:nvSpPr>
        <p:spPr>
          <a:xfrm>
            <a:off x="6729984" y="4956048"/>
            <a:ext cx="4711903" cy="694944"/>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Guru berperan sebagai penghubung layanan, bukan pelaksana tunggal seluruh layanan.</a:t>
            </a:r>
            <a:endParaRPr lang="en-US" sz="1200" dirty="0"/>
          </a:p>
        </p:txBody>
      </p:sp>
      <p:sp>
        <p:nvSpPr>
          <p:cNvPr id="36" name="Text 26"/>
          <p:cNvSpPr/>
          <p:nvPr/>
        </p:nvSpPr>
        <p:spPr>
          <a:xfrm>
            <a:off x="566928" y="5815584"/>
            <a:ext cx="11057839" cy="365760"/>
          </a:xfrm>
          <a:prstGeom prst="rect">
            <a:avLst/>
          </a:prstGeom>
          <a:noFill/>
          <a:ln/>
        </p:spPr>
        <p:txBody>
          <a:bodyPr wrap="square" lIns="0" tIns="0" rIns="0" bIns="0" rtlCol="0" anchor="ctr"/>
          <a:lstStyle/>
          <a:p>
            <a:pPr algn="ctr" indent="0" marL="0">
              <a:buNone/>
            </a:pPr>
            <a:r>
              <a:rPr lang="en-US" sz="1300" b="1" dirty="0">
                <a:solidFill>
                  <a:srgbClr val="173753"/>
                </a:solidFill>
                <a:latin typeface="Calibri" pitchFamily="34" charset="0"/>
                <a:ea typeface="Calibri" pitchFamily="34" charset="-122"/>
                <a:cs typeface="Calibri" pitchFamily="34" charset="-120"/>
              </a:rPr>
              <a:t>Kesimpulannya: PAUD HI adalah cara kerja bersama, bukan status, bukan beban satu orang.</a:t>
            </a:r>
            <a:endParaRPr lang="en-US" sz="1300" dirty="0"/>
          </a:p>
        </p:txBody>
      </p:sp>
      <p:sp>
        <p:nvSpPr>
          <p:cNvPr id="37" name="Text 27"/>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38" name="Text 28"/>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E3F6EC">
              <a:alpha val="55000"/>
            </a:srgbClr>
          </a:solidFill>
          <a:ln/>
        </p:spPr>
      </p:sp>
      <p:sp>
        <p:nvSpPr>
          <p:cNvPr id="3" name="Shape 1"/>
          <p:cNvSpPr/>
          <p:nvPr/>
        </p:nvSpPr>
        <p:spPr>
          <a:xfrm>
            <a:off x="10820095" y="5303520"/>
            <a:ext cx="2926080" cy="2926080"/>
          </a:xfrm>
          <a:prstGeom prst="ellipse">
            <a:avLst/>
          </a:prstGeom>
          <a:solidFill>
            <a:srgbClr val="E3F6EC">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2FA36B"/>
                </a:solidFill>
                <a:latin typeface="Calibri" pitchFamily="34" charset="0"/>
                <a:ea typeface="Calibri" pitchFamily="34" charset="-122"/>
                <a:cs typeface="Calibri" pitchFamily="34" charset="-120"/>
              </a:rPr>
              <a:t>UKURAN DI SATUAN</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Delapan Indikator PAUD HI di Satuan PAUD</a:t>
            </a:r>
            <a:endParaRPr lang="en-US" sz="3200" dirty="0"/>
          </a:p>
        </p:txBody>
      </p:sp>
      <p:pic>
        <p:nvPicPr>
          <p:cNvPr id="6" name="Image 0" descr="preencoded.png">    </p:cNvPr>
          <p:cNvPicPr>
            <a:picLocks noChangeAspect="1"/>
          </p:cNvPicPr>
          <p:nvPr/>
        </p:nvPicPr>
        <p:blipFill>
          <a:blip r:embed="rId1"/>
          <a:stretch>
            <a:fillRect/>
          </a:stretch>
        </p:blipFill>
        <p:spPr>
          <a:xfrm>
            <a:off x="636645" y="1536192"/>
            <a:ext cx="4121669" cy="4114800"/>
          </a:xfrm>
          <a:prstGeom prst="rect">
            <a:avLst/>
          </a:prstGeom>
        </p:spPr>
      </p:pic>
      <p:sp>
        <p:nvSpPr>
          <p:cNvPr id="7" name="Shape 4"/>
          <p:cNvSpPr/>
          <p:nvPr/>
        </p:nvSpPr>
        <p:spPr>
          <a:xfrm>
            <a:off x="4937760" y="1481328"/>
            <a:ext cx="3346704" cy="950976"/>
          </a:xfrm>
          <a:prstGeom prst="roundRect">
            <a:avLst>
              <a:gd name="adj" fmla="val 13462"/>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8" name="Shape 5"/>
          <p:cNvSpPr/>
          <p:nvPr/>
        </p:nvSpPr>
        <p:spPr>
          <a:xfrm>
            <a:off x="5120640" y="1709928"/>
            <a:ext cx="493776" cy="493776"/>
          </a:xfrm>
          <a:prstGeom prst="ellipse">
            <a:avLst>
              <a:gd name="adj" fmla="val 22222"/>
            </a:avLst>
          </a:prstGeom>
          <a:solidFill>
            <a:srgbClr val="1E76C8"/>
          </a:solidFill>
          <a:ln w="12700">
            <a:solidFill>
              <a:srgbClr val="333333"/>
            </a:solidFill>
            <a:prstDash val="solid"/>
          </a:ln>
        </p:spPr>
      </p:sp>
      <p:pic>
        <p:nvPicPr>
          <p:cNvPr id="9" name="Image 1" descr="preencoded.png">    </p:cNvPr>
          <p:cNvPicPr>
            <a:picLocks noChangeAspect="1"/>
          </p:cNvPicPr>
          <p:nvPr/>
        </p:nvPicPr>
        <p:blipFill>
          <a:blip r:embed="rId2"/>
          <a:stretch>
            <a:fillRect/>
          </a:stretch>
        </p:blipFill>
        <p:spPr>
          <a:xfrm>
            <a:off x="5239146" y="1828434"/>
            <a:ext cx="256764" cy="256764"/>
          </a:xfrm>
          <a:prstGeom prst="rect">
            <a:avLst/>
          </a:prstGeom>
        </p:spPr>
      </p:pic>
      <p:sp>
        <p:nvSpPr>
          <p:cNvPr id="10" name="Text 6"/>
          <p:cNvSpPr/>
          <p:nvPr/>
        </p:nvSpPr>
        <p:spPr>
          <a:xfrm>
            <a:off x="5724144" y="1572768"/>
            <a:ext cx="2377440" cy="384048"/>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1. Kelas Orang Tua</a:t>
            </a:r>
            <a:endParaRPr lang="en-US" sz="1250" dirty="0"/>
          </a:p>
        </p:txBody>
      </p:sp>
      <p:sp>
        <p:nvSpPr>
          <p:cNvPr id="11" name="Text 7"/>
          <p:cNvSpPr/>
          <p:nvPr/>
        </p:nvSpPr>
        <p:spPr>
          <a:xfrm>
            <a:off x="5724144" y="1956816"/>
            <a:ext cx="2377440" cy="402336"/>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Wadah berbagi informasi kebutuhan esensial anak.</a:t>
            </a:r>
            <a:endParaRPr lang="en-US" sz="1000" dirty="0"/>
          </a:p>
        </p:txBody>
      </p:sp>
      <p:sp>
        <p:nvSpPr>
          <p:cNvPr id="12" name="Shape 8"/>
          <p:cNvSpPr/>
          <p:nvPr/>
        </p:nvSpPr>
        <p:spPr>
          <a:xfrm>
            <a:off x="8503920" y="1481328"/>
            <a:ext cx="3346704" cy="950976"/>
          </a:xfrm>
          <a:prstGeom prst="roundRect">
            <a:avLst>
              <a:gd name="adj" fmla="val 13462"/>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3" name="Shape 9"/>
          <p:cNvSpPr/>
          <p:nvPr/>
        </p:nvSpPr>
        <p:spPr>
          <a:xfrm>
            <a:off x="8686800" y="1709928"/>
            <a:ext cx="493776" cy="493776"/>
          </a:xfrm>
          <a:prstGeom prst="ellipse">
            <a:avLst>
              <a:gd name="adj" fmla="val 22222"/>
            </a:avLst>
          </a:prstGeom>
          <a:solidFill>
            <a:srgbClr val="2FA36B"/>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8805306" y="1828434"/>
            <a:ext cx="256764" cy="256764"/>
          </a:xfrm>
          <a:prstGeom prst="rect">
            <a:avLst/>
          </a:prstGeom>
        </p:spPr>
      </p:pic>
      <p:sp>
        <p:nvSpPr>
          <p:cNvPr id="15" name="Text 10"/>
          <p:cNvSpPr/>
          <p:nvPr/>
        </p:nvSpPr>
        <p:spPr>
          <a:xfrm>
            <a:off x="9290304" y="1572768"/>
            <a:ext cx="2377440" cy="384048"/>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2. Pemantauan Pertumbuhan</a:t>
            </a:r>
            <a:endParaRPr lang="en-US" sz="1250" dirty="0"/>
          </a:p>
        </p:txBody>
      </p:sp>
      <p:sp>
        <p:nvSpPr>
          <p:cNvPr id="16" name="Text 11"/>
          <p:cNvSpPr/>
          <p:nvPr/>
        </p:nvSpPr>
        <p:spPr>
          <a:xfrm>
            <a:off x="9290304" y="1956816"/>
            <a:ext cx="2377440" cy="402336"/>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Berat badan, tinggi badan, dan lingkar kepala.</a:t>
            </a:r>
            <a:endParaRPr lang="en-US" sz="1000" dirty="0"/>
          </a:p>
        </p:txBody>
      </p:sp>
      <p:sp>
        <p:nvSpPr>
          <p:cNvPr id="17" name="Shape 12"/>
          <p:cNvSpPr/>
          <p:nvPr/>
        </p:nvSpPr>
        <p:spPr>
          <a:xfrm>
            <a:off x="4937760" y="2551176"/>
            <a:ext cx="3346704" cy="950976"/>
          </a:xfrm>
          <a:prstGeom prst="roundRect">
            <a:avLst>
              <a:gd name="adj" fmla="val 13462"/>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8" name="Shape 13"/>
          <p:cNvSpPr/>
          <p:nvPr/>
        </p:nvSpPr>
        <p:spPr>
          <a:xfrm>
            <a:off x="5120640" y="2779776"/>
            <a:ext cx="493776" cy="493776"/>
          </a:xfrm>
          <a:prstGeom prst="ellipse">
            <a:avLst>
              <a:gd name="adj" fmla="val 22222"/>
            </a:avLst>
          </a:prstGeom>
          <a:solidFill>
            <a:srgbClr val="F5871F"/>
          </a:solidFill>
          <a:ln w="12700">
            <a:solidFill>
              <a:srgbClr val="333333"/>
            </a:solidFill>
            <a:prstDash val="solid"/>
          </a:ln>
        </p:spPr>
      </p:sp>
      <p:pic>
        <p:nvPicPr>
          <p:cNvPr id="19" name="Image 3" descr="preencoded.png">    </p:cNvPr>
          <p:cNvPicPr>
            <a:picLocks noChangeAspect="1"/>
          </p:cNvPicPr>
          <p:nvPr/>
        </p:nvPicPr>
        <p:blipFill>
          <a:blip r:embed="rId4"/>
          <a:stretch>
            <a:fillRect/>
          </a:stretch>
        </p:blipFill>
        <p:spPr>
          <a:xfrm>
            <a:off x="5239146" y="2898282"/>
            <a:ext cx="256764" cy="256764"/>
          </a:xfrm>
          <a:prstGeom prst="rect">
            <a:avLst/>
          </a:prstGeom>
        </p:spPr>
      </p:pic>
      <p:sp>
        <p:nvSpPr>
          <p:cNvPr id="20" name="Text 14"/>
          <p:cNvSpPr/>
          <p:nvPr/>
        </p:nvSpPr>
        <p:spPr>
          <a:xfrm>
            <a:off x="5724144" y="2642616"/>
            <a:ext cx="2377440" cy="384048"/>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3. Pemantauan Perkembangan</a:t>
            </a:r>
            <a:endParaRPr lang="en-US" sz="1250" dirty="0"/>
          </a:p>
        </p:txBody>
      </p:sp>
      <p:sp>
        <p:nvSpPr>
          <p:cNvPr id="21" name="Text 15"/>
          <p:cNvSpPr/>
          <p:nvPr/>
        </p:nvSpPr>
        <p:spPr>
          <a:xfrm>
            <a:off x="5724144" y="3026664"/>
            <a:ext cx="2377440" cy="402336"/>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DDTK/KPSP/KMS/KIA/KKA secara berkala.</a:t>
            </a:r>
            <a:endParaRPr lang="en-US" sz="1000" dirty="0"/>
          </a:p>
        </p:txBody>
      </p:sp>
      <p:sp>
        <p:nvSpPr>
          <p:cNvPr id="22" name="Shape 16"/>
          <p:cNvSpPr/>
          <p:nvPr/>
        </p:nvSpPr>
        <p:spPr>
          <a:xfrm>
            <a:off x="8503920" y="2551176"/>
            <a:ext cx="3346704" cy="950976"/>
          </a:xfrm>
          <a:prstGeom prst="roundRect">
            <a:avLst>
              <a:gd name="adj" fmla="val 13462"/>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3" name="Shape 17"/>
          <p:cNvSpPr/>
          <p:nvPr/>
        </p:nvSpPr>
        <p:spPr>
          <a:xfrm>
            <a:off x="8686800" y="2779776"/>
            <a:ext cx="493776" cy="493776"/>
          </a:xfrm>
          <a:prstGeom prst="ellipse">
            <a:avLst>
              <a:gd name="adj" fmla="val 22222"/>
            </a:avLst>
          </a:prstGeom>
          <a:solidFill>
            <a:srgbClr val="7A66B8"/>
          </a:solidFill>
          <a:ln w="12700">
            <a:solidFill>
              <a:srgbClr val="333333"/>
            </a:solidFill>
            <a:prstDash val="solid"/>
          </a:ln>
        </p:spPr>
      </p:sp>
      <p:pic>
        <p:nvPicPr>
          <p:cNvPr id="24" name="Image 4" descr="preencoded.png">    </p:cNvPr>
          <p:cNvPicPr>
            <a:picLocks noChangeAspect="1"/>
          </p:cNvPicPr>
          <p:nvPr/>
        </p:nvPicPr>
        <p:blipFill>
          <a:blip r:embed="rId5"/>
          <a:stretch>
            <a:fillRect/>
          </a:stretch>
        </p:blipFill>
        <p:spPr>
          <a:xfrm>
            <a:off x="8805306" y="2898282"/>
            <a:ext cx="256764" cy="256764"/>
          </a:xfrm>
          <a:prstGeom prst="rect">
            <a:avLst/>
          </a:prstGeom>
        </p:spPr>
      </p:pic>
      <p:sp>
        <p:nvSpPr>
          <p:cNvPr id="25" name="Text 18"/>
          <p:cNvSpPr/>
          <p:nvPr/>
        </p:nvSpPr>
        <p:spPr>
          <a:xfrm>
            <a:off x="9290304" y="2642616"/>
            <a:ext cx="2377440" cy="384048"/>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4. Koordinasi Lintas Sektor</a:t>
            </a:r>
            <a:endParaRPr lang="en-US" sz="1250" dirty="0"/>
          </a:p>
        </p:txBody>
      </p:sp>
      <p:sp>
        <p:nvSpPr>
          <p:cNvPr id="26" name="Text 19"/>
          <p:cNvSpPr/>
          <p:nvPr/>
        </p:nvSpPr>
        <p:spPr>
          <a:xfrm>
            <a:off x="9290304" y="3026664"/>
            <a:ext cx="2377440" cy="402336"/>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Bersama unit lain terkait kesehatan dan gizi.</a:t>
            </a:r>
            <a:endParaRPr lang="en-US" sz="1000" dirty="0"/>
          </a:p>
        </p:txBody>
      </p:sp>
      <p:sp>
        <p:nvSpPr>
          <p:cNvPr id="27" name="Shape 20"/>
          <p:cNvSpPr/>
          <p:nvPr/>
        </p:nvSpPr>
        <p:spPr>
          <a:xfrm>
            <a:off x="4937760" y="3621024"/>
            <a:ext cx="3346704" cy="950976"/>
          </a:xfrm>
          <a:prstGeom prst="roundRect">
            <a:avLst>
              <a:gd name="adj" fmla="val 13462"/>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8" name="Shape 21"/>
          <p:cNvSpPr/>
          <p:nvPr/>
        </p:nvSpPr>
        <p:spPr>
          <a:xfrm>
            <a:off x="5120640" y="3849624"/>
            <a:ext cx="493776" cy="493776"/>
          </a:xfrm>
          <a:prstGeom prst="ellipse">
            <a:avLst>
              <a:gd name="adj" fmla="val 22222"/>
            </a:avLst>
          </a:prstGeom>
          <a:solidFill>
            <a:srgbClr val="1F9C9C"/>
          </a:solidFill>
          <a:ln w="12700">
            <a:solidFill>
              <a:srgbClr val="333333"/>
            </a:solidFill>
            <a:prstDash val="solid"/>
          </a:ln>
        </p:spPr>
      </p:sp>
      <p:pic>
        <p:nvPicPr>
          <p:cNvPr id="29" name="Image 5" descr="preencoded.png">    </p:cNvPr>
          <p:cNvPicPr>
            <a:picLocks noChangeAspect="1"/>
          </p:cNvPicPr>
          <p:nvPr/>
        </p:nvPicPr>
        <p:blipFill>
          <a:blip r:embed="rId6"/>
          <a:stretch>
            <a:fillRect/>
          </a:stretch>
        </p:blipFill>
        <p:spPr>
          <a:xfrm>
            <a:off x="5239146" y="3968130"/>
            <a:ext cx="256764" cy="256764"/>
          </a:xfrm>
          <a:prstGeom prst="rect">
            <a:avLst/>
          </a:prstGeom>
        </p:spPr>
      </p:pic>
      <p:sp>
        <p:nvSpPr>
          <p:cNvPr id="30" name="Text 22"/>
          <p:cNvSpPr/>
          <p:nvPr/>
        </p:nvSpPr>
        <p:spPr>
          <a:xfrm>
            <a:off x="5724144" y="3712464"/>
            <a:ext cx="2377440" cy="384048"/>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5. Penerapan PHBS</a:t>
            </a:r>
            <a:endParaRPr lang="en-US" sz="1250" dirty="0"/>
          </a:p>
        </p:txBody>
      </p:sp>
      <p:sp>
        <p:nvSpPr>
          <p:cNvPr id="31" name="Text 23"/>
          <p:cNvSpPr/>
          <p:nvPr/>
        </p:nvSpPr>
        <p:spPr>
          <a:xfrm>
            <a:off x="5724144" y="4096512"/>
            <a:ext cx="2377440" cy="402336"/>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Perilaku hidup bersih dan sehat melalui pembiasaan.</a:t>
            </a:r>
            <a:endParaRPr lang="en-US" sz="1000" dirty="0"/>
          </a:p>
        </p:txBody>
      </p:sp>
      <p:sp>
        <p:nvSpPr>
          <p:cNvPr id="32" name="Shape 24"/>
          <p:cNvSpPr/>
          <p:nvPr/>
        </p:nvSpPr>
        <p:spPr>
          <a:xfrm>
            <a:off x="8503920" y="3621024"/>
            <a:ext cx="3346704" cy="950976"/>
          </a:xfrm>
          <a:prstGeom prst="roundRect">
            <a:avLst>
              <a:gd name="adj" fmla="val 13462"/>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3" name="Shape 25"/>
          <p:cNvSpPr/>
          <p:nvPr/>
        </p:nvSpPr>
        <p:spPr>
          <a:xfrm>
            <a:off x="8686800" y="3849624"/>
            <a:ext cx="493776" cy="493776"/>
          </a:xfrm>
          <a:prstGeom prst="ellipse">
            <a:avLst>
              <a:gd name="adj" fmla="val 22222"/>
            </a:avLst>
          </a:prstGeom>
          <a:solidFill>
            <a:srgbClr val="E0574B"/>
          </a:solidFill>
          <a:ln w="12700">
            <a:solidFill>
              <a:srgbClr val="333333"/>
            </a:solidFill>
            <a:prstDash val="solid"/>
          </a:ln>
        </p:spPr>
      </p:sp>
      <p:pic>
        <p:nvPicPr>
          <p:cNvPr id="34" name="Image 6" descr="preencoded.png">    </p:cNvPr>
          <p:cNvPicPr>
            <a:picLocks noChangeAspect="1"/>
          </p:cNvPicPr>
          <p:nvPr/>
        </p:nvPicPr>
        <p:blipFill>
          <a:blip r:embed="rId7"/>
          <a:stretch>
            <a:fillRect/>
          </a:stretch>
        </p:blipFill>
        <p:spPr>
          <a:xfrm>
            <a:off x="8805306" y="3968130"/>
            <a:ext cx="256764" cy="256764"/>
          </a:xfrm>
          <a:prstGeom prst="rect">
            <a:avLst/>
          </a:prstGeom>
        </p:spPr>
      </p:pic>
      <p:sp>
        <p:nvSpPr>
          <p:cNvPr id="35" name="Text 26"/>
          <p:cNvSpPr/>
          <p:nvPr/>
        </p:nvSpPr>
        <p:spPr>
          <a:xfrm>
            <a:off x="9290304" y="3712464"/>
            <a:ext cx="2377440" cy="384048"/>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6. PMT &amp; Makanan Bergizi</a:t>
            </a:r>
            <a:endParaRPr lang="en-US" sz="1250" dirty="0"/>
          </a:p>
        </p:txBody>
      </p:sp>
      <p:sp>
        <p:nvSpPr>
          <p:cNvPr id="36" name="Text 27"/>
          <p:cNvSpPr/>
          <p:nvPr/>
        </p:nvSpPr>
        <p:spPr>
          <a:xfrm>
            <a:off x="9290304" y="4096512"/>
            <a:ext cx="2377440" cy="402336"/>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Diberikan berkala, minimal tiga bulan sekali.</a:t>
            </a:r>
            <a:endParaRPr lang="en-US" sz="1000" dirty="0"/>
          </a:p>
        </p:txBody>
      </p:sp>
      <p:sp>
        <p:nvSpPr>
          <p:cNvPr id="37" name="Shape 28"/>
          <p:cNvSpPr/>
          <p:nvPr/>
        </p:nvSpPr>
        <p:spPr>
          <a:xfrm>
            <a:off x="4937760" y="4690872"/>
            <a:ext cx="3346704" cy="950976"/>
          </a:xfrm>
          <a:prstGeom prst="roundRect">
            <a:avLst>
              <a:gd name="adj" fmla="val 13462"/>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8" name="Shape 29"/>
          <p:cNvSpPr/>
          <p:nvPr/>
        </p:nvSpPr>
        <p:spPr>
          <a:xfrm>
            <a:off x="5120640" y="4919472"/>
            <a:ext cx="493776" cy="493776"/>
          </a:xfrm>
          <a:prstGeom prst="ellipse">
            <a:avLst>
              <a:gd name="adj" fmla="val 22222"/>
            </a:avLst>
          </a:prstGeom>
          <a:solidFill>
            <a:srgbClr val="0F4C88"/>
          </a:solidFill>
          <a:ln w="12700">
            <a:solidFill>
              <a:srgbClr val="333333"/>
            </a:solidFill>
            <a:prstDash val="solid"/>
          </a:ln>
        </p:spPr>
      </p:sp>
      <p:pic>
        <p:nvPicPr>
          <p:cNvPr id="39" name="Image 7" descr="preencoded.png">    </p:cNvPr>
          <p:cNvPicPr>
            <a:picLocks noChangeAspect="1"/>
          </p:cNvPicPr>
          <p:nvPr/>
        </p:nvPicPr>
        <p:blipFill>
          <a:blip r:embed="rId8"/>
          <a:stretch>
            <a:fillRect/>
          </a:stretch>
        </p:blipFill>
        <p:spPr>
          <a:xfrm>
            <a:off x="5239146" y="5037978"/>
            <a:ext cx="256764" cy="256764"/>
          </a:xfrm>
          <a:prstGeom prst="rect">
            <a:avLst/>
          </a:prstGeom>
        </p:spPr>
      </p:pic>
      <p:sp>
        <p:nvSpPr>
          <p:cNvPr id="40" name="Text 30"/>
          <p:cNvSpPr/>
          <p:nvPr/>
        </p:nvSpPr>
        <p:spPr>
          <a:xfrm>
            <a:off x="5724144" y="4782312"/>
            <a:ext cx="2377440" cy="384048"/>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7. Kepemilikan NIK</a:t>
            </a:r>
            <a:endParaRPr lang="en-US" sz="1250" dirty="0"/>
          </a:p>
        </p:txBody>
      </p:sp>
      <p:sp>
        <p:nvSpPr>
          <p:cNvPr id="41" name="Text 31"/>
          <p:cNvSpPr/>
          <p:nvPr/>
        </p:nvSpPr>
        <p:spPr>
          <a:xfrm>
            <a:off x="5724144" y="5166360"/>
            <a:ext cx="2377440" cy="402336"/>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Memastikan setiap peserta didik memiliki identitas.</a:t>
            </a:r>
            <a:endParaRPr lang="en-US" sz="1000" dirty="0"/>
          </a:p>
        </p:txBody>
      </p:sp>
      <p:sp>
        <p:nvSpPr>
          <p:cNvPr id="42" name="Shape 32"/>
          <p:cNvSpPr/>
          <p:nvPr/>
        </p:nvSpPr>
        <p:spPr>
          <a:xfrm>
            <a:off x="8503920" y="4690872"/>
            <a:ext cx="3346704" cy="950976"/>
          </a:xfrm>
          <a:prstGeom prst="roundRect">
            <a:avLst>
              <a:gd name="adj" fmla="val 13462"/>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43" name="Shape 33"/>
          <p:cNvSpPr/>
          <p:nvPr/>
        </p:nvSpPr>
        <p:spPr>
          <a:xfrm>
            <a:off x="8686800" y="4919472"/>
            <a:ext cx="493776" cy="493776"/>
          </a:xfrm>
          <a:prstGeom prst="ellipse">
            <a:avLst>
              <a:gd name="adj" fmla="val 22222"/>
            </a:avLst>
          </a:prstGeom>
          <a:solidFill>
            <a:srgbClr val="176B44"/>
          </a:solidFill>
          <a:ln w="12700">
            <a:solidFill>
              <a:srgbClr val="333333"/>
            </a:solidFill>
            <a:prstDash val="solid"/>
          </a:ln>
        </p:spPr>
      </p:sp>
      <p:pic>
        <p:nvPicPr>
          <p:cNvPr id="44" name="Image 8" descr="preencoded.png">    </p:cNvPr>
          <p:cNvPicPr>
            <a:picLocks noChangeAspect="1"/>
          </p:cNvPicPr>
          <p:nvPr/>
        </p:nvPicPr>
        <p:blipFill>
          <a:blip r:embed="rId9"/>
          <a:stretch>
            <a:fillRect/>
          </a:stretch>
        </p:blipFill>
        <p:spPr>
          <a:xfrm>
            <a:off x="8805306" y="5037978"/>
            <a:ext cx="256764" cy="256764"/>
          </a:xfrm>
          <a:prstGeom prst="rect">
            <a:avLst/>
          </a:prstGeom>
        </p:spPr>
      </p:pic>
      <p:sp>
        <p:nvSpPr>
          <p:cNvPr id="45" name="Text 34"/>
          <p:cNvSpPr/>
          <p:nvPr/>
        </p:nvSpPr>
        <p:spPr>
          <a:xfrm>
            <a:off x="9290304" y="4782312"/>
            <a:ext cx="2377440" cy="384048"/>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8. Sanitasi &amp; Air Bersih</a:t>
            </a:r>
            <a:endParaRPr lang="en-US" sz="1250" dirty="0"/>
          </a:p>
        </p:txBody>
      </p:sp>
      <p:sp>
        <p:nvSpPr>
          <p:cNvPr id="46" name="Text 35"/>
          <p:cNvSpPr/>
          <p:nvPr/>
        </p:nvSpPr>
        <p:spPr>
          <a:xfrm>
            <a:off x="9290304" y="5166360"/>
            <a:ext cx="2377440" cy="402336"/>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Fasilitas sederhana dengan air mengalir tersedia.</a:t>
            </a:r>
            <a:endParaRPr lang="en-US" sz="1000" dirty="0"/>
          </a:p>
        </p:txBody>
      </p:sp>
      <p:sp>
        <p:nvSpPr>
          <p:cNvPr id="47" name="Shape 36"/>
          <p:cNvSpPr/>
          <p:nvPr/>
        </p:nvSpPr>
        <p:spPr>
          <a:xfrm>
            <a:off x="566928" y="5687568"/>
            <a:ext cx="11057839" cy="658368"/>
          </a:xfrm>
          <a:prstGeom prst="roundRect">
            <a:avLst>
              <a:gd name="adj" fmla="val 19444"/>
            </a:avLst>
          </a:prstGeom>
          <a:solidFill>
            <a:srgbClr val="E3F6EC"/>
          </a:solidFill>
          <a:ln w="12700">
            <a:solidFill>
              <a:srgbClr val="BCE8D1"/>
            </a:solidFill>
            <a:prstDash val="solid"/>
          </a:ln>
          <a:effectLst>
            <a:outerShdw sx="100000" sy="100000" kx="0" ky="0" algn="bl" rotWithShape="0" blurRad="177800" dist="38100" dir="5400000">
              <a:srgbClr val="0F3352">
                <a:alpha val="10000"/>
              </a:srgbClr>
            </a:outerShdw>
          </a:effectLst>
        </p:spPr>
      </p:sp>
      <p:sp>
        <p:nvSpPr>
          <p:cNvPr id="48" name="Text 37"/>
          <p:cNvSpPr/>
          <p:nvPr/>
        </p:nvSpPr>
        <p:spPr>
          <a:xfrm>
            <a:off x="896112" y="5742432"/>
            <a:ext cx="10399471" cy="548640"/>
          </a:xfrm>
          <a:prstGeom prst="rect">
            <a:avLst/>
          </a:prstGeom>
          <a:noFill/>
          <a:ln/>
        </p:spPr>
        <p:txBody>
          <a:bodyPr wrap="square" lIns="0" tIns="0" rIns="0" bIns="0" rtlCol="0" anchor="ctr"/>
          <a:lstStyle/>
          <a:p>
            <a:pPr indent="0" marL="0">
              <a:buNone/>
            </a:pPr>
            <a:r>
              <a:rPr lang="en-US" sz="1250" dirty="0">
                <a:solidFill>
                  <a:srgbClr val="173753"/>
                </a:solidFill>
                <a:latin typeface="Calibri" pitchFamily="34" charset="0"/>
                <a:ea typeface="Calibri" pitchFamily="34" charset="-122"/>
                <a:cs typeface="Calibri" pitchFamily="34" charset="-120"/>
              </a:rPr>
              <a:t>Delapan indikator ini dilaporkan melalui Dapodik. Memutakhirkannya bukan pekerjaan administratif semata — ia menjadi dasar perencanaan dan dukungan yang diterima satuan.</a:t>
            </a:r>
            <a:endParaRPr lang="en-US" sz="1250" dirty="0"/>
          </a:p>
        </p:txBody>
      </p:sp>
      <p:sp>
        <p:nvSpPr>
          <p:cNvPr id="49" name="Text 38"/>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50" name="Text 39"/>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CAPAIAN NASIONAL</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Pemenuhan Delapan Indikator PAUD HI</a:t>
            </a:r>
            <a:endParaRPr lang="en-US" sz="3200" dirty="0"/>
          </a:p>
        </p:txBody>
      </p:sp>
      <p:sp>
        <p:nvSpPr>
          <p:cNvPr id="6" name="Shape 4"/>
          <p:cNvSpPr/>
          <p:nvPr/>
        </p:nvSpPr>
        <p:spPr>
          <a:xfrm>
            <a:off x="566928" y="1481328"/>
            <a:ext cx="7223760" cy="4114800"/>
          </a:xfrm>
          <a:prstGeom prst="roundRect">
            <a:avLst>
              <a:gd name="adj" fmla="val 3111"/>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graphicFrame>
        <p:nvGraphicFramePr>
          <p:cNvPr id="7" name="Chart 0" descr=""/>
          <p:cNvGraphicFramePr/>
          <p:nvPr/>
        </p:nvGraphicFramePr>
        <p:xfrm>
          <a:off x="676656" y="1591056"/>
          <a:ext cx="7004304" cy="3895344"/>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8028432" y="1481328"/>
            <a:ext cx="3596335" cy="1298448"/>
          </a:xfrm>
          <a:prstGeom prst="roundRect">
            <a:avLst>
              <a:gd name="adj" fmla="val 985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9" name="Shape 6"/>
          <p:cNvSpPr/>
          <p:nvPr/>
        </p:nvSpPr>
        <p:spPr>
          <a:xfrm>
            <a:off x="8247888" y="1719072"/>
            <a:ext cx="512064" cy="512064"/>
          </a:xfrm>
          <a:prstGeom prst="ellipse">
            <a:avLst>
              <a:gd name="adj" fmla="val 21429"/>
            </a:avLst>
          </a:prstGeom>
          <a:solidFill>
            <a:srgbClr val="2FA36B"/>
          </a:solidFill>
          <a:ln w="12700">
            <a:solidFill>
              <a:srgbClr val="333333"/>
            </a:solidFill>
            <a:prstDash val="solid"/>
          </a:ln>
        </p:spPr>
      </p:sp>
      <p:pic>
        <p:nvPicPr>
          <p:cNvPr id="10" name="Image 0" descr="preencoded.png">    </p:cNvPr>
          <p:cNvPicPr>
            <a:picLocks noChangeAspect="1"/>
          </p:cNvPicPr>
          <p:nvPr/>
        </p:nvPicPr>
        <p:blipFill>
          <a:blip r:embed="rId2"/>
          <a:stretch>
            <a:fillRect/>
          </a:stretch>
        </p:blipFill>
        <p:spPr>
          <a:xfrm>
            <a:off x="8370783" y="1841967"/>
            <a:ext cx="266273" cy="266273"/>
          </a:xfrm>
          <a:prstGeom prst="rect">
            <a:avLst/>
          </a:prstGeom>
        </p:spPr>
      </p:pic>
      <p:sp>
        <p:nvSpPr>
          <p:cNvPr id="11" name="Text 7"/>
          <p:cNvSpPr/>
          <p:nvPr/>
        </p:nvSpPr>
        <p:spPr>
          <a:xfrm>
            <a:off x="8887968" y="1682496"/>
            <a:ext cx="2377440" cy="274320"/>
          </a:xfrm>
          <a:prstGeom prst="rect">
            <a:avLst/>
          </a:prstGeom>
          <a:noFill/>
          <a:ln/>
        </p:spPr>
        <p:txBody>
          <a:bodyPr wrap="square" lIns="0" tIns="0" rIns="0" bIns="0" rtlCol="0" anchor="ctr"/>
          <a:lstStyle/>
          <a:p>
            <a:pPr indent="0" marL="0">
              <a:buNone/>
            </a:pPr>
            <a:r>
              <a:rPr lang="en-US" sz="1300" b="1" dirty="0">
                <a:solidFill>
                  <a:srgbClr val="2FA36B"/>
                </a:solidFill>
                <a:latin typeface="Calibri" pitchFamily="34" charset="0"/>
                <a:ea typeface="Calibri" pitchFamily="34" charset="-122"/>
                <a:cs typeface="Calibri" pitchFamily="34" charset="-120"/>
              </a:rPr>
              <a:t>Tertinggi</a:t>
            </a:r>
            <a:endParaRPr lang="en-US" sz="1300" dirty="0"/>
          </a:p>
        </p:txBody>
      </p:sp>
      <p:sp>
        <p:nvSpPr>
          <p:cNvPr id="12" name="Text 8"/>
          <p:cNvSpPr/>
          <p:nvPr/>
        </p:nvSpPr>
        <p:spPr>
          <a:xfrm>
            <a:off x="8887968" y="1975104"/>
            <a:ext cx="2487168" cy="69494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Kelas orang tua 98,59% — budaya melibatkan orang tua sudah terbangun.</a:t>
            </a:r>
            <a:endParaRPr lang="en-US" sz="1100" dirty="0"/>
          </a:p>
        </p:txBody>
      </p:sp>
      <p:sp>
        <p:nvSpPr>
          <p:cNvPr id="13" name="Shape 9"/>
          <p:cNvSpPr/>
          <p:nvPr/>
        </p:nvSpPr>
        <p:spPr>
          <a:xfrm>
            <a:off x="8028432" y="2889504"/>
            <a:ext cx="3596335" cy="1298448"/>
          </a:xfrm>
          <a:prstGeom prst="roundRect">
            <a:avLst>
              <a:gd name="adj" fmla="val 985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4" name="Shape 10"/>
          <p:cNvSpPr/>
          <p:nvPr/>
        </p:nvSpPr>
        <p:spPr>
          <a:xfrm>
            <a:off x="8247888" y="3127248"/>
            <a:ext cx="512064" cy="512064"/>
          </a:xfrm>
          <a:prstGeom prst="ellipse">
            <a:avLst>
              <a:gd name="adj" fmla="val 21429"/>
            </a:avLst>
          </a:prstGeom>
          <a:solidFill>
            <a:srgbClr val="E0574B"/>
          </a:solidFill>
          <a:ln w="12700">
            <a:solidFill>
              <a:srgbClr val="333333"/>
            </a:solidFill>
            <a:prstDash val="solid"/>
          </a:ln>
        </p:spPr>
      </p:sp>
      <p:pic>
        <p:nvPicPr>
          <p:cNvPr id="15" name="Image 1" descr="preencoded.png">    </p:cNvPr>
          <p:cNvPicPr>
            <a:picLocks noChangeAspect="1"/>
          </p:cNvPicPr>
          <p:nvPr/>
        </p:nvPicPr>
        <p:blipFill>
          <a:blip r:embed="rId3"/>
          <a:stretch>
            <a:fillRect/>
          </a:stretch>
        </p:blipFill>
        <p:spPr>
          <a:xfrm>
            <a:off x="8370783" y="3250143"/>
            <a:ext cx="266273" cy="266273"/>
          </a:xfrm>
          <a:prstGeom prst="rect">
            <a:avLst/>
          </a:prstGeom>
        </p:spPr>
      </p:pic>
      <p:sp>
        <p:nvSpPr>
          <p:cNvPr id="16" name="Text 11"/>
          <p:cNvSpPr/>
          <p:nvPr/>
        </p:nvSpPr>
        <p:spPr>
          <a:xfrm>
            <a:off x="8887968" y="3090672"/>
            <a:ext cx="2377440" cy="274320"/>
          </a:xfrm>
          <a:prstGeom prst="rect">
            <a:avLst/>
          </a:prstGeom>
          <a:noFill/>
          <a:ln/>
        </p:spPr>
        <p:txBody>
          <a:bodyPr wrap="square" lIns="0" tIns="0" rIns="0" bIns="0" rtlCol="0" anchor="ctr"/>
          <a:lstStyle/>
          <a:p>
            <a:pPr indent="0" marL="0">
              <a:buNone/>
            </a:pPr>
            <a:r>
              <a:rPr lang="en-US" sz="1300" b="1" dirty="0">
                <a:solidFill>
                  <a:srgbClr val="E0574B"/>
                </a:solidFill>
                <a:latin typeface="Calibri" pitchFamily="34" charset="0"/>
                <a:ea typeface="Calibri" pitchFamily="34" charset="-122"/>
                <a:cs typeface="Calibri" pitchFamily="34" charset="-120"/>
              </a:rPr>
              <a:t>Terendah</a:t>
            </a:r>
            <a:endParaRPr lang="en-US" sz="1300" dirty="0"/>
          </a:p>
        </p:txBody>
      </p:sp>
      <p:sp>
        <p:nvSpPr>
          <p:cNvPr id="17" name="Text 12"/>
          <p:cNvSpPr/>
          <p:nvPr/>
        </p:nvSpPr>
        <p:spPr>
          <a:xfrm>
            <a:off x="8887968" y="3383280"/>
            <a:ext cx="2487168" cy="69494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Sanitasi &amp; air bersih 8,95% — 167.872 satuan belum memiliki fasilitas memadai.</a:t>
            </a:r>
            <a:endParaRPr lang="en-US" sz="1100" dirty="0"/>
          </a:p>
        </p:txBody>
      </p:sp>
      <p:sp>
        <p:nvSpPr>
          <p:cNvPr id="18" name="Shape 13"/>
          <p:cNvSpPr/>
          <p:nvPr/>
        </p:nvSpPr>
        <p:spPr>
          <a:xfrm>
            <a:off x="8028432" y="4297680"/>
            <a:ext cx="3596335" cy="1298448"/>
          </a:xfrm>
          <a:prstGeom prst="roundRect">
            <a:avLst>
              <a:gd name="adj" fmla="val 985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9" name="Shape 14"/>
          <p:cNvSpPr/>
          <p:nvPr/>
        </p:nvSpPr>
        <p:spPr>
          <a:xfrm>
            <a:off x="8247888" y="4535424"/>
            <a:ext cx="512064" cy="512064"/>
          </a:xfrm>
          <a:prstGeom prst="ellipse">
            <a:avLst>
              <a:gd name="adj" fmla="val 21429"/>
            </a:avLst>
          </a:prstGeom>
          <a:solidFill>
            <a:srgbClr val="F5871F"/>
          </a:solidFill>
          <a:ln w="12700">
            <a:solidFill>
              <a:srgbClr val="333333"/>
            </a:solidFill>
            <a:prstDash val="solid"/>
          </a:ln>
        </p:spPr>
      </p:sp>
      <p:pic>
        <p:nvPicPr>
          <p:cNvPr id="20" name="Image 2" descr="preencoded.png">    </p:cNvPr>
          <p:cNvPicPr>
            <a:picLocks noChangeAspect="1"/>
          </p:cNvPicPr>
          <p:nvPr/>
        </p:nvPicPr>
        <p:blipFill>
          <a:blip r:embed="rId4"/>
          <a:stretch>
            <a:fillRect/>
          </a:stretch>
        </p:blipFill>
        <p:spPr>
          <a:xfrm>
            <a:off x="8370783" y="4658319"/>
            <a:ext cx="266273" cy="266273"/>
          </a:xfrm>
          <a:prstGeom prst="rect">
            <a:avLst/>
          </a:prstGeom>
        </p:spPr>
      </p:pic>
      <p:sp>
        <p:nvSpPr>
          <p:cNvPr id="21" name="Text 15"/>
          <p:cNvSpPr/>
          <p:nvPr/>
        </p:nvSpPr>
        <p:spPr>
          <a:xfrm>
            <a:off x="8887968" y="4498848"/>
            <a:ext cx="2377440" cy="274320"/>
          </a:xfrm>
          <a:prstGeom prst="rect">
            <a:avLst/>
          </a:prstGeom>
          <a:noFill/>
          <a:ln/>
        </p:spPr>
        <p:txBody>
          <a:bodyPr wrap="square" lIns="0" tIns="0" rIns="0" bIns="0" rtlCol="0" anchor="ctr"/>
          <a:lstStyle/>
          <a:p>
            <a:pPr indent="0" marL="0">
              <a:buNone/>
            </a:pPr>
            <a:r>
              <a:rPr lang="en-US" sz="1300" b="1" dirty="0">
                <a:solidFill>
                  <a:srgbClr val="F5871F"/>
                </a:solidFill>
                <a:latin typeface="Calibri" pitchFamily="34" charset="0"/>
                <a:ea typeface="Calibri" pitchFamily="34" charset="-122"/>
                <a:cs typeface="Calibri" pitchFamily="34" charset="-120"/>
              </a:rPr>
              <a:t>Titik ungkit</a:t>
            </a:r>
            <a:endParaRPr lang="en-US" sz="1300" dirty="0"/>
          </a:p>
        </p:txBody>
      </p:sp>
      <p:sp>
        <p:nvSpPr>
          <p:cNvPr id="22" name="Text 16"/>
          <p:cNvSpPr/>
          <p:nvPr/>
        </p:nvSpPr>
        <p:spPr>
          <a:xfrm>
            <a:off x="8887968" y="4791456"/>
            <a:ext cx="2487168" cy="69494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Koordinasi lintas sektor 75,46% — kunci menuju perbaikan indikator lain.</a:t>
            </a:r>
            <a:endParaRPr lang="en-US" sz="1100" dirty="0"/>
          </a:p>
        </p:txBody>
      </p:sp>
      <p:sp>
        <p:nvSpPr>
          <p:cNvPr id="23" name="Text 17"/>
          <p:cNvSpPr/>
          <p:nvPr/>
        </p:nvSpPr>
        <p:spPr>
          <a:xfrm>
            <a:off x="566928" y="6144768"/>
            <a:ext cx="7315200" cy="237744"/>
          </a:xfrm>
          <a:prstGeom prst="rect">
            <a:avLst/>
          </a:prstGeom>
          <a:noFill/>
          <a:ln/>
        </p:spPr>
        <p:txBody>
          <a:bodyPr wrap="square" lIns="0" tIns="0" rIns="0" bIns="0" rtlCol="0" anchor="ctr"/>
          <a:lstStyle/>
          <a:p>
            <a:pPr indent="0" marL="0">
              <a:buNone/>
            </a:pPr>
            <a:r>
              <a:rPr lang="en-US" sz="900" i="1" dirty="0">
                <a:solidFill>
                  <a:srgbClr val="7A93A8"/>
                </a:solidFill>
                <a:latin typeface="Calibri" pitchFamily="34" charset="0"/>
                <a:ea typeface="Calibri" pitchFamily="34" charset="-122"/>
                <a:cs typeface="Calibri" pitchFamily="34" charset="-120"/>
              </a:rPr>
              <a:t>Sumber: Dapodik, cut off 31 Desember 2025 (206.708 satuan PAUD).</a:t>
            </a:r>
            <a:endParaRPr lang="en-US" sz="900" dirty="0"/>
          </a:p>
        </p:txBody>
      </p:sp>
      <p:sp>
        <p:nvSpPr>
          <p:cNvPr id="24" name="Text 18"/>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25" name="Text 19"/>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2620A"/>
        </a:solidFill>
      </p:bgPr>
    </p:bg>
    <p:spTree>
      <p:nvGrpSpPr>
        <p:cNvPr id="1" name=""/>
        <p:cNvGrpSpPr/>
        <p:nvPr/>
      </p:nvGrpSpPr>
      <p:grpSpPr>
        <a:xfrm>
          <a:off x="0" y="0"/>
          <a:ext cx="0" cy="0"/>
          <a:chOff x="0" y="0"/>
          <a:chExt cx="0" cy="0"/>
        </a:xfrm>
      </p:grpSpPr>
      <p:sp>
        <p:nvSpPr>
          <p:cNvPr id="2" name="Shape 0"/>
          <p:cNvSpPr/>
          <p:nvPr/>
        </p:nvSpPr>
        <p:spPr>
          <a:xfrm>
            <a:off x="-1097280" y="-1280160"/>
            <a:ext cx="3840480" cy="3840480"/>
          </a:xfrm>
          <a:prstGeom prst="ellipse">
            <a:avLst/>
          </a:prstGeom>
          <a:solidFill>
            <a:srgbClr val="FFFFFF">
              <a:alpha val="12000"/>
            </a:srgbClr>
          </a:solidFill>
          <a:ln/>
        </p:spPr>
      </p:sp>
      <p:sp>
        <p:nvSpPr>
          <p:cNvPr id="3" name="Shape 1"/>
          <p:cNvSpPr/>
          <p:nvPr/>
        </p:nvSpPr>
        <p:spPr>
          <a:xfrm>
            <a:off x="3846424" y="3447288"/>
            <a:ext cx="4498848" cy="3054096"/>
          </a:xfrm>
          <a:prstGeom prst="roundRect">
            <a:avLst>
              <a:gd name="adj" fmla="val 4192"/>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4" name="Image 0" descr="preencoded.png">    </p:cNvPr>
          <p:cNvPicPr>
            <a:picLocks noChangeAspect="1"/>
          </p:cNvPicPr>
          <p:nvPr/>
        </p:nvPicPr>
        <p:blipFill>
          <a:blip r:embed="rId1"/>
          <a:stretch>
            <a:fillRect/>
          </a:stretch>
        </p:blipFill>
        <p:spPr>
          <a:xfrm>
            <a:off x="3928720" y="3529584"/>
            <a:ext cx="4334256" cy="2889504"/>
          </a:xfrm>
          <a:prstGeom prst="rect">
            <a:avLst/>
          </a:prstGeom>
        </p:spPr>
      </p:pic>
      <p:sp>
        <p:nvSpPr>
          <p:cNvPr id="5" name="Text 2"/>
          <p:cNvSpPr/>
          <p:nvPr/>
        </p:nvSpPr>
        <p:spPr>
          <a:xfrm>
            <a:off x="585216" y="475488"/>
            <a:ext cx="2377440" cy="1051560"/>
          </a:xfrm>
          <a:prstGeom prst="rect">
            <a:avLst/>
          </a:prstGeom>
          <a:noFill/>
          <a:ln/>
        </p:spPr>
        <p:txBody>
          <a:bodyPr wrap="square" lIns="0" tIns="0" rIns="0" bIns="0" rtlCol="0" anchor="ctr"/>
          <a:lstStyle/>
          <a:p>
            <a:pPr indent="0" marL="0">
              <a:buNone/>
            </a:pPr>
            <a:r>
              <a:rPr lang="en-US" sz="7200" b="1" dirty="0">
                <a:solidFill>
                  <a:srgbClr val="FFFFFF">
                    <a:alpha val="66000"/>
                  </a:srgbClr>
                </a:solidFill>
                <a:latin typeface="Calibri" pitchFamily="34" charset="0"/>
                <a:ea typeface="Calibri" pitchFamily="34" charset="-122"/>
                <a:cs typeface="Calibri" pitchFamily="34" charset="-120"/>
              </a:rPr>
              <a:t>03</a:t>
            </a:r>
            <a:endParaRPr lang="en-US" sz="7200" dirty="0"/>
          </a:p>
        </p:txBody>
      </p:sp>
      <p:sp>
        <p:nvSpPr>
          <p:cNvPr id="6" name="Text 3"/>
          <p:cNvSpPr/>
          <p:nvPr/>
        </p:nvSpPr>
        <p:spPr>
          <a:xfrm>
            <a:off x="566928" y="1572768"/>
            <a:ext cx="9966960" cy="105156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Kemitraan Strategis: Kunci Layanan Holistik</a:t>
            </a:r>
            <a:endParaRPr lang="en-US" sz="3600" dirty="0"/>
          </a:p>
        </p:txBody>
      </p:sp>
      <p:sp>
        <p:nvSpPr>
          <p:cNvPr id="7" name="Text 4"/>
          <p:cNvSpPr/>
          <p:nvPr/>
        </p:nvSpPr>
        <p:spPr>
          <a:xfrm>
            <a:off x="566928" y="2706624"/>
            <a:ext cx="8778240" cy="731520"/>
          </a:xfrm>
          <a:prstGeom prst="rect">
            <a:avLst/>
          </a:prstGeom>
          <a:noFill/>
          <a:ln/>
        </p:spPr>
        <p:txBody>
          <a:bodyPr wrap="square" lIns="0" tIns="0" rIns="0" bIns="0" rtlCol="0" anchor="t"/>
          <a:lstStyle/>
          <a:p>
            <a:pPr indent="0" marL="0">
              <a:buNone/>
            </a:pPr>
            <a:r>
              <a:rPr lang="en-US" sz="1500" dirty="0">
                <a:solidFill>
                  <a:srgbClr val="FFFFFF">
                    <a:alpha val="88000"/>
                  </a:srgbClr>
                </a:solidFill>
                <a:latin typeface="Calibri" pitchFamily="34" charset="0"/>
                <a:ea typeface="Calibri" pitchFamily="34" charset="-122"/>
                <a:cs typeface="Calibri" pitchFamily="34" charset="-120"/>
              </a:rPr>
              <a:t>Konsep kemitraan, peta pemangku kepentingan, trisentra pendidikan, tahapan membangun, dan instrumen pendukungnya.</a:t>
            </a:r>
            <a:endParaRPr lang="en-US" sz="1500" dirty="0"/>
          </a:p>
        </p:txBody>
      </p:sp>
      <p:sp>
        <p:nvSpPr>
          <p:cNvPr id="8" name="Text 5"/>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9" name="Text 6"/>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FFF1E0">
              <a:alpha val="55000"/>
            </a:srgbClr>
          </a:solidFill>
          <a:ln/>
        </p:spPr>
      </p:sp>
      <p:sp>
        <p:nvSpPr>
          <p:cNvPr id="3" name="Shape 1"/>
          <p:cNvSpPr/>
          <p:nvPr/>
        </p:nvSpPr>
        <p:spPr>
          <a:xfrm>
            <a:off x="10820095" y="5303520"/>
            <a:ext cx="2926080" cy="2926080"/>
          </a:xfrm>
          <a:prstGeom prst="ellipse">
            <a:avLst/>
          </a:prstGeom>
          <a:solidFill>
            <a:srgbClr val="FFF1E0">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KONSEP</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Ciri Kemitraan yang Benar-benar Strategis</a:t>
            </a:r>
            <a:endParaRPr lang="en-US" sz="3200" dirty="0"/>
          </a:p>
        </p:txBody>
      </p:sp>
      <p:sp>
        <p:nvSpPr>
          <p:cNvPr id="6" name="Shape 4"/>
          <p:cNvSpPr/>
          <p:nvPr/>
        </p:nvSpPr>
        <p:spPr>
          <a:xfrm>
            <a:off x="566928" y="1499616"/>
            <a:ext cx="4206240" cy="1188720"/>
          </a:xfrm>
          <a:prstGeom prst="roundRect">
            <a:avLst>
              <a:gd name="adj" fmla="val 10769"/>
            </a:avLst>
          </a:prstGeom>
          <a:solidFill>
            <a:srgbClr val="FFF1E0"/>
          </a:solidFill>
          <a:ln w="12700">
            <a:solidFill>
              <a:srgbClr val="FFD9B3"/>
            </a:solidFill>
            <a:prstDash val="solid"/>
          </a:ln>
          <a:effectLst>
            <a:outerShdw sx="100000" sy="100000" kx="0" ky="0" algn="bl" rotWithShape="0" blurRad="177800" dist="38100" dir="5400000">
              <a:srgbClr val="0F3352">
                <a:alpha val="10000"/>
              </a:srgbClr>
            </a:outerShdw>
          </a:effectLst>
        </p:spPr>
      </p:sp>
      <p:sp>
        <p:nvSpPr>
          <p:cNvPr id="7" name="Text 5"/>
          <p:cNvSpPr/>
          <p:nvPr/>
        </p:nvSpPr>
        <p:spPr>
          <a:xfrm>
            <a:off x="804672" y="1609344"/>
            <a:ext cx="3730752" cy="969264"/>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Kemitraan strategis adalah kerja sama terencana antara satuan PAUD dan pihak lain untuk memenuhi kebutuhan esensial anak secara berkelanjutan.</a:t>
            </a:r>
            <a:endParaRPr lang="en-US" sz="1200" dirty="0"/>
          </a:p>
        </p:txBody>
      </p:sp>
      <p:pic>
        <p:nvPicPr>
          <p:cNvPr id="8" name="Image 0" descr="preencoded.png">    </p:cNvPr>
          <p:cNvPicPr>
            <a:picLocks noChangeAspect="1"/>
          </p:cNvPicPr>
          <p:nvPr/>
        </p:nvPicPr>
        <p:blipFill>
          <a:blip r:embed="rId1"/>
          <a:stretch>
            <a:fillRect/>
          </a:stretch>
        </p:blipFill>
        <p:spPr>
          <a:xfrm>
            <a:off x="1527048" y="2798064"/>
            <a:ext cx="2286000" cy="2286000"/>
          </a:xfrm>
          <a:prstGeom prst="rect">
            <a:avLst/>
          </a:prstGeom>
        </p:spPr>
      </p:pic>
      <p:sp>
        <p:nvSpPr>
          <p:cNvPr id="9" name="Shape 6"/>
          <p:cNvSpPr/>
          <p:nvPr/>
        </p:nvSpPr>
        <p:spPr>
          <a:xfrm>
            <a:off x="484632" y="4946904"/>
            <a:ext cx="2564312" cy="1170432"/>
          </a:xfrm>
          <a:prstGeom prst="roundRect">
            <a:avLst>
              <a:gd name="adj" fmla="val 10938"/>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10" name="Image 1" descr="preencoded.png">    </p:cNvPr>
          <p:cNvPicPr>
            <a:picLocks noChangeAspect="1"/>
          </p:cNvPicPr>
          <p:nvPr/>
        </p:nvPicPr>
        <p:blipFill>
          <a:blip r:embed="rId2"/>
          <a:stretch>
            <a:fillRect/>
          </a:stretch>
        </p:blipFill>
        <p:spPr>
          <a:xfrm>
            <a:off x="566928" y="5029200"/>
            <a:ext cx="2399720" cy="1005840"/>
          </a:xfrm>
          <a:prstGeom prst="rect">
            <a:avLst/>
          </a:prstGeom>
        </p:spPr>
      </p:pic>
      <p:sp>
        <p:nvSpPr>
          <p:cNvPr id="11" name="Shape 7"/>
          <p:cNvSpPr/>
          <p:nvPr/>
        </p:nvSpPr>
        <p:spPr>
          <a:xfrm>
            <a:off x="5120640" y="1499616"/>
            <a:ext cx="6504127" cy="822960"/>
          </a:xfrm>
          <a:prstGeom prst="roundRect">
            <a:avLst>
              <a:gd name="adj" fmla="val 1555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2" name="Shape 8"/>
          <p:cNvSpPr/>
          <p:nvPr/>
        </p:nvSpPr>
        <p:spPr>
          <a:xfrm>
            <a:off x="5340096" y="1645920"/>
            <a:ext cx="530352" cy="530352"/>
          </a:xfrm>
          <a:prstGeom prst="ellipse">
            <a:avLst>
              <a:gd name="adj" fmla="val 20690"/>
            </a:avLst>
          </a:prstGeom>
          <a:solidFill>
            <a:srgbClr val="1E76C8"/>
          </a:solidFill>
          <a:ln w="12700">
            <a:solidFill>
              <a:srgbClr val="333333"/>
            </a:solidFill>
            <a:prstDash val="solid"/>
          </a:ln>
        </p:spPr>
      </p:sp>
      <p:pic>
        <p:nvPicPr>
          <p:cNvPr id="13" name="Image 2" descr="preencoded.png">    </p:cNvPr>
          <p:cNvPicPr>
            <a:picLocks noChangeAspect="1"/>
          </p:cNvPicPr>
          <p:nvPr/>
        </p:nvPicPr>
        <p:blipFill>
          <a:blip r:embed="rId3"/>
          <a:stretch>
            <a:fillRect/>
          </a:stretch>
        </p:blipFill>
        <p:spPr>
          <a:xfrm>
            <a:off x="5467380" y="1773204"/>
            <a:ext cx="275783" cy="275783"/>
          </a:xfrm>
          <a:prstGeom prst="rect">
            <a:avLst/>
          </a:prstGeom>
        </p:spPr>
      </p:pic>
      <p:sp>
        <p:nvSpPr>
          <p:cNvPr id="14" name="Text 9"/>
          <p:cNvSpPr/>
          <p:nvPr/>
        </p:nvSpPr>
        <p:spPr>
          <a:xfrm>
            <a:off x="6016752" y="1627632"/>
            <a:ext cx="2011680" cy="292608"/>
          </a:xfrm>
          <a:prstGeom prst="rect">
            <a:avLst/>
          </a:prstGeom>
          <a:noFill/>
          <a:ln/>
        </p:spPr>
        <p:txBody>
          <a:bodyPr wrap="square" lIns="0" tIns="0" rIns="0" bIns="0" rtlCol="0" anchor="ctr"/>
          <a:lstStyle/>
          <a:p>
            <a:pPr indent="0" marL="0">
              <a:buNone/>
            </a:pPr>
            <a:r>
              <a:rPr lang="en-US" sz="1300" b="1" dirty="0">
                <a:solidFill>
                  <a:srgbClr val="1E76C8"/>
                </a:solidFill>
                <a:latin typeface="Calibri" pitchFamily="34" charset="0"/>
                <a:ea typeface="Calibri" pitchFamily="34" charset="-122"/>
                <a:cs typeface="Calibri" pitchFamily="34" charset="-120"/>
              </a:rPr>
              <a:t>Kesetaraan</a:t>
            </a:r>
            <a:endParaRPr lang="en-US" sz="1300" dirty="0"/>
          </a:p>
        </p:txBody>
      </p:sp>
      <p:sp>
        <p:nvSpPr>
          <p:cNvPr id="15" name="Text 10"/>
          <p:cNvSpPr/>
          <p:nvPr/>
        </p:nvSpPr>
        <p:spPr>
          <a:xfrm>
            <a:off x="7955280" y="1627632"/>
            <a:ext cx="3108960" cy="603504"/>
          </a:xfrm>
          <a:prstGeom prst="rect">
            <a:avLst/>
          </a:prstGeom>
          <a:noFill/>
          <a:ln/>
        </p:spPr>
        <p:txBody>
          <a:bodyPr wrap="square" lIns="0" tIns="0" rIns="0" bIns="0" rtlCol="0" anchor="ctr"/>
          <a:lstStyle/>
          <a:p>
            <a:pPr indent="0" marL="0">
              <a:buNone/>
            </a:pPr>
            <a:r>
              <a:rPr lang="en-US" sz="1100" dirty="0">
                <a:solidFill>
                  <a:srgbClr val="3E5C77"/>
                </a:solidFill>
                <a:latin typeface="Calibri" pitchFamily="34" charset="0"/>
                <a:ea typeface="Calibri" pitchFamily="34" charset="-122"/>
                <a:cs typeface="Calibri" pitchFamily="34" charset="-120"/>
              </a:rPr>
              <a:t>Semua pihak duduk sebagai mitra, bukan atasan dan bawahan.</a:t>
            </a:r>
            <a:endParaRPr lang="en-US" sz="1100" dirty="0"/>
          </a:p>
        </p:txBody>
      </p:sp>
      <p:sp>
        <p:nvSpPr>
          <p:cNvPr id="16" name="Shape 11"/>
          <p:cNvSpPr/>
          <p:nvPr/>
        </p:nvSpPr>
        <p:spPr>
          <a:xfrm>
            <a:off x="5120640" y="2404872"/>
            <a:ext cx="6504127" cy="822960"/>
          </a:xfrm>
          <a:prstGeom prst="roundRect">
            <a:avLst>
              <a:gd name="adj" fmla="val 1555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7" name="Shape 12"/>
          <p:cNvSpPr/>
          <p:nvPr/>
        </p:nvSpPr>
        <p:spPr>
          <a:xfrm>
            <a:off x="5340096" y="2551176"/>
            <a:ext cx="530352" cy="530352"/>
          </a:xfrm>
          <a:prstGeom prst="ellipse">
            <a:avLst>
              <a:gd name="adj" fmla="val 20690"/>
            </a:avLst>
          </a:prstGeom>
          <a:solidFill>
            <a:srgbClr val="2FA36B"/>
          </a:solidFill>
          <a:ln w="12700">
            <a:solidFill>
              <a:srgbClr val="333333"/>
            </a:solidFill>
            <a:prstDash val="solid"/>
          </a:ln>
        </p:spPr>
      </p:sp>
      <p:pic>
        <p:nvPicPr>
          <p:cNvPr id="18" name="Image 3" descr="preencoded.png">    </p:cNvPr>
          <p:cNvPicPr>
            <a:picLocks noChangeAspect="1"/>
          </p:cNvPicPr>
          <p:nvPr/>
        </p:nvPicPr>
        <p:blipFill>
          <a:blip r:embed="rId4"/>
          <a:stretch>
            <a:fillRect/>
          </a:stretch>
        </p:blipFill>
        <p:spPr>
          <a:xfrm>
            <a:off x="5467380" y="2678460"/>
            <a:ext cx="275783" cy="275783"/>
          </a:xfrm>
          <a:prstGeom prst="rect">
            <a:avLst/>
          </a:prstGeom>
        </p:spPr>
      </p:pic>
      <p:sp>
        <p:nvSpPr>
          <p:cNvPr id="19" name="Text 13"/>
          <p:cNvSpPr/>
          <p:nvPr/>
        </p:nvSpPr>
        <p:spPr>
          <a:xfrm>
            <a:off x="6016752" y="2532888"/>
            <a:ext cx="2011680" cy="292608"/>
          </a:xfrm>
          <a:prstGeom prst="rect">
            <a:avLst/>
          </a:prstGeom>
          <a:noFill/>
          <a:ln/>
        </p:spPr>
        <p:txBody>
          <a:bodyPr wrap="square" lIns="0" tIns="0" rIns="0" bIns="0" rtlCol="0" anchor="ctr"/>
          <a:lstStyle/>
          <a:p>
            <a:pPr indent="0" marL="0">
              <a:buNone/>
            </a:pPr>
            <a:r>
              <a:rPr lang="en-US" sz="1300" b="1" dirty="0">
                <a:solidFill>
                  <a:srgbClr val="2FA36B"/>
                </a:solidFill>
                <a:latin typeface="Calibri" pitchFamily="34" charset="0"/>
                <a:ea typeface="Calibri" pitchFamily="34" charset="-122"/>
                <a:cs typeface="Calibri" pitchFamily="34" charset="-120"/>
              </a:rPr>
              <a:t>Kepercayaan</a:t>
            </a:r>
            <a:endParaRPr lang="en-US" sz="1300" dirty="0"/>
          </a:p>
        </p:txBody>
      </p:sp>
      <p:sp>
        <p:nvSpPr>
          <p:cNvPr id="20" name="Text 14"/>
          <p:cNvSpPr/>
          <p:nvPr/>
        </p:nvSpPr>
        <p:spPr>
          <a:xfrm>
            <a:off x="7955280" y="2532888"/>
            <a:ext cx="3108960" cy="603504"/>
          </a:xfrm>
          <a:prstGeom prst="rect">
            <a:avLst/>
          </a:prstGeom>
          <a:noFill/>
          <a:ln/>
        </p:spPr>
        <p:txBody>
          <a:bodyPr wrap="square" lIns="0" tIns="0" rIns="0" bIns="0" rtlCol="0" anchor="ctr"/>
          <a:lstStyle/>
          <a:p>
            <a:pPr indent="0" marL="0">
              <a:buNone/>
            </a:pPr>
            <a:r>
              <a:rPr lang="en-US" sz="1100" dirty="0">
                <a:solidFill>
                  <a:srgbClr val="3E5C77"/>
                </a:solidFill>
                <a:latin typeface="Calibri" pitchFamily="34" charset="0"/>
                <a:ea typeface="Calibri" pitchFamily="34" charset="-122"/>
                <a:cs typeface="Calibri" pitchFamily="34" charset="-120"/>
              </a:rPr>
              <a:t>Dibangun melalui komunikasi rutin dan komitmen yang ditepati.</a:t>
            </a:r>
            <a:endParaRPr lang="en-US" sz="1100" dirty="0"/>
          </a:p>
        </p:txBody>
      </p:sp>
      <p:sp>
        <p:nvSpPr>
          <p:cNvPr id="21" name="Shape 15"/>
          <p:cNvSpPr/>
          <p:nvPr/>
        </p:nvSpPr>
        <p:spPr>
          <a:xfrm>
            <a:off x="5120640" y="3310128"/>
            <a:ext cx="6504127" cy="822960"/>
          </a:xfrm>
          <a:prstGeom prst="roundRect">
            <a:avLst>
              <a:gd name="adj" fmla="val 1555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2" name="Shape 16"/>
          <p:cNvSpPr/>
          <p:nvPr/>
        </p:nvSpPr>
        <p:spPr>
          <a:xfrm>
            <a:off x="5340096" y="3456432"/>
            <a:ext cx="530352" cy="530352"/>
          </a:xfrm>
          <a:prstGeom prst="ellipse">
            <a:avLst>
              <a:gd name="adj" fmla="val 20690"/>
            </a:avLst>
          </a:prstGeom>
          <a:solidFill>
            <a:srgbClr val="F5871F"/>
          </a:solidFill>
          <a:ln w="12700">
            <a:solidFill>
              <a:srgbClr val="333333"/>
            </a:solidFill>
            <a:prstDash val="solid"/>
          </a:ln>
        </p:spPr>
      </p:sp>
      <p:pic>
        <p:nvPicPr>
          <p:cNvPr id="23" name="Image 4" descr="preencoded.png">    </p:cNvPr>
          <p:cNvPicPr>
            <a:picLocks noChangeAspect="1"/>
          </p:cNvPicPr>
          <p:nvPr/>
        </p:nvPicPr>
        <p:blipFill>
          <a:blip r:embed="rId5"/>
          <a:stretch>
            <a:fillRect/>
          </a:stretch>
        </p:blipFill>
        <p:spPr>
          <a:xfrm>
            <a:off x="5467380" y="3583716"/>
            <a:ext cx="275783" cy="275783"/>
          </a:xfrm>
          <a:prstGeom prst="rect">
            <a:avLst/>
          </a:prstGeom>
        </p:spPr>
      </p:pic>
      <p:sp>
        <p:nvSpPr>
          <p:cNvPr id="24" name="Text 17"/>
          <p:cNvSpPr/>
          <p:nvPr/>
        </p:nvSpPr>
        <p:spPr>
          <a:xfrm>
            <a:off x="6016752" y="3438144"/>
            <a:ext cx="2011680" cy="292608"/>
          </a:xfrm>
          <a:prstGeom prst="rect">
            <a:avLst/>
          </a:prstGeom>
          <a:noFill/>
          <a:ln/>
        </p:spPr>
        <p:txBody>
          <a:bodyPr wrap="square" lIns="0" tIns="0" rIns="0" bIns="0" rtlCol="0" anchor="ctr"/>
          <a:lstStyle/>
          <a:p>
            <a:pPr indent="0" marL="0">
              <a:buNone/>
            </a:pPr>
            <a:r>
              <a:rPr lang="en-US" sz="1300" b="1" dirty="0">
                <a:solidFill>
                  <a:srgbClr val="F5871F"/>
                </a:solidFill>
                <a:latin typeface="Calibri" pitchFamily="34" charset="0"/>
                <a:ea typeface="Calibri" pitchFamily="34" charset="-122"/>
                <a:cs typeface="Calibri" pitchFamily="34" charset="-120"/>
              </a:rPr>
              <a:t>Saling menguntungkan</a:t>
            </a:r>
            <a:endParaRPr lang="en-US" sz="1300" dirty="0"/>
          </a:p>
        </p:txBody>
      </p:sp>
      <p:sp>
        <p:nvSpPr>
          <p:cNvPr id="25" name="Text 18"/>
          <p:cNvSpPr/>
          <p:nvPr/>
        </p:nvSpPr>
        <p:spPr>
          <a:xfrm>
            <a:off x="7955280" y="3438144"/>
            <a:ext cx="3108960" cy="603504"/>
          </a:xfrm>
          <a:prstGeom prst="rect">
            <a:avLst/>
          </a:prstGeom>
          <a:noFill/>
          <a:ln/>
        </p:spPr>
        <p:txBody>
          <a:bodyPr wrap="square" lIns="0" tIns="0" rIns="0" bIns="0" rtlCol="0" anchor="ctr"/>
          <a:lstStyle/>
          <a:p>
            <a:pPr indent="0" marL="0">
              <a:buNone/>
            </a:pPr>
            <a:r>
              <a:rPr lang="en-US" sz="1100" dirty="0">
                <a:solidFill>
                  <a:srgbClr val="3E5C77"/>
                </a:solidFill>
                <a:latin typeface="Calibri" pitchFamily="34" charset="0"/>
                <a:ea typeface="Calibri" pitchFamily="34" charset="-122"/>
                <a:cs typeface="Calibri" pitchFamily="34" charset="-120"/>
              </a:rPr>
              <a:t>Setiap pihak memperoleh manfaat sesuai tugas dan fungsinya.</a:t>
            </a:r>
            <a:endParaRPr lang="en-US" sz="1100" dirty="0"/>
          </a:p>
        </p:txBody>
      </p:sp>
      <p:sp>
        <p:nvSpPr>
          <p:cNvPr id="26" name="Shape 19"/>
          <p:cNvSpPr/>
          <p:nvPr/>
        </p:nvSpPr>
        <p:spPr>
          <a:xfrm>
            <a:off x="5120640" y="4215384"/>
            <a:ext cx="6504127" cy="822960"/>
          </a:xfrm>
          <a:prstGeom prst="roundRect">
            <a:avLst>
              <a:gd name="adj" fmla="val 1555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7" name="Shape 20"/>
          <p:cNvSpPr/>
          <p:nvPr/>
        </p:nvSpPr>
        <p:spPr>
          <a:xfrm>
            <a:off x="5340096" y="4361688"/>
            <a:ext cx="530352" cy="530352"/>
          </a:xfrm>
          <a:prstGeom prst="ellipse">
            <a:avLst>
              <a:gd name="adj" fmla="val 20690"/>
            </a:avLst>
          </a:prstGeom>
          <a:solidFill>
            <a:srgbClr val="7A66B8"/>
          </a:solidFill>
          <a:ln w="12700">
            <a:solidFill>
              <a:srgbClr val="333333"/>
            </a:solidFill>
            <a:prstDash val="solid"/>
          </a:ln>
        </p:spPr>
      </p:sp>
      <p:pic>
        <p:nvPicPr>
          <p:cNvPr id="28" name="Image 5" descr="preencoded.png">    </p:cNvPr>
          <p:cNvPicPr>
            <a:picLocks noChangeAspect="1"/>
          </p:cNvPicPr>
          <p:nvPr/>
        </p:nvPicPr>
        <p:blipFill>
          <a:blip r:embed="rId6"/>
          <a:stretch>
            <a:fillRect/>
          </a:stretch>
        </p:blipFill>
        <p:spPr>
          <a:xfrm>
            <a:off x="5467380" y="4488972"/>
            <a:ext cx="275783" cy="275783"/>
          </a:xfrm>
          <a:prstGeom prst="rect">
            <a:avLst/>
          </a:prstGeom>
        </p:spPr>
      </p:pic>
      <p:sp>
        <p:nvSpPr>
          <p:cNvPr id="29" name="Text 21"/>
          <p:cNvSpPr/>
          <p:nvPr/>
        </p:nvSpPr>
        <p:spPr>
          <a:xfrm>
            <a:off x="6016752" y="4343400"/>
            <a:ext cx="2011680" cy="292608"/>
          </a:xfrm>
          <a:prstGeom prst="rect">
            <a:avLst/>
          </a:prstGeom>
          <a:noFill/>
          <a:ln/>
        </p:spPr>
        <p:txBody>
          <a:bodyPr wrap="square" lIns="0" tIns="0" rIns="0" bIns="0" rtlCol="0" anchor="ctr"/>
          <a:lstStyle/>
          <a:p>
            <a:pPr indent="0" marL="0">
              <a:buNone/>
            </a:pPr>
            <a:r>
              <a:rPr lang="en-US" sz="1300" b="1" dirty="0">
                <a:solidFill>
                  <a:srgbClr val="7A66B8"/>
                </a:solidFill>
                <a:latin typeface="Calibri" pitchFamily="34" charset="0"/>
                <a:ea typeface="Calibri" pitchFamily="34" charset="-122"/>
                <a:cs typeface="Calibri" pitchFamily="34" charset="-120"/>
              </a:rPr>
              <a:t>Transparan &amp; akuntabel</a:t>
            </a:r>
            <a:endParaRPr lang="en-US" sz="1300" dirty="0"/>
          </a:p>
        </p:txBody>
      </p:sp>
      <p:sp>
        <p:nvSpPr>
          <p:cNvPr id="30" name="Text 22"/>
          <p:cNvSpPr/>
          <p:nvPr/>
        </p:nvSpPr>
        <p:spPr>
          <a:xfrm>
            <a:off x="7955280" y="4343400"/>
            <a:ext cx="3108960" cy="603504"/>
          </a:xfrm>
          <a:prstGeom prst="rect">
            <a:avLst/>
          </a:prstGeom>
          <a:noFill/>
          <a:ln/>
        </p:spPr>
        <p:txBody>
          <a:bodyPr wrap="square" lIns="0" tIns="0" rIns="0" bIns="0" rtlCol="0" anchor="ctr"/>
          <a:lstStyle/>
          <a:p>
            <a:pPr indent="0" marL="0">
              <a:buNone/>
            </a:pPr>
            <a:r>
              <a:rPr lang="en-US" sz="1100" dirty="0">
                <a:solidFill>
                  <a:srgbClr val="3E5C77"/>
                </a:solidFill>
                <a:latin typeface="Calibri" pitchFamily="34" charset="0"/>
                <a:ea typeface="Calibri" pitchFamily="34" charset="-122"/>
                <a:cs typeface="Calibri" pitchFamily="34" charset="-120"/>
              </a:rPr>
              <a:t>Kegiatan, sumber daya, dan hasilnya dicatat serta dilaporkan.</a:t>
            </a:r>
            <a:endParaRPr lang="en-US" sz="1100" dirty="0"/>
          </a:p>
        </p:txBody>
      </p:sp>
      <p:sp>
        <p:nvSpPr>
          <p:cNvPr id="31" name="Shape 23"/>
          <p:cNvSpPr/>
          <p:nvPr/>
        </p:nvSpPr>
        <p:spPr>
          <a:xfrm>
            <a:off x="5120640" y="5120640"/>
            <a:ext cx="6504127" cy="822960"/>
          </a:xfrm>
          <a:prstGeom prst="roundRect">
            <a:avLst>
              <a:gd name="adj" fmla="val 1555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2" name="Shape 24"/>
          <p:cNvSpPr/>
          <p:nvPr/>
        </p:nvSpPr>
        <p:spPr>
          <a:xfrm>
            <a:off x="5340096" y="5266944"/>
            <a:ext cx="530352" cy="530352"/>
          </a:xfrm>
          <a:prstGeom prst="ellipse">
            <a:avLst>
              <a:gd name="adj" fmla="val 20690"/>
            </a:avLst>
          </a:prstGeom>
          <a:solidFill>
            <a:srgbClr val="1F9C9C"/>
          </a:solidFill>
          <a:ln w="12700">
            <a:solidFill>
              <a:srgbClr val="333333"/>
            </a:solidFill>
            <a:prstDash val="solid"/>
          </a:ln>
        </p:spPr>
      </p:sp>
      <p:pic>
        <p:nvPicPr>
          <p:cNvPr id="33" name="Image 6" descr="preencoded.png">    </p:cNvPr>
          <p:cNvPicPr>
            <a:picLocks noChangeAspect="1"/>
          </p:cNvPicPr>
          <p:nvPr/>
        </p:nvPicPr>
        <p:blipFill>
          <a:blip r:embed="rId7"/>
          <a:stretch>
            <a:fillRect/>
          </a:stretch>
        </p:blipFill>
        <p:spPr>
          <a:xfrm>
            <a:off x="5467380" y="5394228"/>
            <a:ext cx="275783" cy="275783"/>
          </a:xfrm>
          <a:prstGeom prst="rect">
            <a:avLst/>
          </a:prstGeom>
        </p:spPr>
      </p:pic>
      <p:sp>
        <p:nvSpPr>
          <p:cNvPr id="34" name="Text 25"/>
          <p:cNvSpPr/>
          <p:nvPr/>
        </p:nvSpPr>
        <p:spPr>
          <a:xfrm>
            <a:off x="6016752" y="5248656"/>
            <a:ext cx="2011680" cy="292608"/>
          </a:xfrm>
          <a:prstGeom prst="rect">
            <a:avLst/>
          </a:prstGeom>
          <a:noFill/>
          <a:ln/>
        </p:spPr>
        <p:txBody>
          <a:bodyPr wrap="square" lIns="0" tIns="0" rIns="0" bIns="0" rtlCol="0" anchor="ctr"/>
          <a:lstStyle/>
          <a:p>
            <a:pPr indent="0" marL="0">
              <a:buNone/>
            </a:pPr>
            <a:r>
              <a:rPr lang="en-US" sz="1300" b="1" dirty="0">
                <a:solidFill>
                  <a:srgbClr val="1F9C9C"/>
                </a:solidFill>
                <a:latin typeface="Calibri" pitchFamily="34" charset="0"/>
                <a:ea typeface="Calibri" pitchFamily="34" charset="-122"/>
                <a:cs typeface="Calibri" pitchFamily="34" charset="-120"/>
              </a:rPr>
              <a:t>Berkelanjutan</a:t>
            </a:r>
            <a:endParaRPr lang="en-US" sz="1300" dirty="0"/>
          </a:p>
        </p:txBody>
      </p:sp>
      <p:sp>
        <p:nvSpPr>
          <p:cNvPr id="35" name="Text 26"/>
          <p:cNvSpPr/>
          <p:nvPr/>
        </p:nvSpPr>
        <p:spPr>
          <a:xfrm>
            <a:off x="7955280" y="5248656"/>
            <a:ext cx="3108960" cy="603504"/>
          </a:xfrm>
          <a:prstGeom prst="rect">
            <a:avLst/>
          </a:prstGeom>
          <a:noFill/>
          <a:ln/>
        </p:spPr>
        <p:txBody>
          <a:bodyPr wrap="square" lIns="0" tIns="0" rIns="0" bIns="0" rtlCol="0" anchor="ctr"/>
          <a:lstStyle/>
          <a:p>
            <a:pPr indent="0" marL="0">
              <a:buNone/>
            </a:pPr>
            <a:r>
              <a:rPr lang="en-US" sz="1100" dirty="0">
                <a:solidFill>
                  <a:srgbClr val="3E5C77"/>
                </a:solidFill>
                <a:latin typeface="Calibri" pitchFamily="34" charset="0"/>
                <a:ea typeface="Calibri" pitchFamily="34" charset="-122"/>
                <a:cs typeface="Calibri" pitchFamily="34" charset="-120"/>
              </a:rPr>
              <a:t>Diikat kesepakatan tertulis agar tidak berhenti saat orangnya berganti.</a:t>
            </a:r>
            <a:endParaRPr lang="en-US" sz="1100" dirty="0"/>
          </a:p>
        </p:txBody>
      </p:sp>
      <p:sp>
        <p:nvSpPr>
          <p:cNvPr id="36" name="Text 27"/>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37" name="Text 28"/>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EKOSISTEM</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Peta Pemangku Kepentingan Satuan PAUD</a:t>
            </a:r>
            <a:endParaRPr lang="en-US" sz="3200" dirty="0"/>
          </a:p>
        </p:txBody>
      </p:sp>
      <p:pic>
        <p:nvPicPr>
          <p:cNvPr id="6" name="Image 0" descr="preencoded.png">    </p:cNvPr>
          <p:cNvPicPr>
            <a:picLocks noChangeAspect="1"/>
          </p:cNvPicPr>
          <p:nvPr/>
        </p:nvPicPr>
        <p:blipFill>
          <a:blip r:embed="rId1"/>
          <a:stretch>
            <a:fillRect/>
          </a:stretch>
        </p:blipFill>
        <p:spPr>
          <a:xfrm>
            <a:off x="4615670" y="1828800"/>
            <a:ext cx="3936020" cy="3931920"/>
          </a:xfrm>
          <a:prstGeom prst="rect">
            <a:avLst/>
          </a:prstGeom>
        </p:spPr>
      </p:pic>
      <p:sp>
        <p:nvSpPr>
          <p:cNvPr id="7" name="Shape 4"/>
          <p:cNvSpPr/>
          <p:nvPr/>
        </p:nvSpPr>
        <p:spPr>
          <a:xfrm>
            <a:off x="5742432" y="2953512"/>
            <a:ext cx="1682496" cy="1682496"/>
          </a:xfrm>
          <a:prstGeom prst="ellipse">
            <a:avLst/>
          </a:prstGeom>
          <a:solidFill>
            <a:srgbClr val="1E76C8"/>
          </a:solidFill>
          <a:ln w="50800">
            <a:solidFill>
              <a:srgbClr val="FFFFFF"/>
            </a:solidFill>
            <a:prstDash val="solid"/>
          </a:ln>
          <a:effectLst>
            <a:outerShdw sx="100000" sy="100000" kx="0" ky="0" algn="bl" rotWithShape="0" blurRad="228600" dist="38100" dir="5400000">
              <a:srgbClr val="0F3352">
                <a:alpha val="18000"/>
              </a:srgbClr>
            </a:outerShdw>
          </a:effectLst>
        </p:spPr>
      </p:sp>
      <p:sp>
        <p:nvSpPr>
          <p:cNvPr id="8" name="Text 5"/>
          <p:cNvSpPr/>
          <p:nvPr/>
        </p:nvSpPr>
        <p:spPr>
          <a:xfrm>
            <a:off x="5760720" y="3410712"/>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SATUAN</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PAUD</a:t>
            </a:r>
            <a:endParaRPr lang="en-US" sz="1600" dirty="0"/>
          </a:p>
        </p:txBody>
      </p:sp>
      <p:sp>
        <p:nvSpPr>
          <p:cNvPr id="9" name="Shape 6"/>
          <p:cNvSpPr/>
          <p:nvPr/>
        </p:nvSpPr>
        <p:spPr>
          <a:xfrm>
            <a:off x="5513832" y="1426464"/>
            <a:ext cx="2139696" cy="566928"/>
          </a:xfrm>
          <a:prstGeom prst="roundRect">
            <a:avLst>
              <a:gd name="adj" fmla="val 48387"/>
            </a:avLst>
          </a:prstGeom>
          <a:solidFill>
            <a:srgbClr val="FFFFFF"/>
          </a:solidFill>
          <a:ln w="17780">
            <a:solidFill>
              <a:srgbClr val="0F4C88"/>
            </a:solidFill>
            <a:prstDash val="solid"/>
          </a:ln>
          <a:effectLst>
            <a:outerShdw sx="100000" sy="100000" kx="0" ky="0" algn="bl" rotWithShape="0" blurRad="177800" dist="38100" dir="5400000">
              <a:srgbClr val="0F3352">
                <a:alpha val="10000"/>
              </a:srgbClr>
            </a:outerShdw>
          </a:effectLst>
        </p:spPr>
      </p:sp>
      <p:sp>
        <p:nvSpPr>
          <p:cNvPr id="10" name="Shape 7"/>
          <p:cNvSpPr/>
          <p:nvPr/>
        </p:nvSpPr>
        <p:spPr>
          <a:xfrm>
            <a:off x="5586984" y="1499616"/>
            <a:ext cx="420624" cy="420624"/>
          </a:xfrm>
          <a:prstGeom prst="ellipse">
            <a:avLst/>
          </a:prstGeom>
          <a:solidFill>
            <a:srgbClr val="0F4C88"/>
          </a:solidFill>
          <a:ln/>
        </p:spPr>
      </p:sp>
      <p:pic>
        <p:nvPicPr>
          <p:cNvPr id="11" name="Image 1" descr="preencoded.png">    </p:cNvPr>
          <p:cNvPicPr>
            <a:picLocks noChangeAspect="1"/>
          </p:cNvPicPr>
          <p:nvPr/>
        </p:nvPicPr>
        <p:blipFill>
          <a:blip r:embed="rId2"/>
          <a:stretch>
            <a:fillRect/>
          </a:stretch>
        </p:blipFill>
        <p:spPr>
          <a:xfrm>
            <a:off x="5687568" y="1600200"/>
            <a:ext cx="219456" cy="219456"/>
          </a:xfrm>
          <a:prstGeom prst="rect">
            <a:avLst/>
          </a:prstGeom>
        </p:spPr>
      </p:pic>
      <p:sp>
        <p:nvSpPr>
          <p:cNvPr id="12" name="Text 8"/>
          <p:cNvSpPr/>
          <p:nvPr/>
        </p:nvSpPr>
        <p:spPr>
          <a:xfrm>
            <a:off x="6062472" y="1463040"/>
            <a:ext cx="1517904" cy="493776"/>
          </a:xfrm>
          <a:prstGeom prst="rect">
            <a:avLst/>
          </a:prstGeom>
          <a:noFill/>
          <a:ln/>
        </p:spPr>
        <p:txBody>
          <a:bodyPr wrap="square" lIns="0" tIns="0" rIns="0" bIns="0" rtlCol="0" anchor="ctr"/>
          <a:lstStyle/>
          <a:p>
            <a:pPr indent="0" marL="0">
              <a:buNone/>
            </a:pPr>
            <a:r>
              <a:rPr lang="en-US" sz="1050" b="1" dirty="0">
                <a:solidFill>
                  <a:srgbClr val="173753"/>
                </a:solidFill>
                <a:latin typeface="Calibri" pitchFamily="34" charset="0"/>
                <a:ea typeface="Calibri" pitchFamily="34" charset="-122"/>
                <a:cs typeface="Calibri" pitchFamily="34" charset="-120"/>
              </a:rPr>
              <a:t>Dinas Pendidikan</a:t>
            </a:r>
            <a:endParaRPr lang="en-US" sz="1050" dirty="0"/>
          </a:p>
        </p:txBody>
      </p:sp>
      <p:sp>
        <p:nvSpPr>
          <p:cNvPr id="13" name="Shape 9"/>
          <p:cNvSpPr/>
          <p:nvPr/>
        </p:nvSpPr>
        <p:spPr>
          <a:xfrm>
            <a:off x="8100146" y="2037097"/>
            <a:ext cx="2139696" cy="566928"/>
          </a:xfrm>
          <a:prstGeom prst="roundRect">
            <a:avLst>
              <a:gd name="adj" fmla="val 48387"/>
            </a:avLst>
          </a:prstGeom>
          <a:solidFill>
            <a:srgbClr val="FFFFFF"/>
          </a:solidFill>
          <a:ln w="17780">
            <a:solidFill>
              <a:srgbClr val="2FA36B"/>
            </a:solidFill>
            <a:prstDash val="solid"/>
          </a:ln>
          <a:effectLst>
            <a:outerShdw sx="100000" sy="100000" kx="0" ky="0" algn="bl" rotWithShape="0" blurRad="177800" dist="38100" dir="5400000">
              <a:srgbClr val="0F3352">
                <a:alpha val="10000"/>
              </a:srgbClr>
            </a:outerShdw>
          </a:effectLst>
        </p:spPr>
      </p:sp>
      <p:sp>
        <p:nvSpPr>
          <p:cNvPr id="14" name="Shape 10"/>
          <p:cNvSpPr/>
          <p:nvPr/>
        </p:nvSpPr>
        <p:spPr>
          <a:xfrm>
            <a:off x="8173298" y="2110249"/>
            <a:ext cx="420624" cy="420624"/>
          </a:xfrm>
          <a:prstGeom prst="ellipse">
            <a:avLst/>
          </a:prstGeom>
          <a:solidFill>
            <a:srgbClr val="2FA36B"/>
          </a:solidFill>
          <a:ln/>
        </p:spPr>
      </p:sp>
      <p:pic>
        <p:nvPicPr>
          <p:cNvPr id="15" name="Image 2" descr="preencoded.png">    </p:cNvPr>
          <p:cNvPicPr>
            <a:picLocks noChangeAspect="1"/>
          </p:cNvPicPr>
          <p:nvPr/>
        </p:nvPicPr>
        <p:blipFill>
          <a:blip r:embed="rId3"/>
          <a:stretch>
            <a:fillRect/>
          </a:stretch>
        </p:blipFill>
        <p:spPr>
          <a:xfrm>
            <a:off x="8273882" y="2210833"/>
            <a:ext cx="219456" cy="219456"/>
          </a:xfrm>
          <a:prstGeom prst="rect">
            <a:avLst/>
          </a:prstGeom>
        </p:spPr>
      </p:pic>
      <p:sp>
        <p:nvSpPr>
          <p:cNvPr id="16" name="Text 11"/>
          <p:cNvSpPr/>
          <p:nvPr/>
        </p:nvSpPr>
        <p:spPr>
          <a:xfrm>
            <a:off x="8648786" y="2073673"/>
            <a:ext cx="1517904" cy="493776"/>
          </a:xfrm>
          <a:prstGeom prst="rect">
            <a:avLst/>
          </a:prstGeom>
          <a:noFill/>
          <a:ln/>
        </p:spPr>
        <p:txBody>
          <a:bodyPr wrap="square" lIns="0" tIns="0" rIns="0" bIns="0" rtlCol="0" anchor="ctr"/>
          <a:lstStyle/>
          <a:p>
            <a:pPr indent="0" marL="0">
              <a:buNone/>
            </a:pPr>
            <a:r>
              <a:rPr lang="en-US" sz="1050" b="1" dirty="0">
                <a:solidFill>
                  <a:srgbClr val="173753"/>
                </a:solidFill>
                <a:latin typeface="Calibri" pitchFamily="34" charset="0"/>
                <a:ea typeface="Calibri" pitchFamily="34" charset="-122"/>
                <a:cs typeface="Calibri" pitchFamily="34" charset="-120"/>
              </a:rPr>
              <a:t>Puskesmas &amp; Dinkes</a:t>
            </a:r>
            <a:endParaRPr lang="en-US" sz="1050" dirty="0"/>
          </a:p>
        </p:txBody>
      </p:sp>
      <p:sp>
        <p:nvSpPr>
          <p:cNvPr id="17" name="Shape 12"/>
          <p:cNvSpPr/>
          <p:nvPr/>
        </p:nvSpPr>
        <p:spPr>
          <a:xfrm>
            <a:off x="9171432" y="3511296"/>
            <a:ext cx="2139696" cy="566928"/>
          </a:xfrm>
          <a:prstGeom prst="roundRect">
            <a:avLst>
              <a:gd name="adj" fmla="val 48387"/>
            </a:avLst>
          </a:prstGeom>
          <a:solidFill>
            <a:srgbClr val="FFFFFF"/>
          </a:solidFill>
          <a:ln w="17780">
            <a:solidFill>
              <a:srgbClr val="1F9C9C"/>
            </a:solidFill>
            <a:prstDash val="solid"/>
          </a:ln>
          <a:effectLst>
            <a:outerShdw sx="100000" sy="100000" kx="0" ky="0" algn="bl" rotWithShape="0" blurRad="177800" dist="38100" dir="5400000">
              <a:srgbClr val="0F3352">
                <a:alpha val="10000"/>
              </a:srgbClr>
            </a:outerShdw>
          </a:effectLst>
        </p:spPr>
      </p:sp>
      <p:sp>
        <p:nvSpPr>
          <p:cNvPr id="18" name="Shape 13"/>
          <p:cNvSpPr/>
          <p:nvPr/>
        </p:nvSpPr>
        <p:spPr>
          <a:xfrm>
            <a:off x="9244584" y="3584448"/>
            <a:ext cx="420624" cy="420624"/>
          </a:xfrm>
          <a:prstGeom prst="ellipse">
            <a:avLst/>
          </a:prstGeom>
          <a:solidFill>
            <a:srgbClr val="1F9C9C"/>
          </a:solidFill>
          <a:ln/>
        </p:spPr>
      </p:sp>
      <p:pic>
        <p:nvPicPr>
          <p:cNvPr id="19" name="Image 3" descr="preencoded.png">    </p:cNvPr>
          <p:cNvPicPr>
            <a:picLocks noChangeAspect="1"/>
          </p:cNvPicPr>
          <p:nvPr/>
        </p:nvPicPr>
        <p:blipFill>
          <a:blip r:embed="rId4"/>
          <a:stretch>
            <a:fillRect/>
          </a:stretch>
        </p:blipFill>
        <p:spPr>
          <a:xfrm>
            <a:off x="9345168" y="3685032"/>
            <a:ext cx="219456" cy="219456"/>
          </a:xfrm>
          <a:prstGeom prst="rect">
            <a:avLst/>
          </a:prstGeom>
        </p:spPr>
      </p:pic>
      <p:sp>
        <p:nvSpPr>
          <p:cNvPr id="20" name="Text 14"/>
          <p:cNvSpPr/>
          <p:nvPr/>
        </p:nvSpPr>
        <p:spPr>
          <a:xfrm>
            <a:off x="9720072" y="3547872"/>
            <a:ext cx="1517904" cy="493776"/>
          </a:xfrm>
          <a:prstGeom prst="rect">
            <a:avLst/>
          </a:prstGeom>
          <a:noFill/>
          <a:ln/>
        </p:spPr>
        <p:txBody>
          <a:bodyPr wrap="square" lIns="0" tIns="0" rIns="0" bIns="0" rtlCol="0" anchor="ctr"/>
          <a:lstStyle/>
          <a:p>
            <a:pPr indent="0" marL="0">
              <a:buNone/>
            </a:pPr>
            <a:r>
              <a:rPr lang="en-US" sz="1050" b="1" dirty="0">
                <a:solidFill>
                  <a:srgbClr val="173753"/>
                </a:solidFill>
                <a:latin typeface="Calibri" pitchFamily="34" charset="0"/>
                <a:ea typeface="Calibri" pitchFamily="34" charset="-122"/>
                <a:cs typeface="Calibri" pitchFamily="34" charset="-120"/>
              </a:rPr>
              <a:t>Posyandu &amp; Kader</a:t>
            </a:r>
            <a:endParaRPr lang="en-US" sz="1050" dirty="0"/>
          </a:p>
        </p:txBody>
      </p:sp>
      <p:sp>
        <p:nvSpPr>
          <p:cNvPr id="21" name="Shape 15"/>
          <p:cNvSpPr/>
          <p:nvPr/>
        </p:nvSpPr>
        <p:spPr>
          <a:xfrm>
            <a:off x="8100146" y="4985495"/>
            <a:ext cx="2139696" cy="566928"/>
          </a:xfrm>
          <a:prstGeom prst="roundRect">
            <a:avLst>
              <a:gd name="adj" fmla="val 48387"/>
            </a:avLst>
          </a:prstGeom>
          <a:solidFill>
            <a:srgbClr val="FFFFFF"/>
          </a:solidFill>
          <a:ln w="17780">
            <a:solidFill>
              <a:srgbClr val="7A66B8"/>
            </a:solidFill>
            <a:prstDash val="solid"/>
          </a:ln>
          <a:effectLst>
            <a:outerShdw sx="100000" sy="100000" kx="0" ky="0" algn="bl" rotWithShape="0" blurRad="177800" dist="38100" dir="5400000">
              <a:srgbClr val="0F3352">
                <a:alpha val="10000"/>
              </a:srgbClr>
            </a:outerShdw>
          </a:effectLst>
        </p:spPr>
      </p:sp>
      <p:sp>
        <p:nvSpPr>
          <p:cNvPr id="22" name="Shape 16"/>
          <p:cNvSpPr/>
          <p:nvPr/>
        </p:nvSpPr>
        <p:spPr>
          <a:xfrm>
            <a:off x="8173298" y="5058647"/>
            <a:ext cx="420624" cy="420624"/>
          </a:xfrm>
          <a:prstGeom prst="ellipse">
            <a:avLst/>
          </a:prstGeom>
          <a:solidFill>
            <a:srgbClr val="7A66B8"/>
          </a:solidFill>
          <a:ln/>
        </p:spPr>
      </p:sp>
      <p:pic>
        <p:nvPicPr>
          <p:cNvPr id="23" name="Image 4" descr="preencoded.png">    </p:cNvPr>
          <p:cNvPicPr>
            <a:picLocks noChangeAspect="1"/>
          </p:cNvPicPr>
          <p:nvPr/>
        </p:nvPicPr>
        <p:blipFill>
          <a:blip r:embed="rId5"/>
          <a:stretch>
            <a:fillRect/>
          </a:stretch>
        </p:blipFill>
        <p:spPr>
          <a:xfrm>
            <a:off x="8273882" y="5159231"/>
            <a:ext cx="219456" cy="219456"/>
          </a:xfrm>
          <a:prstGeom prst="rect">
            <a:avLst/>
          </a:prstGeom>
        </p:spPr>
      </p:pic>
      <p:sp>
        <p:nvSpPr>
          <p:cNvPr id="24" name="Text 17"/>
          <p:cNvSpPr/>
          <p:nvPr/>
        </p:nvSpPr>
        <p:spPr>
          <a:xfrm>
            <a:off x="8648786" y="5022071"/>
            <a:ext cx="1517904" cy="493776"/>
          </a:xfrm>
          <a:prstGeom prst="rect">
            <a:avLst/>
          </a:prstGeom>
          <a:noFill/>
          <a:ln/>
        </p:spPr>
        <p:txBody>
          <a:bodyPr wrap="square" lIns="0" tIns="0" rIns="0" bIns="0" rtlCol="0" anchor="ctr"/>
          <a:lstStyle/>
          <a:p>
            <a:pPr indent="0" marL="0">
              <a:buNone/>
            </a:pPr>
            <a:r>
              <a:rPr lang="en-US" sz="1050" b="1" dirty="0">
                <a:solidFill>
                  <a:srgbClr val="173753"/>
                </a:solidFill>
                <a:latin typeface="Calibri" pitchFamily="34" charset="0"/>
                <a:ea typeface="Calibri" pitchFamily="34" charset="-122"/>
                <a:cs typeface="Calibri" pitchFamily="34" charset="-120"/>
              </a:rPr>
              <a:t>Dukcapil, Dinsos &amp; DP3A</a:t>
            </a:r>
            <a:endParaRPr lang="en-US" sz="1050" dirty="0"/>
          </a:p>
        </p:txBody>
      </p:sp>
      <p:sp>
        <p:nvSpPr>
          <p:cNvPr id="25" name="Shape 18"/>
          <p:cNvSpPr/>
          <p:nvPr/>
        </p:nvSpPr>
        <p:spPr>
          <a:xfrm>
            <a:off x="5513832" y="5596128"/>
            <a:ext cx="2139696" cy="566928"/>
          </a:xfrm>
          <a:prstGeom prst="roundRect">
            <a:avLst>
              <a:gd name="adj" fmla="val 48387"/>
            </a:avLst>
          </a:prstGeom>
          <a:solidFill>
            <a:srgbClr val="FFFFFF"/>
          </a:solidFill>
          <a:ln w="17780">
            <a:solidFill>
              <a:srgbClr val="F5871F"/>
            </a:solidFill>
            <a:prstDash val="solid"/>
          </a:ln>
          <a:effectLst>
            <a:outerShdw sx="100000" sy="100000" kx="0" ky="0" algn="bl" rotWithShape="0" blurRad="177800" dist="38100" dir="5400000">
              <a:srgbClr val="0F3352">
                <a:alpha val="10000"/>
              </a:srgbClr>
            </a:outerShdw>
          </a:effectLst>
        </p:spPr>
      </p:sp>
      <p:sp>
        <p:nvSpPr>
          <p:cNvPr id="26" name="Shape 19"/>
          <p:cNvSpPr/>
          <p:nvPr/>
        </p:nvSpPr>
        <p:spPr>
          <a:xfrm>
            <a:off x="5586984" y="5669280"/>
            <a:ext cx="420624" cy="420624"/>
          </a:xfrm>
          <a:prstGeom prst="ellipse">
            <a:avLst/>
          </a:prstGeom>
          <a:solidFill>
            <a:srgbClr val="F5871F"/>
          </a:solidFill>
          <a:ln/>
        </p:spPr>
      </p:sp>
      <p:pic>
        <p:nvPicPr>
          <p:cNvPr id="27" name="Image 5" descr="preencoded.png">    </p:cNvPr>
          <p:cNvPicPr>
            <a:picLocks noChangeAspect="1"/>
          </p:cNvPicPr>
          <p:nvPr/>
        </p:nvPicPr>
        <p:blipFill>
          <a:blip r:embed="rId6"/>
          <a:stretch>
            <a:fillRect/>
          </a:stretch>
        </p:blipFill>
        <p:spPr>
          <a:xfrm>
            <a:off x="5687568" y="5769864"/>
            <a:ext cx="219456" cy="219456"/>
          </a:xfrm>
          <a:prstGeom prst="rect">
            <a:avLst/>
          </a:prstGeom>
        </p:spPr>
      </p:pic>
      <p:sp>
        <p:nvSpPr>
          <p:cNvPr id="28" name="Text 20"/>
          <p:cNvSpPr/>
          <p:nvPr/>
        </p:nvSpPr>
        <p:spPr>
          <a:xfrm>
            <a:off x="6062472" y="5632704"/>
            <a:ext cx="1517904" cy="493776"/>
          </a:xfrm>
          <a:prstGeom prst="rect">
            <a:avLst/>
          </a:prstGeom>
          <a:noFill/>
          <a:ln/>
        </p:spPr>
        <p:txBody>
          <a:bodyPr wrap="square" lIns="0" tIns="0" rIns="0" bIns="0" rtlCol="0" anchor="ctr"/>
          <a:lstStyle/>
          <a:p>
            <a:pPr indent="0" marL="0">
              <a:buNone/>
            </a:pPr>
            <a:r>
              <a:rPr lang="en-US" sz="1050" b="1" dirty="0">
                <a:solidFill>
                  <a:srgbClr val="173753"/>
                </a:solidFill>
                <a:latin typeface="Calibri" pitchFamily="34" charset="0"/>
                <a:ea typeface="Calibri" pitchFamily="34" charset="-122"/>
                <a:cs typeface="Calibri" pitchFamily="34" charset="-120"/>
              </a:rPr>
              <a:t>Orang Tua &amp; Komite</a:t>
            </a:r>
            <a:endParaRPr lang="en-US" sz="1050" dirty="0"/>
          </a:p>
        </p:txBody>
      </p:sp>
      <p:sp>
        <p:nvSpPr>
          <p:cNvPr id="29" name="Shape 21"/>
          <p:cNvSpPr/>
          <p:nvPr/>
        </p:nvSpPr>
        <p:spPr>
          <a:xfrm>
            <a:off x="2927518" y="4985495"/>
            <a:ext cx="2139696" cy="566928"/>
          </a:xfrm>
          <a:prstGeom prst="roundRect">
            <a:avLst>
              <a:gd name="adj" fmla="val 48387"/>
            </a:avLst>
          </a:prstGeom>
          <a:solidFill>
            <a:srgbClr val="FFFFFF"/>
          </a:solidFill>
          <a:ln w="17780">
            <a:solidFill>
              <a:srgbClr val="E0574B"/>
            </a:solidFill>
            <a:prstDash val="solid"/>
          </a:ln>
          <a:effectLst>
            <a:outerShdw sx="100000" sy="100000" kx="0" ky="0" algn="bl" rotWithShape="0" blurRad="177800" dist="38100" dir="5400000">
              <a:srgbClr val="0F3352">
                <a:alpha val="10000"/>
              </a:srgbClr>
            </a:outerShdw>
          </a:effectLst>
        </p:spPr>
      </p:sp>
      <p:sp>
        <p:nvSpPr>
          <p:cNvPr id="30" name="Shape 22"/>
          <p:cNvSpPr/>
          <p:nvPr/>
        </p:nvSpPr>
        <p:spPr>
          <a:xfrm>
            <a:off x="3000670" y="5058647"/>
            <a:ext cx="420624" cy="420624"/>
          </a:xfrm>
          <a:prstGeom prst="ellipse">
            <a:avLst/>
          </a:prstGeom>
          <a:solidFill>
            <a:srgbClr val="E0574B"/>
          </a:solidFill>
          <a:ln/>
        </p:spPr>
      </p:sp>
      <p:pic>
        <p:nvPicPr>
          <p:cNvPr id="31" name="Image 6" descr="preencoded.png">    </p:cNvPr>
          <p:cNvPicPr>
            <a:picLocks noChangeAspect="1"/>
          </p:cNvPicPr>
          <p:nvPr/>
        </p:nvPicPr>
        <p:blipFill>
          <a:blip r:embed="rId7"/>
          <a:stretch>
            <a:fillRect/>
          </a:stretch>
        </p:blipFill>
        <p:spPr>
          <a:xfrm>
            <a:off x="3101254" y="5159231"/>
            <a:ext cx="219456" cy="219456"/>
          </a:xfrm>
          <a:prstGeom prst="rect">
            <a:avLst/>
          </a:prstGeom>
        </p:spPr>
      </p:pic>
      <p:sp>
        <p:nvSpPr>
          <p:cNvPr id="32" name="Text 23"/>
          <p:cNvSpPr/>
          <p:nvPr/>
        </p:nvSpPr>
        <p:spPr>
          <a:xfrm>
            <a:off x="3476158" y="5022071"/>
            <a:ext cx="1517904" cy="493776"/>
          </a:xfrm>
          <a:prstGeom prst="rect">
            <a:avLst/>
          </a:prstGeom>
          <a:noFill/>
          <a:ln/>
        </p:spPr>
        <p:txBody>
          <a:bodyPr wrap="square" lIns="0" tIns="0" rIns="0" bIns="0" rtlCol="0" anchor="ctr"/>
          <a:lstStyle/>
          <a:p>
            <a:pPr indent="0" marL="0">
              <a:buNone/>
            </a:pPr>
            <a:r>
              <a:rPr lang="en-US" sz="1050" b="1" dirty="0">
                <a:solidFill>
                  <a:srgbClr val="173753"/>
                </a:solidFill>
                <a:latin typeface="Calibri" pitchFamily="34" charset="0"/>
                <a:ea typeface="Calibri" pitchFamily="34" charset="-122"/>
                <a:cs typeface="Calibri" pitchFamily="34" charset="-120"/>
              </a:rPr>
              <a:t>Bunda PAUD &amp; TP PKK</a:t>
            </a:r>
            <a:endParaRPr lang="en-US" sz="1050" dirty="0"/>
          </a:p>
        </p:txBody>
      </p:sp>
      <p:sp>
        <p:nvSpPr>
          <p:cNvPr id="33" name="Shape 24"/>
          <p:cNvSpPr/>
          <p:nvPr/>
        </p:nvSpPr>
        <p:spPr>
          <a:xfrm>
            <a:off x="1856232" y="3511296"/>
            <a:ext cx="2139696" cy="566928"/>
          </a:xfrm>
          <a:prstGeom prst="roundRect">
            <a:avLst>
              <a:gd name="adj" fmla="val 48387"/>
            </a:avLst>
          </a:prstGeom>
          <a:solidFill>
            <a:srgbClr val="FFFFFF"/>
          </a:solidFill>
          <a:ln w="17780">
            <a:solidFill>
              <a:srgbClr val="176B44"/>
            </a:solidFill>
            <a:prstDash val="solid"/>
          </a:ln>
          <a:effectLst>
            <a:outerShdw sx="100000" sy="100000" kx="0" ky="0" algn="bl" rotWithShape="0" blurRad="177800" dist="38100" dir="5400000">
              <a:srgbClr val="0F3352">
                <a:alpha val="10000"/>
              </a:srgbClr>
            </a:outerShdw>
          </a:effectLst>
        </p:spPr>
      </p:sp>
      <p:sp>
        <p:nvSpPr>
          <p:cNvPr id="34" name="Shape 25"/>
          <p:cNvSpPr/>
          <p:nvPr/>
        </p:nvSpPr>
        <p:spPr>
          <a:xfrm>
            <a:off x="1929384" y="3584448"/>
            <a:ext cx="420624" cy="420624"/>
          </a:xfrm>
          <a:prstGeom prst="ellipse">
            <a:avLst/>
          </a:prstGeom>
          <a:solidFill>
            <a:srgbClr val="176B44"/>
          </a:solidFill>
          <a:ln/>
        </p:spPr>
      </p:sp>
      <p:pic>
        <p:nvPicPr>
          <p:cNvPr id="35" name="Image 7" descr="preencoded.png">    </p:cNvPr>
          <p:cNvPicPr>
            <a:picLocks noChangeAspect="1"/>
          </p:cNvPicPr>
          <p:nvPr/>
        </p:nvPicPr>
        <p:blipFill>
          <a:blip r:embed="rId8"/>
          <a:stretch>
            <a:fillRect/>
          </a:stretch>
        </p:blipFill>
        <p:spPr>
          <a:xfrm>
            <a:off x="2029968" y="3685032"/>
            <a:ext cx="219456" cy="219456"/>
          </a:xfrm>
          <a:prstGeom prst="rect">
            <a:avLst/>
          </a:prstGeom>
        </p:spPr>
      </p:pic>
      <p:sp>
        <p:nvSpPr>
          <p:cNvPr id="36" name="Text 26"/>
          <p:cNvSpPr/>
          <p:nvPr/>
        </p:nvSpPr>
        <p:spPr>
          <a:xfrm>
            <a:off x="2404872" y="3547872"/>
            <a:ext cx="1517904" cy="493776"/>
          </a:xfrm>
          <a:prstGeom prst="rect">
            <a:avLst/>
          </a:prstGeom>
          <a:noFill/>
          <a:ln/>
        </p:spPr>
        <p:txBody>
          <a:bodyPr wrap="square" lIns="0" tIns="0" rIns="0" bIns="0" rtlCol="0" anchor="ctr"/>
          <a:lstStyle/>
          <a:p>
            <a:pPr indent="0" marL="0">
              <a:buNone/>
            </a:pPr>
            <a:r>
              <a:rPr lang="en-US" sz="1050" b="1" dirty="0">
                <a:solidFill>
                  <a:srgbClr val="173753"/>
                </a:solidFill>
                <a:latin typeface="Calibri" pitchFamily="34" charset="0"/>
                <a:ea typeface="Calibri" pitchFamily="34" charset="-122"/>
                <a:cs typeface="Calibri" pitchFamily="34" charset="-120"/>
              </a:rPr>
              <a:t>Pemerintah Desa</a:t>
            </a:r>
            <a:endParaRPr lang="en-US" sz="1050" dirty="0"/>
          </a:p>
        </p:txBody>
      </p:sp>
      <p:sp>
        <p:nvSpPr>
          <p:cNvPr id="37" name="Shape 27"/>
          <p:cNvSpPr/>
          <p:nvPr/>
        </p:nvSpPr>
        <p:spPr>
          <a:xfrm>
            <a:off x="2927518" y="2037097"/>
            <a:ext cx="2139696" cy="566928"/>
          </a:xfrm>
          <a:prstGeom prst="roundRect">
            <a:avLst>
              <a:gd name="adj" fmla="val 48387"/>
            </a:avLst>
          </a:prstGeom>
          <a:solidFill>
            <a:srgbClr val="FFFFFF"/>
          </a:solidFill>
          <a:ln w="17780">
            <a:solidFill>
              <a:srgbClr val="1E76C8"/>
            </a:solidFill>
            <a:prstDash val="solid"/>
          </a:ln>
          <a:effectLst>
            <a:outerShdw sx="100000" sy="100000" kx="0" ky="0" algn="bl" rotWithShape="0" blurRad="177800" dist="38100" dir="5400000">
              <a:srgbClr val="0F3352">
                <a:alpha val="10000"/>
              </a:srgbClr>
            </a:outerShdw>
          </a:effectLst>
        </p:spPr>
      </p:sp>
      <p:sp>
        <p:nvSpPr>
          <p:cNvPr id="38" name="Shape 28"/>
          <p:cNvSpPr/>
          <p:nvPr/>
        </p:nvSpPr>
        <p:spPr>
          <a:xfrm>
            <a:off x="3000670" y="2110249"/>
            <a:ext cx="420624" cy="420624"/>
          </a:xfrm>
          <a:prstGeom prst="ellipse">
            <a:avLst/>
          </a:prstGeom>
          <a:solidFill>
            <a:srgbClr val="1E76C8"/>
          </a:solidFill>
          <a:ln/>
        </p:spPr>
      </p:sp>
      <p:pic>
        <p:nvPicPr>
          <p:cNvPr id="39" name="Image 8" descr="preencoded.png">    </p:cNvPr>
          <p:cNvPicPr>
            <a:picLocks noChangeAspect="1"/>
          </p:cNvPicPr>
          <p:nvPr/>
        </p:nvPicPr>
        <p:blipFill>
          <a:blip r:embed="rId9"/>
          <a:stretch>
            <a:fillRect/>
          </a:stretch>
        </p:blipFill>
        <p:spPr>
          <a:xfrm>
            <a:off x="3101254" y="2210833"/>
            <a:ext cx="219456" cy="219456"/>
          </a:xfrm>
          <a:prstGeom prst="rect">
            <a:avLst/>
          </a:prstGeom>
        </p:spPr>
      </p:pic>
      <p:sp>
        <p:nvSpPr>
          <p:cNvPr id="40" name="Text 29"/>
          <p:cNvSpPr/>
          <p:nvPr/>
        </p:nvSpPr>
        <p:spPr>
          <a:xfrm>
            <a:off x="3476158" y="2073673"/>
            <a:ext cx="1517904" cy="493776"/>
          </a:xfrm>
          <a:prstGeom prst="rect">
            <a:avLst/>
          </a:prstGeom>
          <a:noFill/>
          <a:ln/>
        </p:spPr>
        <p:txBody>
          <a:bodyPr wrap="square" lIns="0" tIns="0" rIns="0" bIns="0" rtlCol="0" anchor="ctr"/>
          <a:lstStyle/>
          <a:p>
            <a:pPr indent="0" marL="0">
              <a:buNone/>
            </a:pPr>
            <a:r>
              <a:rPr lang="en-US" sz="1050" b="1" dirty="0">
                <a:solidFill>
                  <a:srgbClr val="173753"/>
                </a:solidFill>
                <a:latin typeface="Calibri" pitchFamily="34" charset="0"/>
                <a:ea typeface="Calibri" pitchFamily="34" charset="-122"/>
                <a:cs typeface="Calibri" pitchFamily="34" charset="-120"/>
              </a:rPr>
              <a:t>Dunia Usaha &amp; Mitra</a:t>
            </a:r>
            <a:endParaRPr lang="en-US" sz="1050" dirty="0"/>
          </a:p>
        </p:txBody>
      </p:sp>
      <p:sp>
        <p:nvSpPr>
          <p:cNvPr id="41" name="Shape 30"/>
          <p:cNvSpPr/>
          <p:nvPr/>
        </p:nvSpPr>
        <p:spPr>
          <a:xfrm>
            <a:off x="566928" y="1828800"/>
            <a:ext cx="2194560" cy="1554480"/>
          </a:xfrm>
          <a:prstGeom prst="roundRect">
            <a:avLst>
              <a:gd name="adj" fmla="val 8235"/>
            </a:avLst>
          </a:prstGeom>
          <a:solidFill>
            <a:srgbClr val="DCEDFB"/>
          </a:solidFill>
          <a:ln w="12700">
            <a:solidFill>
              <a:srgbClr val="B9DBF6"/>
            </a:solidFill>
            <a:prstDash val="solid"/>
          </a:ln>
          <a:effectLst>
            <a:outerShdw sx="100000" sy="100000" kx="0" ky="0" algn="bl" rotWithShape="0" blurRad="177800" dist="38100" dir="5400000">
              <a:srgbClr val="0F3352">
                <a:alpha val="10000"/>
              </a:srgbClr>
            </a:outerShdw>
          </a:effectLst>
        </p:spPr>
      </p:sp>
      <p:sp>
        <p:nvSpPr>
          <p:cNvPr id="42" name="Text 31"/>
          <p:cNvSpPr/>
          <p:nvPr/>
        </p:nvSpPr>
        <p:spPr>
          <a:xfrm>
            <a:off x="749808" y="1956816"/>
            <a:ext cx="1828800" cy="1316736"/>
          </a:xfrm>
          <a:prstGeom prst="rect">
            <a:avLst/>
          </a:prstGeom>
          <a:noFill/>
          <a:ln/>
        </p:spPr>
        <p:txBody>
          <a:bodyPr wrap="square" lIns="0" tIns="0" rIns="0" bIns="0" rtlCol="0" anchor="ctr"/>
          <a:lstStyle/>
          <a:p>
            <a:pPr indent="0" marL="0">
              <a:buNone/>
            </a:pPr>
            <a:r>
              <a:rPr lang="en-US" sz="1100" dirty="0">
                <a:solidFill>
                  <a:srgbClr val="0F4C88"/>
                </a:solidFill>
                <a:latin typeface="Calibri" pitchFamily="34" charset="0"/>
                <a:ea typeface="Calibri" pitchFamily="34" charset="-122"/>
                <a:cs typeface="Calibri" pitchFamily="34" charset="-120"/>
              </a:rPr>
              <a:t>Satuan PAUD berada di titik temu. Tugasnya bukan mengerjakan semua layanan, melainkan menghubungkan anak dengan layanan yang tersedia.</a:t>
            </a:r>
            <a:endParaRPr lang="en-US" sz="1100" dirty="0"/>
          </a:p>
        </p:txBody>
      </p:sp>
      <p:sp>
        <p:nvSpPr>
          <p:cNvPr id="43" name="Text 32"/>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44" name="Text 33"/>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E3F6EC">
              <a:alpha val="55000"/>
            </a:srgbClr>
          </a:solidFill>
          <a:ln/>
        </p:spPr>
      </p:sp>
      <p:sp>
        <p:nvSpPr>
          <p:cNvPr id="3" name="Shape 1"/>
          <p:cNvSpPr/>
          <p:nvPr/>
        </p:nvSpPr>
        <p:spPr>
          <a:xfrm>
            <a:off x="10820095" y="5303520"/>
            <a:ext cx="2926080" cy="2926080"/>
          </a:xfrm>
          <a:prstGeom prst="ellipse">
            <a:avLst/>
          </a:prstGeom>
          <a:solidFill>
            <a:srgbClr val="E3F6EC">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2FA36B"/>
                </a:solidFill>
                <a:latin typeface="Calibri" pitchFamily="34" charset="0"/>
                <a:ea typeface="Calibri" pitchFamily="34" charset="-122"/>
                <a:cs typeface="Calibri" pitchFamily="34" charset="-120"/>
              </a:rPr>
              <a:t>PEMBAGIAN PERAN</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Siapa Berbuat Apa dalam Layanan PAUD HI</a:t>
            </a:r>
            <a:endParaRPr lang="en-US" sz="3200" dirty="0"/>
          </a:p>
        </p:txBody>
      </p:sp>
      <p:sp>
        <p:nvSpPr>
          <p:cNvPr id="6" name="Shape 4"/>
          <p:cNvSpPr/>
          <p:nvPr/>
        </p:nvSpPr>
        <p:spPr>
          <a:xfrm>
            <a:off x="566928" y="1517904"/>
            <a:ext cx="2596896" cy="1700784"/>
          </a:xfrm>
          <a:prstGeom prst="roundRect">
            <a:avLst>
              <a:gd name="adj" fmla="val 7527"/>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786384" y="1755648"/>
            <a:ext cx="585216" cy="585216"/>
          </a:xfrm>
          <a:prstGeom prst="ellipse">
            <a:avLst>
              <a:gd name="adj" fmla="val 18750"/>
            </a:avLst>
          </a:prstGeom>
          <a:solidFill>
            <a:srgbClr val="0F4C88"/>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926836" y="1896100"/>
            <a:ext cx="304312" cy="304312"/>
          </a:xfrm>
          <a:prstGeom prst="rect">
            <a:avLst/>
          </a:prstGeom>
        </p:spPr>
      </p:pic>
      <p:sp>
        <p:nvSpPr>
          <p:cNvPr id="9" name="Text 6"/>
          <p:cNvSpPr/>
          <p:nvPr/>
        </p:nvSpPr>
        <p:spPr>
          <a:xfrm>
            <a:off x="786384" y="2432304"/>
            <a:ext cx="2157984" cy="457200"/>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Dinas Pendidikan</a:t>
            </a:r>
            <a:endParaRPr lang="en-US" sz="1250" dirty="0"/>
          </a:p>
        </p:txBody>
      </p:sp>
      <p:sp>
        <p:nvSpPr>
          <p:cNvPr id="10" name="Text 7"/>
          <p:cNvSpPr/>
          <p:nvPr/>
        </p:nvSpPr>
        <p:spPr>
          <a:xfrm>
            <a:off x="786384" y="2816352"/>
            <a:ext cx="2157984" cy="365760"/>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Regulasi daerah, pembinaan, penganggaran, dan pendampingan satuan.</a:t>
            </a:r>
            <a:endParaRPr lang="en-US" sz="1000" dirty="0"/>
          </a:p>
        </p:txBody>
      </p:sp>
      <p:sp>
        <p:nvSpPr>
          <p:cNvPr id="11" name="Shape 8"/>
          <p:cNvSpPr/>
          <p:nvPr/>
        </p:nvSpPr>
        <p:spPr>
          <a:xfrm>
            <a:off x="3383280" y="1517904"/>
            <a:ext cx="2596896" cy="1700784"/>
          </a:xfrm>
          <a:prstGeom prst="roundRect">
            <a:avLst>
              <a:gd name="adj" fmla="val 7527"/>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2" name="Shape 9"/>
          <p:cNvSpPr/>
          <p:nvPr/>
        </p:nvSpPr>
        <p:spPr>
          <a:xfrm>
            <a:off x="3602736" y="1755648"/>
            <a:ext cx="585216" cy="585216"/>
          </a:xfrm>
          <a:prstGeom prst="ellipse">
            <a:avLst>
              <a:gd name="adj" fmla="val 18750"/>
            </a:avLst>
          </a:prstGeom>
          <a:solidFill>
            <a:srgbClr val="2FA36B"/>
          </a:solidFill>
          <a:ln w="12700">
            <a:solidFill>
              <a:srgbClr val="333333"/>
            </a:solidFill>
            <a:prstDash val="solid"/>
          </a:ln>
        </p:spPr>
      </p:sp>
      <p:pic>
        <p:nvPicPr>
          <p:cNvPr id="13" name="Image 1" descr="preencoded.png">    </p:cNvPr>
          <p:cNvPicPr>
            <a:picLocks noChangeAspect="1"/>
          </p:cNvPicPr>
          <p:nvPr/>
        </p:nvPicPr>
        <p:blipFill>
          <a:blip r:embed="rId2"/>
          <a:stretch>
            <a:fillRect/>
          </a:stretch>
        </p:blipFill>
        <p:spPr>
          <a:xfrm>
            <a:off x="3743188" y="1896100"/>
            <a:ext cx="304312" cy="304312"/>
          </a:xfrm>
          <a:prstGeom prst="rect">
            <a:avLst/>
          </a:prstGeom>
        </p:spPr>
      </p:pic>
      <p:sp>
        <p:nvSpPr>
          <p:cNvPr id="14" name="Text 10"/>
          <p:cNvSpPr/>
          <p:nvPr/>
        </p:nvSpPr>
        <p:spPr>
          <a:xfrm>
            <a:off x="3602736" y="2432304"/>
            <a:ext cx="2157984" cy="457200"/>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Puskesmas &amp; Dinkes</a:t>
            </a:r>
            <a:endParaRPr lang="en-US" sz="1250" dirty="0"/>
          </a:p>
        </p:txBody>
      </p:sp>
      <p:sp>
        <p:nvSpPr>
          <p:cNvPr id="15" name="Text 11"/>
          <p:cNvSpPr/>
          <p:nvPr/>
        </p:nvSpPr>
        <p:spPr>
          <a:xfrm>
            <a:off x="3602736" y="2816352"/>
            <a:ext cx="2157984" cy="365760"/>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Pemeriksaan berkala, imunisasi, penyuluhan gizi, dan rujukan kesehatan.</a:t>
            </a:r>
            <a:endParaRPr lang="en-US" sz="1000" dirty="0"/>
          </a:p>
        </p:txBody>
      </p:sp>
      <p:sp>
        <p:nvSpPr>
          <p:cNvPr id="16" name="Shape 12"/>
          <p:cNvSpPr/>
          <p:nvPr/>
        </p:nvSpPr>
        <p:spPr>
          <a:xfrm>
            <a:off x="6199632" y="1517904"/>
            <a:ext cx="2596896" cy="1700784"/>
          </a:xfrm>
          <a:prstGeom prst="roundRect">
            <a:avLst>
              <a:gd name="adj" fmla="val 7527"/>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7" name="Shape 13"/>
          <p:cNvSpPr/>
          <p:nvPr/>
        </p:nvSpPr>
        <p:spPr>
          <a:xfrm>
            <a:off x="6419088" y="1755648"/>
            <a:ext cx="585216" cy="585216"/>
          </a:xfrm>
          <a:prstGeom prst="ellipse">
            <a:avLst>
              <a:gd name="adj" fmla="val 18750"/>
            </a:avLst>
          </a:prstGeom>
          <a:solidFill>
            <a:srgbClr val="1F9C9C"/>
          </a:solidFill>
          <a:ln w="12700">
            <a:solidFill>
              <a:srgbClr val="333333"/>
            </a:solidFill>
            <a:prstDash val="solid"/>
          </a:ln>
        </p:spPr>
      </p:sp>
      <p:pic>
        <p:nvPicPr>
          <p:cNvPr id="18" name="Image 2" descr="preencoded.png">    </p:cNvPr>
          <p:cNvPicPr>
            <a:picLocks noChangeAspect="1"/>
          </p:cNvPicPr>
          <p:nvPr/>
        </p:nvPicPr>
        <p:blipFill>
          <a:blip r:embed="rId3"/>
          <a:stretch>
            <a:fillRect/>
          </a:stretch>
        </p:blipFill>
        <p:spPr>
          <a:xfrm>
            <a:off x="6559540" y="1896100"/>
            <a:ext cx="304312" cy="304312"/>
          </a:xfrm>
          <a:prstGeom prst="rect">
            <a:avLst/>
          </a:prstGeom>
        </p:spPr>
      </p:pic>
      <p:sp>
        <p:nvSpPr>
          <p:cNvPr id="19" name="Text 14"/>
          <p:cNvSpPr/>
          <p:nvPr/>
        </p:nvSpPr>
        <p:spPr>
          <a:xfrm>
            <a:off x="6419088" y="2432304"/>
            <a:ext cx="2157984" cy="457200"/>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Posyandu &amp; Kader</a:t>
            </a:r>
            <a:endParaRPr lang="en-US" sz="1250" dirty="0"/>
          </a:p>
        </p:txBody>
      </p:sp>
      <p:sp>
        <p:nvSpPr>
          <p:cNvPr id="20" name="Text 15"/>
          <p:cNvSpPr/>
          <p:nvPr/>
        </p:nvSpPr>
        <p:spPr>
          <a:xfrm>
            <a:off x="6419088" y="2816352"/>
            <a:ext cx="2157984" cy="365760"/>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Penimbangan rutin, pemantauan tumbuh kembang, dan pencatatan KMS/KIA.</a:t>
            </a:r>
            <a:endParaRPr lang="en-US" sz="1000" dirty="0"/>
          </a:p>
        </p:txBody>
      </p:sp>
      <p:sp>
        <p:nvSpPr>
          <p:cNvPr id="21" name="Shape 16"/>
          <p:cNvSpPr/>
          <p:nvPr/>
        </p:nvSpPr>
        <p:spPr>
          <a:xfrm>
            <a:off x="9015984" y="1517904"/>
            <a:ext cx="2596896" cy="1700784"/>
          </a:xfrm>
          <a:prstGeom prst="roundRect">
            <a:avLst>
              <a:gd name="adj" fmla="val 7527"/>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2" name="Shape 17"/>
          <p:cNvSpPr/>
          <p:nvPr/>
        </p:nvSpPr>
        <p:spPr>
          <a:xfrm>
            <a:off x="9235440" y="1755648"/>
            <a:ext cx="585216" cy="585216"/>
          </a:xfrm>
          <a:prstGeom prst="ellipse">
            <a:avLst>
              <a:gd name="adj" fmla="val 18750"/>
            </a:avLst>
          </a:prstGeom>
          <a:solidFill>
            <a:srgbClr val="7A66B8"/>
          </a:solidFill>
          <a:ln w="12700">
            <a:solidFill>
              <a:srgbClr val="333333"/>
            </a:solidFill>
            <a:prstDash val="solid"/>
          </a:ln>
        </p:spPr>
      </p:sp>
      <p:pic>
        <p:nvPicPr>
          <p:cNvPr id="23" name="Image 3" descr="preencoded.png">    </p:cNvPr>
          <p:cNvPicPr>
            <a:picLocks noChangeAspect="1"/>
          </p:cNvPicPr>
          <p:nvPr/>
        </p:nvPicPr>
        <p:blipFill>
          <a:blip r:embed="rId4"/>
          <a:stretch>
            <a:fillRect/>
          </a:stretch>
        </p:blipFill>
        <p:spPr>
          <a:xfrm>
            <a:off x="9375892" y="1896100"/>
            <a:ext cx="304312" cy="304312"/>
          </a:xfrm>
          <a:prstGeom prst="rect">
            <a:avLst/>
          </a:prstGeom>
        </p:spPr>
      </p:pic>
      <p:sp>
        <p:nvSpPr>
          <p:cNvPr id="24" name="Text 18"/>
          <p:cNvSpPr/>
          <p:nvPr/>
        </p:nvSpPr>
        <p:spPr>
          <a:xfrm>
            <a:off x="9235440" y="2432304"/>
            <a:ext cx="2157984" cy="457200"/>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Dukcapil, Dinsos &amp; DP3A</a:t>
            </a:r>
            <a:endParaRPr lang="en-US" sz="1250" dirty="0"/>
          </a:p>
        </p:txBody>
      </p:sp>
      <p:sp>
        <p:nvSpPr>
          <p:cNvPr id="25" name="Text 19"/>
          <p:cNvSpPr/>
          <p:nvPr/>
        </p:nvSpPr>
        <p:spPr>
          <a:xfrm>
            <a:off x="9235440" y="2816352"/>
            <a:ext cx="2157984" cy="365760"/>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Pemenuhan NIK, bantuan sosial, dan penanganan kasus perlindungan anak.</a:t>
            </a:r>
            <a:endParaRPr lang="en-US" sz="1000" dirty="0"/>
          </a:p>
        </p:txBody>
      </p:sp>
      <p:sp>
        <p:nvSpPr>
          <p:cNvPr id="26" name="Shape 20"/>
          <p:cNvSpPr/>
          <p:nvPr/>
        </p:nvSpPr>
        <p:spPr>
          <a:xfrm>
            <a:off x="566928" y="3456432"/>
            <a:ext cx="2596896" cy="1700784"/>
          </a:xfrm>
          <a:prstGeom prst="roundRect">
            <a:avLst>
              <a:gd name="adj" fmla="val 7527"/>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7" name="Shape 21"/>
          <p:cNvSpPr/>
          <p:nvPr/>
        </p:nvSpPr>
        <p:spPr>
          <a:xfrm>
            <a:off x="786384" y="3694176"/>
            <a:ext cx="585216" cy="585216"/>
          </a:xfrm>
          <a:prstGeom prst="ellipse">
            <a:avLst>
              <a:gd name="adj" fmla="val 18750"/>
            </a:avLst>
          </a:prstGeom>
          <a:solidFill>
            <a:srgbClr val="176B44"/>
          </a:solidFill>
          <a:ln w="12700">
            <a:solidFill>
              <a:srgbClr val="333333"/>
            </a:solidFill>
            <a:prstDash val="solid"/>
          </a:ln>
        </p:spPr>
      </p:sp>
      <p:pic>
        <p:nvPicPr>
          <p:cNvPr id="28" name="Image 4" descr="preencoded.png">    </p:cNvPr>
          <p:cNvPicPr>
            <a:picLocks noChangeAspect="1"/>
          </p:cNvPicPr>
          <p:nvPr/>
        </p:nvPicPr>
        <p:blipFill>
          <a:blip r:embed="rId5"/>
          <a:stretch>
            <a:fillRect/>
          </a:stretch>
        </p:blipFill>
        <p:spPr>
          <a:xfrm>
            <a:off x="926836" y="3834628"/>
            <a:ext cx="304312" cy="304312"/>
          </a:xfrm>
          <a:prstGeom prst="rect">
            <a:avLst/>
          </a:prstGeom>
        </p:spPr>
      </p:pic>
      <p:sp>
        <p:nvSpPr>
          <p:cNvPr id="29" name="Text 22"/>
          <p:cNvSpPr/>
          <p:nvPr/>
        </p:nvSpPr>
        <p:spPr>
          <a:xfrm>
            <a:off x="786384" y="4370832"/>
            <a:ext cx="2157984" cy="457200"/>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Pemerintah Desa</a:t>
            </a:r>
            <a:endParaRPr lang="en-US" sz="1250" dirty="0"/>
          </a:p>
        </p:txBody>
      </p:sp>
      <p:sp>
        <p:nvSpPr>
          <p:cNvPr id="30" name="Text 23"/>
          <p:cNvSpPr/>
          <p:nvPr/>
        </p:nvSpPr>
        <p:spPr>
          <a:xfrm>
            <a:off x="786384" y="4754880"/>
            <a:ext cx="2157984" cy="365760"/>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Dana desa untuk sanitasi, air bersih, ruang bermain, dan insentif kader.</a:t>
            </a:r>
            <a:endParaRPr lang="en-US" sz="1000" dirty="0"/>
          </a:p>
        </p:txBody>
      </p:sp>
      <p:sp>
        <p:nvSpPr>
          <p:cNvPr id="31" name="Shape 24"/>
          <p:cNvSpPr/>
          <p:nvPr/>
        </p:nvSpPr>
        <p:spPr>
          <a:xfrm>
            <a:off x="3383280" y="3456432"/>
            <a:ext cx="2596896" cy="1700784"/>
          </a:xfrm>
          <a:prstGeom prst="roundRect">
            <a:avLst>
              <a:gd name="adj" fmla="val 7527"/>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2" name="Shape 25"/>
          <p:cNvSpPr/>
          <p:nvPr/>
        </p:nvSpPr>
        <p:spPr>
          <a:xfrm>
            <a:off x="3602736" y="3694176"/>
            <a:ext cx="585216" cy="585216"/>
          </a:xfrm>
          <a:prstGeom prst="ellipse">
            <a:avLst>
              <a:gd name="adj" fmla="val 18750"/>
            </a:avLst>
          </a:prstGeom>
          <a:solidFill>
            <a:srgbClr val="E0574B"/>
          </a:solidFill>
          <a:ln w="12700">
            <a:solidFill>
              <a:srgbClr val="333333"/>
            </a:solidFill>
            <a:prstDash val="solid"/>
          </a:ln>
        </p:spPr>
      </p:sp>
      <p:pic>
        <p:nvPicPr>
          <p:cNvPr id="33" name="Image 5" descr="preencoded.png">    </p:cNvPr>
          <p:cNvPicPr>
            <a:picLocks noChangeAspect="1"/>
          </p:cNvPicPr>
          <p:nvPr/>
        </p:nvPicPr>
        <p:blipFill>
          <a:blip r:embed="rId6"/>
          <a:stretch>
            <a:fillRect/>
          </a:stretch>
        </p:blipFill>
        <p:spPr>
          <a:xfrm>
            <a:off x="3743188" y="3834628"/>
            <a:ext cx="304312" cy="304312"/>
          </a:xfrm>
          <a:prstGeom prst="rect">
            <a:avLst/>
          </a:prstGeom>
        </p:spPr>
      </p:pic>
      <p:sp>
        <p:nvSpPr>
          <p:cNvPr id="34" name="Text 26"/>
          <p:cNvSpPr/>
          <p:nvPr/>
        </p:nvSpPr>
        <p:spPr>
          <a:xfrm>
            <a:off x="3602736" y="4370832"/>
            <a:ext cx="2157984" cy="457200"/>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Bunda PAUD &amp; TP PKK</a:t>
            </a:r>
            <a:endParaRPr lang="en-US" sz="1250" dirty="0"/>
          </a:p>
        </p:txBody>
      </p:sp>
      <p:sp>
        <p:nvSpPr>
          <p:cNvPr id="35" name="Text 27"/>
          <p:cNvSpPr/>
          <p:nvPr/>
        </p:nvSpPr>
        <p:spPr>
          <a:xfrm>
            <a:off x="3602736" y="4754880"/>
            <a:ext cx="2157984" cy="365760"/>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Advokasi, penggerak masyarakat, dan kampanye pengasuhan positif.</a:t>
            </a:r>
            <a:endParaRPr lang="en-US" sz="1000" dirty="0"/>
          </a:p>
        </p:txBody>
      </p:sp>
      <p:sp>
        <p:nvSpPr>
          <p:cNvPr id="36" name="Shape 28"/>
          <p:cNvSpPr/>
          <p:nvPr/>
        </p:nvSpPr>
        <p:spPr>
          <a:xfrm>
            <a:off x="6199632" y="3456432"/>
            <a:ext cx="2596896" cy="1700784"/>
          </a:xfrm>
          <a:prstGeom prst="roundRect">
            <a:avLst>
              <a:gd name="adj" fmla="val 7527"/>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7" name="Shape 29"/>
          <p:cNvSpPr/>
          <p:nvPr/>
        </p:nvSpPr>
        <p:spPr>
          <a:xfrm>
            <a:off x="6419088" y="3694176"/>
            <a:ext cx="585216" cy="585216"/>
          </a:xfrm>
          <a:prstGeom prst="ellipse">
            <a:avLst>
              <a:gd name="adj" fmla="val 18750"/>
            </a:avLst>
          </a:prstGeom>
          <a:solidFill>
            <a:srgbClr val="F5871F"/>
          </a:solidFill>
          <a:ln w="12700">
            <a:solidFill>
              <a:srgbClr val="333333"/>
            </a:solidFill>
            <a:prstDash val="solid"/>
          </a:ln>
        </p:spPr>
      </p:sp>
      <p:pic>
        <p:nvPicPr>
          <p:cNvPr id="38" name="Image 6" descr="preencoded.png">    </p:cNvPr>
          <p:cNvPicPr>
            <a:picLocks noChangeAspect="1"/>
          </p:cNvPicPr>
          <p:nvPr/>
        </p:nvPicPr>
        <p:blipFill>
          <a:blip r:embed="rId7"/>
          <a:stretch>
            <a:fillRect/>
          </a:stretch>
        </p:blipFill>
        <p:spPr>
          <a:xfrm>
            <a:off x="6559540" y="3834628"/>
            <a:ext cx="304312" cy="304312"/>
          </a:xfrm>
          <a:prstGeom prst="rect">
            <a:avLst/>
          </a:prstGeom>
        </p:spPr>
      </p:pic>
      <p:sp>
        <p:nvSpPr>
          <p:cNvPr id="39" name="Text 30"/>
          <p:cNvSpPr/>
          <p:nvPr/>
        </p:nvSpPr>
        <p:spPr>
          <a:xfrm>
            <a:off x="6419088" y="4370832"/>
            <a:ext cx="2157984" cy="457200"/>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Orang Tua &amp; Komite</a:t>
            </a:r>
            <a:endParaRPr lang="en-US" sz="1250" dirty="0"/>
          </a:p>
        </p:txBody>
      </p:sp>
      <p:sp>
        <p:nvSpPr>
          <p:cNvPr id="40" name="Text 31"/>
          <p:cNvSpPr/>
          <p:nvPr/>
        </p:nvSpPr>
        <p:spPr>
          <a:xfrm>
            <a:off x="6419088" y="4754880"/>
            <a:ext cx="2157984" cy="365760"/>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Kelas orang tua, kesinambungan stimulasi di rumah, dan swadaya.</a:t>
            </a:r>
            <a:endParaRPr lang="en-US" sz="1000" dirty="0"/>
          </a:p>
        </p:txBody>
      </p:sp>
      <p:sp>
        <p:nvSpPr>
          <p:cNvPr id="41" name="Shape 32"/>
          <p:cNvSpPr/>
          <p:nvPr/>
        </p:nvSpPr>
        <p:spPr>
          <a:xfrm>
            <a:off x="9015984" y="3456432"/>
            <a:ext cx="2596896" cy="1700784"/>
          </a:xfrm>
          <a:prstGeom prst="roundRect">
            <a:avLst>
              <a:gd name="adj" fmla="val 7527"/>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42" name="Shape 33"/>
          <p:cNvSpPr/>
          <p:nvPr/>
        </p:nvSpPr>
        <p:spPr>
          <a:xfrm>
            <a:off x="9235440" y="3694176"/>
            <a:ext cx="585216" cy="585216"/>
          </a:xfrm>
          <a:prstGeom prst="ellipse">
            <a:avLst>
              <a:gd name="adj" fmla="val 18750"/>
            </a:avLst>
          </a:prstGeom>
          <a:solidFill>
            <a:srgbClr val="1E76C8"/>
          </a:solidFill>
          <a:ln w="12700">
            <a:solidFill>
              <a:srgbClr val="333333"/>
            </a:solidFill>
            <a:prstDash val="solid"/>
          </a:ln>
        </p:spPr>
      </p:sp>
      <p:pic>
        <p:nvPicPr>
          <p:cNvPr id="43" name="Image 7" descr="preencoded.png">    </p:cNvPr>
          <p:cNvPicPr>
            <a:picLocks noChangeAspect="1"/>
          </p:cNvPicPr>
          <p:nvPr/>
        </p:nvPicPr>
        <p:blipFill>
          <a:blip r:embed="rId8"/>
          <a:stretch>
            <a:fillRect/>
          </a:stretch>
        </p:blipFill>
        <p:spPr>
          <a:xfrm>
            <a:off x="9375892" y="3834628"/>
            <a:ext cx="304312" cy="304312"/>
          </a:xfrm>
          <a:prstGeom prst="rect">
            <a:avLst/>
          </a:prstGeom>
        </p:spPr>
      </p:pic>
      <p:sp>
        <p:nvSpPr>
          <p:cNvPr id="44" name="Text 34"/>
          <p:cNvSpPr/>
          <p:nvPr/>
        </p:nvSpPr>
        <p:spPr>
          <a:xfrm>
            <a:off x="9235440" y="4370832"/>
            <a:ext cx="2157984" cy="457200"/>
          </a:xfrm>
          <a:prstGeom prst="rect">
            <a:avLst/>
          </a:prstGeom>
          <a:noFill/>
          <a:ln/>
        </p:spPr>
        <p:txBody>
          <a:bodyPr wrap="square" lIns="0" tIns="0" rIns="0" bIns="0" rtlCol="0" anchor="t"/>
          <a:lstStyle/>
          <a:p>
            <a:pPr indent="0" marL="0">
              <a:buNone/>
            </a:pPr>
            <a:r>
              <a:rPr lang="en-US" sz="1250" b="1" dirty="0">
                <a:solidFill>
                  <a:srgbClr val="173753"/>
                </a:solidFill>
                <a:latin typeface="Calibri" pitchFamily="34" charset="0"/>
                <a:ea typeface="Calibri" pitchFamily="34" charset="-122"/>
                <a:cs typeface="Calibri" pitchFamily="34" charset="-120"/>
              </a:rPr>
              <a:t>Dunia Usaha &amp; Mitra</a:t>
            </a:r>
            <a:endParaRPr lang="en-US" sz="1250" dirty="0"/>
          </a:p>
        </p:txBody>
      </p:sp>
      <p:sp>
        <p:nvSpPr>
          <p:cNvPr id="45" name="Text 35"/>
          <p:cNvSpPr/>
          <p:nvPr/>
        </p:nvSpPr>
        <p:spPr>
          <a:xfrm>
            <a:off x="9235440" y="4754880"/>
            <a:ext cx="2157984" cy="365760"/>
          </a:xfrm>
          <a:prstGeom prst="rect">
            <a:avLst/>
          </a:prstGeom>
          <a:noFill/>
          <a:ln/>
        </p:spPr>
        <p:txBody>
          <a:bodyPr wrap="square" lIns="0" tIns="0" rIns="0" bIns="0" rtlCol="0" anchor="t"/>
          <a:lstStyle/>
          <a:p>
            <a:pPr indent="0" marL="0">
              <a:buNone/>
            </a:pPr>
            <a:r>
              <a:rPr lang="en-US" sz="1000" dirty="0">
                <a:solidFill>
                  <a:srgbClr val="3E5C77"/>
                </a:solidFill>
                <a:latin typeface="Calibri" pitchFamily="34" charset="0"/>
                <a:ea typeface="Calibri" pitchFamily="34" charset="-122"/>
                <a:cs typeface="Calibri" pitchFamily="34" charset="-120"/>
              </a:rPr>
              <a:t>CSR untuk sarana, buku, alat main, dan pelatihan pendidik.</a:t>
            </a:r>
            <a:endParaRPr lang="en-US" sz="1000" dirty="0"/>
          </a:p>
        </p:txBody>
      </p:sp>
      <p:sp>
        <p:nvSpPr>
          <p:cNvPr id="46" name="Shape 36"/>
          <p:cNvSpPr/>
          <p:nvPr/>
        </p:nvSpPr>
        <p:spPr>
          <a:xfrm>
            <a:off x="566928" y="5230368"/>
            <a:ext cx="11057839" cy="749808"/>
          </a:xfrm>
          <a:prstGeom prst="roundRect">
            <a:avLst>
              <a:gd name="adj" fmla="val 17073"/>
            </a:avLst>
          </a:prstGeom>
          <a:solidFill>
            <a:srgbClr val="E3F6EC"/>
          </a:solidFill>
          <a:ln w="12700">
            <a:solidFill>
              <a:srgbClr val="BCE8D1"/>
            </a:solidFill>
            <a:prstDash val="solid"/>
          </a:ln>
          <a:effectLst>
            <a:outerShdw sx="100000" sy="100000" kx="0" ky="0" algn="bl" rotWithShape="0" blurRad="177800" dist="38100" dir="5400000">
              <a:srgbClr val="0F3352">
                <a:alpha val="10000"/>
              </a:srgbClr>
            </a:outerShdw>
          </a:effectLst>
        </p:spPr>
      </p:sp>
      <p:sp>
        <p:nvSpPr>
          <p:cNvPr id="47" name="Text 37"/>
          <p:cNvSpPr/>
          <p:nvPr/>
        </p:nvSpPr>
        <p:spPr>
          <a:xfrm>
            <a:off x="896112" y="5340096"/>
            <a:ext cx="10399471" cy="530352"/>
          </a:xfrm>
          <a:prstGeom prst="rect">
            <a:avLst/>
          </a:prstGeom>
          <a:noFill/>
          <a:ln/>
        </p:spPr>
        <p:txBody>
          <a:bodyPr wrap="square" lIns="0" tIns="0" rIns="0" bIns="0" rtlCol="0" anchor="ctr"/>
          <a:lstStyle/>
          <a:p>
            <a:pPr indent="0" marL="0">
              <a:buNone/>
            </a:pPr>
            <a:r>
              <a:rPr lang="en-US" sz="1200" dirty="0">
                <a:solidFill>
                  <a:srgbClr val="173753"/>
                </a:solidFill>
                <a:latin typeface="Calibri" pitchFamily="34" charset="0"/>
                <a:ea typeface="Calibri" pitchFamily="34" charset="-122"/>
                <a:cs typeface="Calibri" pitchFamily="34" charset="-120"/>
              </a:rPr>
              <a:t>Tips: tuliskan nama dan nomor kontak penanggung jawab dari setiap mitra pada satu lembar. Kemitraan gagal paling sering bukan karena menolak, melainkan karena tidak pernah dihubungi.</a:t>
            </a:r>
            <a:endParaRPr lang="en-US" sz="1200" dirty="0"/>
          </a:p>
        </p:txBody>
      </p:sp>
      <p:sp>
        <p:nvSpPr>
          <p:cNvPr id="48" name="Text 38"/>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49" name="Text 39"/>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EKOSISTEM PENDIDIKAN</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Trisentra: Tiga Pusat yang Harus Sejalan</a:t>
            </a:r>
            <a:endParaRPr lang="en-US" sz="3200" dirty="0"/>
          </a:p>
        </p:txBody>
      </p:sp>
      <p:sp>
        <p:nvSpPr>
          <p:cNvPr id="6" name="Shape 4"/>
          <p:cNvSpPr/>
          <p:nvPr/>
        </p:nvSpPr>
        <p:spPr>
          <a:xfrm>
            <a:off x="566928" y="1499616"/>
            <a:ext cx="3503066" cy="1773936"/>
          </a:xfrm>
          <a:prstGeom prst="roundRect">
            <a:avLst>
              <a:gd name="adj" fmla="val 721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822960" y="1719072"/>
            <a:ext cx="640080" cy="640080"/>
          </a:xfrm>
          <a:prstGeom prst="ellipse">
            <a:avLst>
              <a:gd name="adj" fmla="val 17143"/>
            </a:avLst>
          </a:prstGeom>
          <a:solidFill>
            <a:srgbClr val="F5871F"/>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976579" y="1872691"/>
            <a:ext cx="332842" cy="332842"/>
          </a:xfrm>
          <a:prstGeom prst="rect">
            <a:avLst/>
          </a:prstGeom>
        </p:spPr>
      </p:pic>
      <p:sp>
        <p:nvSpPr>
          <p:cNvPr id="9" name="Text 6"/>
          <p:cNvSpPr/>
          <p:nvPr/>
        </p:nvSpPr>
        <p:spPr>
          <a:xfrm>
            <a:off x="1591056" y="1700784"/>
            <a:ext cx="2314346" cy="365760"/>
          </a:xfrm>
          <a:prstGeom prst="rect">
            <a:avLst/>
          </a:prstGeom>
          <a:noFill/>
          <a:ln/>
        </p:spPr>
        <p:txBody>
          <a:bodyPr wrap="square" lIns="0" tIns="0" rIns="0" bIns="0" rtlCol="0" anchor="ctr"/>
          <a:lstStyle/>
          <a:p>
            <a:pPr indent="0" marL="0">
              <a:buNone/>
            </a:pPr>
            <a:r>
              <a:rPr lang="en-US" sz="1700" b="1" dirty="0">
                <a:solidFill>
                  <a:srgbClr val="F5871F"/>
                </a:solidFill>
                <a:latin typeface="Calibri" pitchFamily="34" charset="0"/>
                <a:ea typeface="Calibri" pitchFamily="34" charset="-122"/>
                <a:cs typeface="Calibri" pitchFamily="34" charset="-120"/>
              </a:rPr>
              <a:t>Keluarga</a:t>
            </a:r>
            <a:endParaRPr lang="en-US" sz="1700" dirty="0"/>
          </a:p>
        </p:txBody>
      </p:sp>
      <p:sp>
        <p:nvSpPr>
          <p:cNvPr id="10" name="Text 7"/>
          <p:cNvSpPr/>
          <p:nvPr/>
        </p:nvSpPr>
        <p:spPr>
          <a:xfrm>
            <a:off x="841248" y="2468880"/>
            <a:ext cx="2954426" cy="822960"/>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Pengasuhan positif, gizi seimbang di rumah, dan kesinambungan stimulasi setelah jam sekolah.</a:t>
            </a:r>
            <a:endParaRPr lang="en-US" sz="1150" dirty="0"/>
          </a:p>
        </p:txBody>
      </p:sp>
      <p:sp>
        <p:nvSpPr>
          <p:cNvPr id="11" name="Shape 8"/>
          <p:cNvSpPr/>
          <p:nvPr/>
        </p:nvSpPr>
        <p:spPr>
          <a:xfrm>
            <a:off x="4344314" y="1499616"/>
            <a:ext cx="3503066" cy="1773936"/>
          </a:xfrm>
          <a:prstGeom prst="roundRect">
            <a:avLst>
              <a:gd name="adj" fmla="val 721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2" name="Shape 9"/>
          <p:cNvSpPr/>
          <p:nvPr/>
        </p:nvSpPr>
        <p:spPr>
          <a:xfrm>
            <a:off x="4600346" y="1719072"/>
            <a:ext cx="640080" cy="640080"/>
          </a:xfrm>
          <a:prstGeom prst="ellipse">
            <a:avLst>
              <a:gd name="adj" fmla="val 17143"/>
            </a:avLst>
          </a:prstGeom>
          <a:solidFill>
            <a:srgbClr val="1E76C8"/>
          </a:solidFill>
          <a:ln w="12700">
            <a:solidFill>
              <a:srgbClr val="333333"/>
            </a:solidFill>
            <a:prstDash val="solid"/>
          </a:ln>
        </p:spPr>
      </p:sp>
      <p:pic>
        <p:nvPicPr>
          <p:cNvPr id="13" name="Image 1" descr="preencoded.png">    </p:cNvPr>
          <p:cNvPicPr>
            <a:picLocks noChangeAspect="1"/>
          </p:cNvPicPr>
          <p:nvPr/>
        </p:nvPicPr>
        <p:blipFill>
          <a:blip r:embed="rId2"/>
          <a:stretch>
            <a:fillRect/>
          </a:stretch>
        </p:blipFill>
        <p:spPr>
          <a:xfrm>
            <a:off x="4753966" y="1872691"/>
            <a:ext cx="332842" cy="332842"/>
          </a:xfrm>
          <a:prstGeom prst="rect">
            <a:avLst/>
          </a:prstGeom>
        </p:spPr>
      </p:pic>
      <p:sp>
        <p:nvSpPr>
          <p:cNvPr id="14" name="Text 10"/>
          <p:cNvSpPr/>
          <p:nvPr/>
        </p:nvSpPr>
        <p:spPr>
          <a:xfrm>
            <a:off x="5368442" y="1700784"/>
            <a:ext cx="2314346" cy="365760"/>
          </a:xfrm>
          <a:prstGeom prst="rect">
            <a:avLst/>
          </a:prstGeom>
          <a:noFill/>
          <a:ln/>
        </p:spPr>
        <p:txBody>
          <a:bodyPr wrap="square" lIns="0" tIns="0" rIns="0" bIns="0" rtlCol="0" anchor="ctr"/>
          <a:lstStyle/>
          <a:p>
            <a:pPr indent="0" marL="0">
              <a:buNone/>
            </a:pPr>
            <a:r>
              <a:rPr lang="en-US" sz="1700" b="1" dirty="0">
                <a:solidFill>
                  <a:srgbClr val="1E76C8"/>
                </a:solidFill>
                <a:latin typeface="Calibri" pitchFamily="34" charset="0"/>
                <a:ea typeface="Calibri" pitchFamily="34" charset="-122"/>
                <a:cs typeface="Calibri" pitchFamily="34" charset="-120"/>
              </a:rPr>
              <a:t>Satuan PAUD</a:t>
            </a:r>
            <a:endParaRPr lang="en-US" sz="1700" dirty="0"/>
          </a:p>
        </p:txBody>
      </p:sp>
      <p:sp>
        <p:nvSpPr>
          <p:cNvPr id="15" name="Text 11"/>
          <p:cNvSpPr/>
          <p:nvPr/>
        </p:nvSpPr>
        <p:spPr>
          <a:xfrm>
            <a:off x="4618634" y="2468880"/>
            <a:ext cx="2954426" cy="822960"/>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Pembelajaran bermakna, pemantauan tumbuh kembang, dan penghubung seluruh layanan esensial.</a:t>
            </a:r>
            <a:endParaRPr lang="en-US" sz="1150" dirty="0"/>
          </a:p>
        </p:txBody>
      </p:sp>
      <p:sp>
        <p:nvSpPr>
          <p:cNvPr id="16" name="Shape 12"/>
          <p:cNvSpPr/>
          <p:nvPr/>
        </p:nvSpPr>
        <p:spPr>
          <a:xfrm>
            <a:off x="8121701" y="1499616"/>
            <a:ext cx="3503066" cy="1773936"/>
          </a:xfrm>
          <a:prstGeom prst="roundRect">
            <a:avLst>
              <a:gd name="adj" fmla="val 721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7" name="Shape 13"/>
          <p:cNvSpPr/>
          <p:nvPr/>
        </p:nvSpPr>
        <p:spPr>
          <a:xfrm>
            <a:off x="8377733" y="1719072"/>
            <a:ext cx="640080" cy="640080"/>
          </a:xfrm>
          <a:prstGeom prst="ellipse">
            <a:avLst>
              <a:gd name="adj" fmla="val 17143"/>
            </a:avLst>
          </a:prstGeom>
          <a:solidFill>
            <a:srgbClr val="2FA36B"/>
          </a:solidFill>
          <a:ln w="12700">
            <a:solidFill>
              <a:srgbClr val="333333"/>
            </a:solidFill>
            <a:prstDash val="solid"/>
          </a:ln>
        </p:spPr>
      </p:sp>
      <p:pic>
        <p:nvPicPr>
          <p:cNvPr id="18" name="Image 2" descr="preencoded.png">    </p:cNvPr>
          <p:cNvPicPr>
            <a:picLocks noChangeAspect="1"/>
          </p:cNvPicPr>
          <p:nvPr/>
        </p:nvPicPr>
        <p:blipFill>
          <a:blip r:embed="rId3"/>
          <a:stretch>
            <a:fillRect/>
          </a:stretch>
        </p:blipFill>
        <p:spPr>
          <a:xfrm>
            <a:off x="8531352" y="1872691"/>
            <a:ext cx="332842" cy="332842"/>
          </a:xfrm>
          <a:prstGeom prst="rect">
            <a:avLst/>
          </a:prstGeom>
        </p:spPr>
      </p:pic>
      <p:sp>
        <p:nvSpPr>
          <p:cNvPr id="19" name="Text 14"/>
          <p:cNvSpPr/>
          <p:nvPr/>
        </p:nvSpPr>
        <p:spPr>
          <a:xfrm>
            <a:off x="9145829" y="1700784"/>
            <a:ext cx="2314346" cy="365760"/>
          </a:xfrm>
          <a:prstGeom prst="rect">
            <a:avLst/>
          </a:prstGeom>
          <a:noFill/>
          <a:ln/>
        </p:spPr>
        <p:txBody>
          <a:bodyPr wrap="square" lIns="0" tIns="0" rIns="0" bIns="0" rtlCol="0" anchor="ctr"/>
          <a:lstStyle/>
          <a:p>
            <a:pPr indent="0" marL="0">
              <a:buNone/>
            </a:pPr>
            <a:r>
              <a:rPr lang="en-US" sz="1700" b="1" dirty="0">
                <a:solidFill>
                  <a:srgbClr val="2FA36B"/>
                </a:solidFill>
                <a:latin typeface="Calibri" pitchFamily="34" charset="0"/>
                <a:ea typeface="Calibri" pitchFamily="34" charset="-122"/>
                <a:cs typeface="Calibri" pitchFamily="34" charset="-120"/>
              </a:rPr>
              <a:t>Masyarakat</a:t>
            </a:r>
            <a:endParaRPr lang="en-US" sz="1700" dirty="0"/>
          </a:p>
        </p:txBody>
      </p:sp>
      <p:sp>
        <p:nvSpPr>
          <p:cNvPr id="20" name="Text 15"/>
          <p:cNvSpPr/>
          <p:nvPr/>
        </p:nvSpPr>
        <p:spPr>
          <a:xfrm>
            <a:off x="8396021" y="2468880"/>
            <a:ext cx="2954426" cy="822960"/>
          </a:xfrm>
          <a:prstGeom prst="rect">
            <a:avLst/>
          </a:prstGeom>
          <a:noFill/>
          <a:ln/>
        </p:spPr>
        <p:txBody>
          <a:bodyPr wrap="square" lIns="0" tIns="0" rIns="0" bIns="0" rtlCol="0" anchor="t"/>
          <a:lstStyle/>
          <a:p>
            <a:pPr indent="0" marL="0">
              <a:buNone/>
            </a:pPr>
            <a:r>
              <a:rPr lang="en-US" sz="1150" dirty="0">
                <a:solidFill>
                  <a:srgbClr val="3E5C77"/>
                </a:solidFill>
                <a:latin typeface="Calibri" pitchFamily="34" charset="0"/>
                <a:ea typeface="Calibri" pitchFamily="34" charset="-122"/>
                <a:cs typeface="Calibri" pitchFamily="34" charset="-120"/>
              </a:rPr>
              <a:t>Posyandu, puskesmas, desa, dan dunia usaha yang menopang kebutuhan anak di luar sekolah.</a:t>
            </a:r>
            <a:endParaRPr lang="en-US" sz="1150" dirty="0"/>
          </a:p>
        </p:txBody>
      </p:sp>
      <p:sp>
        <p:nvSpPr>
          <p:cNvPr id="21" name="Shape 16"/>
          <p:cNvSpPr/>
          <p:nvPr/>
        </p:nvSpPr>
        <p:spPr>
          <a:xfrm>
            <a:off x="5297044" y="3355848"/>
            <a:ext cx="4340807" cy="2962656"/>
          </a:xfrm>
          <a:prstGeom prst="roundRect">
            <a:avLst>
              <a:gd name="adj" fmla="val 4321"/>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22" name="Image 3" descr="preencoded.png">    </p:cNvPr>
          <p:cNvPicPr>
            <a:picLocks noChangeAspect="1"/>
          </p:cNvPicPr>
          <p:nvPr/>
        </p:nvPicPr>
        <p:blipFill>
          <a:blip r:embed="rId4"/>
          <a:stretch>
            <a:fillRect/>
          </a:stretch>
        </p:blipFill>
        <p:spPr>
          <a:xfrm>
            <a:off x="5379340" y="3438144"/>
            <a:ext cx="4176215" cy="2798064"/>
          </a:xfrm>
          <a:prstGeom prst="rect">
            <a:avLst/>
          </a:prstGeom>
        </p:spPr>
      </p:pic>
      <p:sp>
        <p:nvSpPr>
          <p:cNvPr id="23" name="Text 17"/>
          <p:cNvSpPr/>
          <p:nvPr/>
        </p:nvSpPr>
        <p:spPr>
          <a:xfrm>
            <a:off x="566928" y="4023360"/>
            <a:ext cx="3108960" cy="1280160"/>
          </a:xfrm>
          <a:prstGeom prst="rect">
            <a:avLst/>
          </a:prstGeom>
          <a:noFill/>
          <a:ln/>
        </p:spPr>
        <p:txBody>
          <a:bodyPr wrap="square" lIns="0" tIns="0" rIns="0" bIns="0" rtlCol="0" anchor="t"/>
          <a:lstStyle/>
          <a:p>
            <a:pPr indent="0" marL="0">
              <a:buNone/>
            </a:pPr>
            <a:r>
              <a:rPr lang="en-US" sz="1300" i="1" dirty="0">
                <a:solidFill>
                  <a:srgbClr val="3E5C77"/>
                </a:solidFill>
                <a:latin typeface="Calibri" pitchFamily="34" charset="0"/>
                <a:ea typeface="Calibri" pitchFamily="34" charset="-122"/>
                <a:cs typeface="Calibri" pitchFamily="34" charset="-120"/>
              </a:rPr>
              <a:t>Iklim partisipatif tumbuh saat ketiganya bergerak dengan informasi dan tujuan yang sama.</a:t>
            </a:r>
            <a:endParaRPr lang="en-US" sz="1300" dirty="0"/>
          </a:p>
        </p:txBody>
      </p:sp>
      <p:sp>
        <p:nvSpPr>
          <p:cNvPr id="24" name="Text 18"/>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25" name="Text 19"/>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FFF1E0">
              <a:alpha val="55000"/>
            </a:srgbClr>
          </a:solidFill>
          <a:ln/>
        </p:spPr>
      </p:sp>
      <p:sp>
        <p:nvSpPr>
          <p:cNvPr id="3" name="Shape 1"/>
          <p:cNvSpPr/>
          <p:nvPr/>
        </p:nvSpPr>
        <p:spPr>
          <a:xfrm>
            <a:off x="10820095" y="5303520"/>
            <a:ext cx="2926080" cy="2926080"/>
          </a:xfrm>
          <a:prstGeom prst="ellipse">
            <a:avLst/>
          </a:prstGeom>
          <a:solidFill>
            <a:srgbClr val="FFF1E0">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LANGKAH PRAKTIS</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Lima Tahap Membangun Kemitraan</a:t>
            </a:r>
            <a:endParaRPr lang="en-US" sz="3200" dirty="0"/>
          </a:p>
        </p:txBody>
      </p:sp>
      <p:sp>
        <p:nvSpPr>
          <p:cNvPr id="6" name="Shape 4"/>
          <p:cNvSpPr/>
          <p:nvPr/>
        </p:nvSpPr>
        <p:spPr>
          <a:xfrm>
            <a:off x="566928" y="1737360"/>
            <a:ext cx="2050633" cy="2743200"/>
          </a:xfrm>
          <a:prstGeom prst="roundRect">
            <a:avLst>
              <a:gd name="adj" fmla="val 6243"/>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1226485" y="1444752"/>
            <a:ext cx="731520" cy="731520"/>
          </a:xfrm>
          <a:prstGeom prst="ellipse">
            <a:avLst/>
          </a:prstGeom>
          <a:solidFill>
            <a:srgbClr val="1E76C8"/>
          </a:solidFill>
          <a:ln w="38100">
            <a:solidFill>
              <a:srgbClr val="FFFFFF"/>
            </a:solidFill>
            <a:prstDash val="solid"/>
          </a:ln>
        </p:spPr>
      </p:sp>
      <p:sp>
        <p:nvSpPr>
          <p:cNvPr id="8" name="Text 6"/>
          <p:cNvSpPr/>
          <p:nvPr/>
        </p:nvSpPr>
        <p:spPr>
          <a:xfrm>
            <a:off x="1226485" y="144475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pic>
        <p:nvPicPr>
          <p:cNvPr id="9" name="Image 0" descr="preencoded.png">    </p:cNvPr>
          <p:cNvPicPr>
            <a:picLocks noChangeAspect="1"/>
          </p:cNvPicPr>
          <p:nvPr/>
        </p:nvPicPr>
        <p:blipFill>
          <a:blip r:embed="rId1"/>
          <a:stretch>
            <a:fillRect/>
          </a:stretch>
        </p:blipFill>
        <p:spPr>
          <a:xfrm>
            <a:off x="1336213" y="2377440"/>
            <a:ext cx="512064" cy="512064"/>
          </a:xfrm>
          <a:prstGeom prst="rect">
            <a:avLst/>
          </a:prstGeom>
        </p:spPr>
      </p:pic>
      <p:sp>
        <p:nvSpPr>
          <p:cNvPr id="10" name="Text 7"/>
          <p:cNvSpPr/>
          <p:nvPr/>
        </p:nvSpPr>
        <p:spPr>
          <a:xfrm>
            <a:off x="731520" y="3017520"/>
            <a:ext cx="1721449" cy="548640"/>
          </a:xfrm>
          <a:prstGeom prst="rect">
            <a:avLst/>
          </a:prstGeom>
          <a:noFill/>
          <a:ln/>
        </p:spPr>
        <p:txBody>
          <a:bodyPr wrap="square" lIns="0" tIns="0" rIns="0" bIns="0" rtlCol="0" anchor="t"/>
          <a:lstStyle/>
          <a:p>
            <a:pPr algn="ctr" indent="0" marL="0">
              <a:buNone/>
            </a:pPr>
            <a:r>
              <a:rPr lang="en-US" sz="1300" b="1" dirty="0">
                <a:solidFill>
                  <a:srgbClr val="173753"/>
                </a:solidFill>
                <a:latin typeface="Calibri" pitchFamily="34" charset="0"/>
                <a:ea typeface="Calibri" pitchFamily="34" charset="-122"/>
                <a:cs typeface="Calibri" pitchFamily="34" charset="-120"/>
              </a:rPr>
              <a:t>Identifikasi &amp; Pemetaan</a:t>
            </a:r>
            <a:endParaRPr lang="en-US" sz="1300" dirty="0"/>
          </a:p>
        </p:txBody>
      </p:sp>
      <p:sp>
        <p:nvSpPr>
          <p:cNvPr id="11" name="Text 8"/>
          <p:cNvSpPr/>
          <p:nvPr/>
        </p:nvSpPr>
        <p:spPr>
          <a:xfrm>
            <a:off x="749808" y="3584448"/>
            <a:ext cx="1684873" cy="859536"/>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Petakan kebutuhan anak dari data 8 indikator, lalu daftar calon mitra yang relevan.</a:t>
            </a:r>
            <a:endParaRPr lang="en-US" sz="1050" dirty="0"/>
          </a:p>
        </p:txBody>
      </p:sp>
      <p:sp>
        <p:nvSpPr>
          <p:cNvPr id="12" name="Shape 9"/>
          <p:cNvSpPr/>
          <p:nvPr/>
        </p:nvSpPr>
        <p:spPr>
          <a:xfrm>
            <a:off x="2635849" y="2962656"/>
            <a:ext cx="164592" cy="201168"/>
          </a:xfrm>
          <a:prstGeom prst="rightArrow">
            <a:avLst/>
          </a:prstGeom>
          <a:solidFill>
            <a:srgbClr val="B9DBF6"/>
          </a:solidFill>
          <a:ln/>
        </p:spPr>
      </p:sp>
      <p:sp>
        <p:nvSpPr>
          <p:cNvPr id="13" name="Shape 10"/>
          <p:cNvSpPr/>
          <p:nvPr/>
        </p:nvSpPr>
        <p:spPr>
          <a:xfrm>
            <a:off x="2818729" y="1737360"/>
            <a:ext cx="2050633" cy="2743200"/>
          </a:xfrm>
          <a:prstGeom prst="roundRect">
            <a:avLst>
              <a:gd name="adj" fmla="val 6243"/>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4" name="Shape 11"/>
          <p:cNvSpPr/>
          <p:nvPr/>
        </p:nvSpPr>
        <p:spPr>
          <a:xfrm>
            <a:off x="3478286" y="1444752"/>
            <a:ext cx="731520" cy="731520"/>
          </a:xfrm>
          <a:prstGeom prst="ellipse">
            <a:avLst/>
          </a:prstGeom>
          <a:solidFill>
            <a:srgbClr val="2FA36B"/>
          </a:solidFill>
          <a:ln w="38100">
            <a:solidFill>
              <a:srgbClr val="FFFFFF"/>
            </a:solidFill>
            <a:prstDash val="solid"/>
          </a:ln>
        </p:spPr>
      </p:sp>
      <p:sp>
        <p:nvSpPr>
          <p:cNvPr id="15" name="Text 12"/>
          <p:cNvSpPr/>
          <p:nvPr/>
        </p:nvSpPr>
        <p:spPr>
          <a:xfrm>
            <a:off x="3478286" y="144475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pic>
        <p:nvPicPr>
          <p:cNvPr id="16" name="Image 1" descr="preencoded.png">    </p:cNvPr>
          <p:cNvPicPr>
            <a:picLocks noChangeAspect="1"/>
          </p:cNvPicPr>
          <p:nvPr/>
        </p:nvPicPr>
        <p:blipFill>
          <a:blip r:embed="rId2"/>
          <a:stretch>
            <a:fillRect/>
          </a:stretch>
        </p:blipFill>
        <p:spPr>
          <a:xfrm>
            <a:off x="3588014" y="2377440"/>
            <a:ext cx="512064" cy="512064"/>
          </a:xfrm>
          <a:prstGeom prst="rect">
            <a:avLst/>
          </a:prstGeom>
        </p:spPr>
      </p:pic>
      <p:sp>
        <p:nvSpPr>
          <p:cNvPr id="17" name="Text 13"/>
          <p:cNvSpPr/>
          <p:nvPr/>
        </p:nvSpPr>
        <p:spPr>
          <a:xfrm>
            <a:off x="2983321" y="3017520"/>
            <a:ext cx="1721449" cy="548640"/>
          </a:xfrm>
          <a:prstGeom prst="rect">
            <a:avLst/>
          </a:prstGeom>
          <a:noFill/>
          <a:ln/>
        </p:spPr>
        <p:txBody>
          <a:bodyPr wrap="square" lIns="0" tIns="0" rIns="0" bIns="0" rtlCol="0" anchor="t"/>
          <a:lstStyle/>
          <a:p>
            <a:pPr algn="ctr" indent="0" marL="0">
              <a:buNone/>
            </a:pPr>
            <a:r>
              <a:rPr lang="en-US" sz="1300" b="1" dirty="0">
                <a:solidFill>
                  <a:srgbClr val="173753"/>
                </a:solidFill>
                <a:latin typeface="Calibri" pitchFamily="34" charset="0"/>
                <a:ea typeface="Calibri" pitchFamily="34" charset="-122"/>
                <a:cs typeface="Calibri" pitchFamily="34" charset="-120"/>
              </a:rPr>
              <a:t>Inisiasi &amp; Komunikasi</a:t>
            </a:r>
            <a:endParaRPr lang="en-US" sz="1300" dirty="0"/>
          </a:p>
        </p:txBody>
      </p:sp>
      <p:sp>
        <p:nvSpPr>
          <p:cNvPr id="18" name="Text 14"/>
          <p:cNvSpPr/>
          <p:nvPr/>
        </p:nvSpPr>
        <p:spPr>
          <a:xfrm>
            <a:off x="3001609" y="3584448"/>
            <a:ext cx="1684873" cy="859536"/>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Audiensi ke puskesmas, desa, dan dinas. Bawa data, bukan sekadar permohonan.</a:t>
            </a:r>
            <a:endParaRPr lang="en-US" sz="1050" dirty="0"/>
          </a:p>
        </p:txBody>
      </p:sp>
      <p:sp>
        <p:nvSpPr>
          <p:cNvPr id="19" name="Shape 15"/>
          <p:cNvSpPr/>
          <p:nvPr/>
        </p:nvSpPr>
        <p:spPr>
          <a:xfrm>
            <a:off x="4887651" y="2962656"/>
            <a:ext cx="164592" cy="201168"/>
          </a:xfrm>
          <a:prstGeom prst="rightArrow">
            <a:avLst/>
          </a:prstGeom>
          <a:solidFill>
            <a:srgbClr val="B9DBF6"/>
          </a:solidFill>
          <a:ln/>
        </p:spPr>
      </p:sp>
      <p:sp>
        <p:nvSpPr>
          <p:cNvPr id="20" name="Shape 16"/>
          <p:cNvSpPr/>
          <p:nvPr/>
        </p:nvSpPr>
        <p:spPr>
          <a:xfrm>
            <a:off x="5070531" y="1737360"/>
            <a:ext cx="2050633" cy="2743200"/>
          </a:xfrm>
          <a:prstGeom prst="roundRect">
            <a:avLst>
              <a:gd name="adj" fmla="val 6243"/>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1" name="Shape 17"/>
          <p:cNvSpPr/>
          <p:nvPr/>
        </p:nvSpPr>
        <p:spPr>
          <a:xfrm>
            <a:off x="5730088" y="1444752"/>
            <a:ext cx="731520" cy="731520"/>
          </a:xfrm>
          <a:prstGeom prst="ellipse">
            <a:avLst/>
          </a:prstGeom>
          <a:solidFill>
            <a:srgbClr val="F5871F"/>
          </a:solidFill>
          <a:ln w="38100">
            <a:solidFill>
              <a:srgbClr val="FFFFFF"/>
            </a:solidFill>
            <a:prstDash val="solid"/>
          </a:ln>
        </p:spPr>
      </p:sp>
      <p:sp>
        <p:nvSpPr>
          <p:cNvPr id="22" name="Text 18"/>
          <p:cNvSpPr/>
          <p:nvPr/>
        </p:nvSpPr>
        <p:spPr>
          <a:xfrm>
            <a:off x="5730088" y="144475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pic>
        <p:nvPicPr>
          <p:cNvPr id="23" name="Image 2" descr="preencoded.png">    </p:cNvPr>
          <p:cNvPicPr>
            <a:picLocks noChangeAspect="1"/>
          </p:cNvPicPr>
          <p:nvPr/>
        </p:nvPicPr>
        <p:blipFill>
          <a:blip r:embed="rId3"/>
          <a:stretch>
            <a:fillRect/>
          </a:stretch>
        </p:blipFill>
        <p:spPr>
          <a:xfrm>
            <a:off x="5839816" y="2377440"/>
            <a:ext cx="512064" cy="512064"/>
          </a:xfrm>
          <a:prstGeom prst="rect">
            <a:avLst/>
          </a:prstGeom>
        </p:spPr>
      </p:pic>
      <p:sp>
        <p:nvSpPr>
          <p:cNvPr id="24" name="Text 19"/>
          <p:cNvSpPr/>
          <p:nvPr/>
        </p:nvSpPr>
        <p:spPr>
          <a:xfrm>
            <a:off x="5235123" y="3017520"/>
            <a:ext cx="1721449" cy="548640"/>
          </a:xfrm>
          <a:prstGeom prst="rect">
            <a:avLst/>
          </a:prstGeom>
          <a:noFill/>
          <a:ln/>
        </p:spPr>
        <p:txBody>
          <a:bodyPr wrap="square" lIns="0" tIns="0" rIns="0" bIns="0" rtlCol="0" anchor="t"/>
          <a:lstStyle/>
          <a:p>
            <a:pPr algn="ctr" indent="0" marL="0">
              <a:buNone/>
            </a:pPr>
            <a:r>
              <a:rPr lang="en-US" sz="1300" b="1" dirty="0">
                <a:solidFill>
                  <a:srgbClr val="173753"/>
                </a:solidFill>
                <a:latin typeface="Calibri" pitchFamily="34" charset="0"/>
                <a:ea typeface="Calibri" pitchFamily="34" charset="-122"/>
                <a:cs typeface="Calibri" pitchFamily="34" charset="-120"/>
              </a:rPr>
              <a:t>Kesepakatan</a:t>
            </a:r>
            <a:endParaRPr lang="en-US" sz="1300" dirty="0"/>
          </a:p>
        </p:txBody>
      </p:sp>
      <p:sp>
        <p:nvSpPr>
          <p:cNvPr id="25" name="Text 20"/>
          <p:cNvSpPr/>
          <p:nvPr/>
        </p:nvSpPr>
        <p:spPr>
          <a:xfrm>
            <a:off x="5253411" y="3584448"/>
            <a:ext cx="1684873" cy="859536"/>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Tuangkan dalam PKS/MoU sederhana: siapa, melakukan apa, kapan, dan dengan sumber daya apa.</a:t>
            </a:r>
            <a:endParaRPr lang="en-US" sz="1050" dirty="0"/>
          </a:p>
        </p:txBody>
      </p:sp>
      <p:sp>
        <p:nvSpPr>
          <p:cNvPr id="26" name="Shape 21"/>
          <p:cNvSpPr/>
          <p:nvPr/>
        </p:nvSpPr>
        <p:spPr>
          <a:xfrm>
            <a:off x="7139452" y="2962656"/>
            <a:ext cx="164592" cy="201168"/>
          </a:xfrm>
          <a:prstGeom prst="rightArrow">
            <a:avLst/>
          </a:prstGeom>
          <a:solidFill>
            <a:srgbClr val="B9DBF6"/>
          </a:solidFill>
          <a:ln/>
        </p:spPr>
      </p:sp>
      <p:sp>
        <p:nvSpPr>
          <p:cNvPr id="27" name="Shape 22"/>
          <p:cNvSpPr/>
          <p:nvPr/>
        </p:nvSpPr>
        <p:spPr>
          <a:xfrm>
            <a:off x="7322332" y="1737360"/>
            <a:ext cx="2050633" cy="2743200"/>
          </a:xfrm>
          <a:prstGeom prst="roundRect">
            <a:avLst>
              <a:gd name="adj" fmla="val 6243"/>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8" name="Shape 23"/>
          <p:cNvSpPr/>
          <p:nvPr/>
        </p:nvSpPr>
        <p:spPr>
          <a:xfrm>
            <a:off x="7981889" y="1444752"/>
            <a:ext cx="731520" cy="731520"/>
          </a:xfrm>
          <a:prstGeom prst="ellipse">
            <a:avLst/>
          </a:prstGeom>
          <a:solidFill>
            <a:srgbClr val="7A66B8"/>
          </a:solidFill>
          <a:ln w="38100">
            <a:solidFill>
              <a:srgbClr val="FFFFFF"/>
            </a:solidFill>
            <a:prstDash val="solid"/>
          </a:ln>
        </p:spPr>
      </p:sp>
      <p:sp>
        <p:nvSpPr>
          <p:cNvPr id="29" name="Text 24"/>
          <p:cNvSpPr/>
          <p:nvPr/>
        </p:nvSpPr>
        <p:spPr>
          <a:xfrm>
            <a:off x="7981889" y="144475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pic>
        <p:nvPicPr>
          <p:cNvPr id="30" name="Image 3" descr="preencoded.png">    </p:cNvPr>
          <p:cNvPicPr>
            <a:picLocks noChangeAspect="1"/>
          </p:cNvPicPr>
          <p:nvPr/>
        </p:nvPicPr>
        <p:blipFill>
          <a:blip r:embed="rId4"/>
          <a:stretch>
            <a:fillRect/>
          </a:stretch>
        </p:blipFill>
        <p:spPr>
          <a:xfrm>
            <a:off x="8091617" y="2377440"/>
            <a:ext cx="512064" cy="512064"/>
          </a:xfrm>
          <a:prstGeom prst="rect">
            <a:avLst/>
          </a:prstGeom>
        </p:spPr>
      </p:pic>
      <p:sp>
        <p:nvSpPr>
          <p:cNvPr id="31" name="Text 25"/>
          <p:cNvSpPr/>
          <p:nvPr/>
        </p:nvSpPr>
        <p:spPr>
          <a:xfrm>
            <a:off x="7486924" y="3017520"/>
            <a:ext cx="1721449" cy="548640"/>
          </a:xfrm>
          <a:prstGeom prst="rect">
            <a:avLst/>
          </a:prstGeom>
          <a:noFill/>
          <a:ln/>
        </p:spPr>
        <p:txBody>
          <a:bodyPr wrap="square" lIns="0" tIns="0" rIns="0" bIns="0" rtlCol="0" anchor="t"/>
          <a:lstStyle/>
          <a:p>
            <a:pPr algn="ctr" indent="0" marL="0">
              <a:buNone/>
            </a:pPr>
            <a:r>
              <a:rPr lang="en-US" sz="1300" b="1" dirty="0">
                <a:solidFill>
                  <a:srgbClr val="173753"/>
                </a:solidFill>
                <a:latin typeface="Calibri" pitchFamily="34" charset="0"/>
                <a:ea typeface="Calibri" pitchFamily="34" charset="-122"/>
                <a:cs typeface="Calibri" pitchFamily="34" charset="-120"/>
              </a:rPr>
              <a:t>Pelaksanaan</a:t>
            </a:r>
            <a:endParaRPr lang="en-US" sz="1300" dirty="0"/>
          </a:p>
        </p:txBody>
      </p:sp>
      <p:sp>
        <p:nvSpPr>
          <p:cNvPr id="32" name="Text 26"/>
          <p:cNvSpPr/>
          <p:nvPr/>
        </p:nvSpPr>
        <p:spPr>
          <a:xfrm>
            <a:off x="7505212" y="3584448"/>
            <a:ext cx="1684873" cy="859536"/>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Jalankan lewat kalender kegiatan terpadu agar tidak bertabrakan dengan agenda belajar.</a:t>
            </a:r>
            <a:endParaRPr lang="en-US" sz="1050" dirty="0"/>
          </a:p>
        </p:txBody>
      </p:sp>
      <p:sp>
        <p:nvSpPr>
          <p:cNvPr id="33" name="Shape 27"/>
          <p:cNvSpPr/>
          <p:nvPr/>
        </p:nvSpPr>
        <p:spPr>
          <a:xfrm>
            <a:off x="9391254" y="2962656"/>
            <a:ext cx="164592" cy="201168"/>
          </a:xfrm>
          <a:prstGeom prst="rightArrow">
            <a:avLst/>
          </a:prstGeom>
          <a:solidFill>
            <a:srgbClr val="B9DBF6"/>
          </a:solidFill>
          <a:ln/>
        </p:spPr>
      </p:sp>
      <p:sp>
        <p:nvSpPr>
          <p:cNvPr id="34" name="Shape 28"/>
          <p:cNvSpPr/>
          <p:nvPr/>
        </p:nvSpPr>
        <p:spPr>
          <a:xfrm>
            <a:off x="9574134" y="1737360"/>
            <a:ext cx="2050633" cy="2743200"/>
          </a:xfrm>
          <a:prstGeom prst="roundRect">
            <a:avLst>
              <a:gd name="adj" fmla="val 6243"/>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5" name="Shape 29"/>
          <p:cNvSpPr/>
          <p:nvPr/>
        </p:nvSpPr>
        <p:spPr>
          <a:xfrm>
            <a:off x="10233690" y="1444752"/>
            <a:ext cx="731520" cy="731520"/>
          </a:xfrm>
          <a:prstGeom prst="ellipse">
            <a:avLst/>
          </a:prstGeom>
          <a:solidFill>
            <a:srgbClr val="1F9C9C"/>
          </a:solidFill>
          <a:ln w="38100">
            <a:solidFill>
              <a:srgbClr val="FFFFFF"/>
            </a:solidFill>
            <a:prstDash val="solid"/>
          </a:ln>
        </p:spPr>
      </p:sp>
      <p:sp>
        <p:nvSpPr>
          <p:cNvPr id="36" name="Text 30"/>
          <p:cNvSpPr/>
          <p:nvPr/>
        </p:nvSpPr>
        <p:spPr>
          <a:xfrm>
            <a:off x="10233690" y="1444752"/>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pic>
        <p:nvPicPr>
          <p:cNvPr id="37" name="Image 4" descr="preencoded.png">    </p:cNvPr>
          <p:cNvPicPr>
            <a:picLocks noChangeAspect="1"/>
          </p:cNvPicPr>
          <p:nvPr/>
        </p:nvPicPr>
        <p:blipFill>
          <a:blip r:embed="rId5"/>
          <a:stretch>
            <a:fillRect/>
          </a:stretch>
        </p:blipFill>
        <p:spPr>
          <a:xfrm>
            <a:off x="10343418" y="2377440"/>
            <a:ext cx="512064" cy="512064"/>
          </a:xfrm>
          <a:prstGeom prst="rect">
            <a:avLst/>
          </a:prstGeom>
        </p:spPr>
      </p:pic>
      <p:sp>
        <p:nvSpPr>
          <p:cNvPr id="38" name="Text 31"/>
          <p:cNvSpPr/>
          <p:nvPr/>
        </p:nvSpPr>
        <p:spPr>
          <a:xfrm>
            <a:off x="9738726" y="3017520"/>
            <a:ext cx="1721449" cy="548640"/>
          </a:xfrm>
          <a:prstGeom prst="rect">
            <a:avLst/>
          </a:prstGeom>
          <a:noFill/>
          <a:ln/>
        </p:spPr>
        <p:txBody>
          <a:bodyPr wrap="square" lIns="0" tIns="0" rIns="0" bIns="0" rtlCol="0" anchor="t"/>
          <a:lstStyle/>
          <a:p>
            <a:pPr algn="ctr" indent="0" marL="0">
              <a:buNone/>
            </a:pPr>
            <a:r>
              <a:rPr lang="en-US" sz="1300" b="1" dirty="0">
                <a:solidFill>
                  <a:srgbClr val="173753"/>
                </a:solidFill>
                <a:latin typeface="Calibri" pitchFamily="34" charset="0"/>
                <a:ea typeface="Calibri" pitchFamily="34" charset="-122"/>
                <a:cs typeface="Calibri" pitchFamily="34" charset="-120"/>
              </a:rPr>
              <a:t>Evaluasi &amp; Keberlanjutan</a:t>
            </a:r>
            <a:endParaRPr lang="en-US" sz="1300" dirty="0"/>
          </a:p>
        </p:txBody>
      </p:sp>
      <p:sp>
        <p:nvSpPr>
          <p:cNvPr id="39" name="Text 32"/>
          <p:cNvSpPr/>
          <p:nvPr/>
        </p:nvSpPr>
        <p:spPr>
          <a:xfrm>
            <a:off x="9757014" y="3584448"/>
            <a:ext cx="1684873" cy="859536"/>
          </a:xfrm>
          <a:prstGeom prst="rect">
            <a:avLst/>
          </a:prstGeom>
          <a:noFill/>
          <a:ln/>
        </p:spPr>
        <p:txBody>
          <a:bodyPr wrap="square" lIns="0" tIns="0" rIns="0" bIns="0" rtlCol="0" anchor="t"/>
          <a:lstStyle/>
          <a:p>
            <a:pPr algn="ctr" indent="0" marL="0">
              <a:buNone/>
            </a:pPr>
            <a:r>
              <a:rPr lang="en-US" sz="1050" dirty="0">
                <a:solidFill>
                  <a:srgbClr val="3E5C77"/>
                </a:solidFill>
                <a:latin typeface="Calibri" pitchFamily="34" charset="0"/>
                <a:ea typeface="Calibri" pitchFamily="34" charset="-122"/>
                <a:cs typeface="Calibri" pitchFamily="34" charset="-120"/>
              </a:rPr>
              <a:t>Refleksi bersama, laporkan hasil, apresiasi mitra, lalu perluas cakupan.</a:t>
            </a:r>
            <a:endParaRPr lang="en-US" sz="1050" dirty="0"/>
          </a:p>
        </p:txBody>
      </p:sp>
      <p:sp>
        <p:nvSpPr>
          <p:cNvPr id="40" name="Shape 33"/>
          <p:cNvSpPr/>
          <p:nvPr/>
        </p:nvSpPr>
        <p:spPr>
          <a:xfrm>
            <a:off x="566928" y="4718304"/>
            <a:ext cx="11057839" cy="969264"/>
          </a:xfrm>
          <a:prstGeom prst="roundRect">
            <a:avLst>
              <a:gd name="adj" fmla="val 13208"/>
            </a:avLst>
          </a:prstGeom>
          <a:solidFill>
            <a:srgbClr val="FFF1E0"/>
          </a:solidFill>
          <a:ln w="12700">
            <a:solidFill>
              <a:srgbClr val="FFD9B3"/>
            </a:solidFill>
            <a:prstDash val="solid"/>
          </a:ln>
          <a:effectLst>
            <a:outerShdw sx="100000" sy="100000" kx="0" ky="0" algn="bl" rotWithShape="0" blurRad="177800" dist="38100" dir="5400000">
              <a:srgbClr val="0F3352">
                <a:alpha val="10000"/>
              </a:srgbClr>
            </a:outerShdw>
          </a:effectLst>
        </p:spPr>
      </p:sp>
      <p:sp>
        <p:nvSpPr>
          <p:cNvPr id="41" name="Text 34"/>
          <p:cNvSpPr/>
          <p:nvPr/>
        </p:nvSpPr>
        <p:spPr>
          <a:xfrm>
            <a:off x="896112" y="4882896"/>
            <a:ext cx="10399471" cy="658368"/>
          </a:xfrm>
          <a:prstGeom prst="rect">
            <a:avLst/>
          </a:prstGeom>
          <a:noFill/>
          <a:ln/>
        </p:spPr>
        <p:txBody>
          <a:bodyPr wrap="square" lIns="0" tIns="0" rIns="0" bIns="0" rtlCol="0" anchor="ctr"/>
          <a:lstStyle/>
          <a:p>
            <a:pPr indent="0" marL="0">
              <a:buNone/>
            </a:pPr>
            <a:r>
              <a:rPr lang="en-US" sz="1250" dirty="0">
                <a:solidFill>
                  <a:srgbClr val="173753"/>
                </a:solidFill>
                <a:latin typeface="Calibri" pitchFamily="34" charset="0"/>
                <a:ea typeface="Calibri" pitchFamily="34" charset="-122"/>
                <a:cs typeface="Calibri" pitchFamily="34" charset="-120"/>
              </a:rPr>
              <a:t>Kunci tahap 3: kesepakatan tertulis. Satu lembar PKS membuat kemitraan tetap berjalan meski kepala satuan, kepala puskesmas, atau kepala desa berganti.</a:t>
            </a:r>
            <a:endParaRPr lang="en-US" sz="1250" dirty="0"/>
          </a:p>
        </p:txBody>
      </p:sp>
      <p:sp>
        <p:nvSpPr>
          <p:cNvPr id="42" name="Text 35"/>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43" name="Text 36"/>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PERANGKAT</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Instrumen dan Sumber Daya Kemitraan</a:t>
            </a:r>
            <a:endParaRPr lang="en-US" sz="3200" dirty="0"/>
          </a:p>
        </p:txBody>
      </p:sp>
      <p:sp>
        <p:nvSpPr>
          <p:cNvPr id="6" name="Text 4"/>
          <p:cNvSpPr/>
          <p:nvPr/>
        </p:nvSpPr>
        <p:spPr>
          <a:xfrm>
            <a:off x="585216" y="1463040"/>
            <a:ext cx="5120640" cy="274320"/>
          </a:xfrm>
          <a:prstGeom prst="rect">
            <a:avLst/>
          </a:prstGeom>
          <a:noFill/>
          <a:ln/>
        </p:spPr>
        <p:txBody>
          <a:bodyPr wrap="square" lIns="0" tIns="0" rIns="0" bIns="0" rtlCol="0" anchor="ctr"/>
          <a:lstStyle/>
          <a:p>
            <a:pPr indent="0" marL="0">
              <a:buNone/>
            </a:pPr>
            <a:r>
              <a:rPr lang="en-US" sz="1100" b="1" spc="150" kern="0" dirty="0">
                <a:solidFill>
                  <a:srgbClr val="1E76C8"/>
                </a:solidFill>
                <a:latin typeface="Calibri" pitchFamily="34" charset="0"/>
                <a:ea typeface="Calibri" pitchFamily="34" charset="-122"/>
                <a:cs typeface="Calibri" pitchFamily="34" charset="-120"/>
              </a:rPr>
              <a:t>INSTRUMEN KERJA SAMA</a:t>
            </a:r>
            <a:endParaRPr lang="en-US" sz="1100" dirty="0"/>
          </a:p>
        </p:txBody>
      </p:sp>
      <p:sp>
        <p:nvSpPr>
          <p:cNvPr id="7" name="Shape 5"/>
          <p:cNvSpPr/>
          <p:nvPr/>
        </p:nvSpPr>
        <p:spPr>
          <a:xfrm>
            <a:off x="566928" y="1773936"/>
            <a:ext cx="5394960" cy="859536"/>
          </a:xfrm>
          <a:prstGeom prst="roundRect">
            <a:avLst>
              <a:gd name="adj" fmla="val 1489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8" name="Shape 6"/>
          <p:cNvSpPr/>
          <p:nvPr/>
        </p:nvSpPr>
        <p:spPr>
          <a:xfrm>
            <a:off x="786384" y="1938528"/>
            <a:ext cx="530352" cy="530352"/>
          </a:xfrm>
          <a:prstGeom prst="ellipse">
            <a:avLst>
              <a:gd name="adj" fmla="val 20690"/>
            </a:avLst>
          </a:prstGeom>
          <a:solidFill>
            <a:srgbClr val="1E76C8"/>
          </a:solidFill>
          <a:ln w="12700">
            <a:solidFill>
              <a:srgbClr val="333333"/>
            </a:solidFill>
            <a:prstDash val="solid"/>
          </a:ln>
        </p:spPr>
      </p:sp>
      <p:pic>
        <p:nvPicPr>
          <p:cNvPr id="9" name="Image 0" descr="preencoded.png">    </p:cNvPr>
          <p:cNvPicPr>
            <a:picLocks noChangeAspect="1"/>
          </p:cNvPicPr>
          <p:nvPr/>
        </p:nvPicPr>
        <p:blipFill>
          <a:blip r:embed="rId1"/>
          <a:stretch>
            <a:fillRect/>
          </a:stretch>
        </p:blipFill>
        <p:spPr>
          <a:xfrm>
            <a:off x="913668" y="2065812"/>
            <a:ext cx="275783" cy="275783"/>
          </a:xfrm>
          <a:prstGeom prst="rect">
            <a:avLst/>
          </a:prstGeom>
        </p:spPr>
      </p:pic>
      <p:sp>
        <p:nvSpPr>
          <p:cNvPr id="10" name="Text 7"/>
          <p:cNvSpPr/>
          <p:nvPr/>
        </p:nvSpPr>
        <p:spPr>
          <a:xfrm>
            <a:off x="1444752" y="1865376"/>
            <a:ext cx="4297680" cy="292608"/>
          </a:xfrm>
          <a:prstGeom prst="rect">
            <a:avLst/>
          </a:prstGeom>
          <a:noFill/>
          <a:ln/>
        </p:spPr>
        <p:txBody>
          <a:bodyPr wrap="square" lIns="0" tIns="0" rIns="0" bIns="0" rtlCol="0" anchor="ctr"/>
          <a:lstStyle/>
          <a:p>
            <a:pPr indent="0" marL="0">
              <a:buNone/>
            </a:pPr>
            <a:r>
              <a:rPr lang="en-US" sz="1300" b="1" dirty="0">
                <a:solidFill>
                  <a:srgbClr val="173753"/>
                </a:solidFill>
                <a:latin typeface="Calibri" pitchFamily="34" charset="0"/>
                <a:ea typeface="Calibri" pitchFamily="34" charset="-122"/>
                <a:cs typeface="Calibri" pitchFamily="34" charset="-120"/>
              </a:rPr>
              <a:t>Perjanjian Kerja Sama / MoU</a:t>
            </a:r>
            <a:endParaRPr lang="en-US" sz="1300" dirty="0"/>
          </a:p>
        </p:txBody>
      </p:sp>
      <p:sp>
        <p:nvSpPr>
          <p:cNvPr id="11" name="Text 8"/>
          <p:cNvSpPr/>
          <p:nvPr/>
        </p:nvSpPr>
        <p:spPr>
          <a:xfrm>
            <a:off x="1444752" y="2157984"/>
            <a:ext cx="4352544" cy="42062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Cukup satu halaman: ruang lingkup, peran, jadwal, dan penanggung jawab.</a:t>
            </a:r>
            <a:endParaRPr lang="en-US" sz="1100" dirty="0"/>
          </a:p>
        </p:txBody>
      </p:sp>
      <p:sp>
        <p:nvSpPr>
          <p:cNvPr id="12" name="Shape 9"/>
          <p:cNvSpPr/>
          <p:nvPr/>
        </p:nvSpPr>
        <p:spPr>
          <a:xfrm>
            <a:off x="566928" y="2724912"/>
            <a:ext cx="5394960" cy="859536"/>
          </a:xfrm>
          <a:prstGeom prst="roundRect">
            <a:avLst>
              <a:gd name="adj" fmla="val 1489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3" name="Shape 10"/>
          <p:cNvSpPr/>
          <p:nvPr/>
        </p:nvSpPr>
        <p:spPr>
          <a:xfrm>
            <a:off x="786384" y="2889504"/>
            <a:ext cx="530352" cy="530352"/>
          </a:xfrm>
          <a:prstGeom prst="ellipse">
            <a:avLst>
              <a:gd name="adj" fmla="val 20690"/>
            </a:avLst>
          </a:prstGeom>
          <a:solidFill>
            <a:srgbClr val="1E76C8"/>
          </a:solidFill>
          <a:ln w="12700">
            <a:solidFill>
              <a:srgbClr val="333333"/>
            </a:solidFill>
            <a:prstDash val="solid"/>
          </a:ln>
        </p:spPr>
      </p:sp>
      <p:pic>
        <p:nvPicPr>
          <p:cNvPr id="14" name="Image 1" descr="preencoded.png">    </p:cNvPr>
          <p:cNvPicPr>
            <a:picLocks noChangeAspect="1"/>
          </p:cNvPicPr>
          <p:nvPr/>
        </p:nvPicPr>
        <p:blipFill>
          <a:blip r:embed="rId2"/>
          <a:stretch>
            <a:fillRect/>
          </a:stretch>
        </p:blipFill>
        <p:spPr>
          <a:xfrm>
            <a:off x="913668" y="3016788"/>
            <a:ext cx="275783" cy="275783"/>
          </a:xfrm>
          <a:prstGeom prst="rect">
            <a:avLst/>
          </a:prstGeom>
        </p:spPr>
      </p:pic>
      <p:sp>
        <p:nvSpPr>
          <p:cNvPr id="15" name="Text 11"/>
          <p:cNvSpPr/>
          <p:nvPr/>
        </p:nvSpPr>
        <p:spPr>
          <a:xfrm>
            <a:off x="1444752" y="2816352"/>
            <a:ext cx="4297680" cy="292608"/>
          </a:xfrm>
          <a:prstGeom prst="rect">
            <a:avLst/>
          </a:prstGeom>
          <a:noFill/>
          <a:ln/>
        </p:spPr>
        <p:txBody>
          <a:bodyPr wrap="square" lIns="0" tIns="0" rIns="0" bIns="0" rtlCol="0" anchor="ctr"/>
          <a:lstStyle/>
          <a:p>
            <a:pPr indent="0" marL="0">
              <a:buNone/>
            </a:pPr>
            <a:r>
              <a:rPr lang="en-US" sz="1300" b="1" dirty="0">
                <a:solidFill>
                  <a:srgbClr val="173753"/>
                </a:solidFill>
                <a:latin typeface="Calibri" pitchFamily="34" charset="0"/>
                <a:ea typeface="Calibri" pitchFamily="34" charset="-122"/>
                <a:cs typeface="Calibri" pitchFamily="34" charset="-120"/>
              </a:rPr>
              <a:t>Forum Koordinasi PAUD HI</a:t>
            </a:r>
            <a:endParaRPr lang="en-US" sz="1300" dirty="0"/>
          </a:p>
        </p:txBody>
      </p:sp>
      <p:sp>
        <p:nvSpPr>
          <p:cNvPr id="16" name="Text 12"/>
          <p:cNvSpPr/>
          <p:nvPr/>
        </p:nvSpPr>
        <p:spPr>
          <a:xfrm>
            <a:off x="1444752" y="3108960"/>
            <a:ext cx="4352544" cy="42062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Pertemuan rutin tingkat desa atau kecamatan bersama seluruh mitra.</a:t>
            </a:r>
            <a:endParaRPr lang="en-US" sz="1100" dirty="0"/>
          </a:p>
        </p:txBody>
      </p:sp>
      <p:sp>
        <p:nvSpPr>
          <p:cNvPr id="17" name="Shape 13"/>
          <p:cNvSpPr/>
          <p:nvPr/>
        </p:nvSpPr>
        <p:spPr>
          <a:xfrm>
            <a:off x="566928" y="3675888"/>
            <a:ext cx="5394960" cy="859536"/>
          </a:xfrm>
          <a:prstGeom prst="roundRect">
            <a:avLst>
              <a:gd name="adj" fmla="val 1489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8" name="Shape 14"/>
          <p:cNvSpPr/>
          <p:nvPr/>
        </p:nvSpPr>
        <p:spPr>
          <a:xfrm>
            <a:off x="786384" y="3840480"/>
            <a:ext cx="530352" cy="530352"/>
          </a:xfrm>
          <a:prstGeom prst="ellipse">
            <a:avLst>
              <a:gd name="adj" fmla="val 20690"/>
            </a:avLst>
          </a:prstGeom>
          <a:solidFill>
            <a:srgbClr val="1E76C8"/>
          </a:solidFill>
          <a:ln w="12700">
            <a:solidFill>
              <a:srgbClr val="333333"/>
            </a:solidFill>
            <a:prstDash val="solid"/>
          </a:ln>
        </p:spPr>
      </p:sp>
      <p:pic>
        <p:nvPicPr>
          <p:cNvPr id="19" name="Image 2" descr="preencoded.png">    </p:cNvPr>
          <p:cNvPicPr>
            <a:picLocks noChangeAspect="1"/>
          </p:cNvPicPr>
          <p:nvPr/>
        </p:nvPicPr>
        <p:blipFill>
          <a:blip r:embed="rId3"/>
          <a:stretch>
            <a:fillRect/>
          </a:stretch>
        </p:blipFill>
        <p:spPr>
          <a:xfrm>
            <a:off x="913668" y="3967764"/>
            <a:ext cx="275783" cy="275783"/>
          </a:xfrm>
          <a:prstGeom prst="rect">
            <a:avLst/>
          </a:prstGeom>
        </p:spPr>
      </p:pic>
      <p:sp>
        <p:nvSpPr>
          <p:cNvPr id="20" name="Text 15"/>
          <p:cNvSpPr/>
          <p:nvPr/>
        </p:nvSpPr>
        <p:spPr>
          <a:xfrm>
            <a:off x="1444752" y="3767328"/>
            <a:ext cx="4297680" cy="292608"/>
          </a:xfrm>
          <a:prstGeom prst="rect">
            <a:avLst/>
          </a:prstGeom>
          <a:noFill/>
          <a:ln/>
        </p:spPr>
        <p:txBody>
          <a:bodyPr wrap="square" lIns="0" tIns="0" rIns="0" bIns="0" rtlCol="0" anchor="ctr"/>
          <a:lstStyle/>
          <a:p>
            <a:pPr indent="0" marL="0">
              <a:buNone/>
            </a:pPr>
            <a:r>
              <a:rPr lang="en-US" sz="1300" b="1" dirty="0">
                <a:solidFill>
                  <a:srgbClr val="173753"/>
                </a:solidFill>
                <a:latin typeface="Calibri" pitchFamily="34" charset="0"/>
                <a:ea typeface="Calibri" pitchFamily="34" charset="-122"/>
                <a:cs typeface="Calibri" pitchFamily="34" charset="-120"/>
              </a:rPr>
              <a:t>Kalender Kegiatan Terpadu</a:t>
            </a:r>
            <a:endParaRPr lang="en-US" sz="1300" dirty="0"/>
          </a:p>
        </p:txBody>
      </p:sp>
      <p:sp>
        <p:nvSpPr>
          <p:cNvPr id="21" name="Text 16"/>
          <p:cNvSpPr/>
          <p:nvPr/>
        </p:nvSpPr>
        <p:spPr>
          <a:xfrm>
            <a:off x="1444752" y="4059936"/>
            <a:ext cx="4352544" cy="42062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Satu kalender bersama: posyandu, kelas orang tua, pemeriksaan, dan PMT.</a:t>
            </a:r>
            <a:endParaRPr lang="en-US" sz="1100" dirty="0"/>
          </a:p>
        </p:txBody>
      </p:sp>
      <p:sp>
        <p:nvSpPr>
          <p:cNvPr id="22" name="Shape 17"/>
          <p:cNvSpPr/>
          <p:nvPr/>
        </p:nvSpPr>
        <p:spPr>
          <a:xfrm>
            <a:off x="566928" y="4626864"/>
            <a:ext cx="5394960" cy="859536"/>
          </a:xfrm>
          <a:prstGeom prst="roundRect">
            <a:avLst>
              <a:gd name="adj" fmla="val 1489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3" name="Shape 18"/>
          <p:cNvSpPr/>
          <p:nvPr/>
        </p:nvSpPr>
        <p:spPr>
          <a:xfrm>
            <a:off x="786384" y="4791456"/>
            <a:ext cx="530352" cy="530352"/>
          </a:xfrm>
          <a:prstGeom prst="ellipse">
            <a:avLst>
              <a:gd name="adj" fmla="val 20690"/>
            </a:avLst>
          </a:prstGeom>
          <a:solidFill>
            <a:srgbClr val="1E76C8"/>
          </a:solidFill>
          <a:ln w="12700">
            <a:solidFill>
              <a:srgbClr val="333333"/>
            </a:solidFill>
            <a:prstDash val="solid"/>
          </a:ln>
        </p:spPr>
      </p:sp>
      <p:pic>
        <p:nvPicPr>
          <p:cNvPr id="24" name="Image 3" descr="preencoded.png">    </p:cNvPr>
          <p:cNvPicPr>
            <a:picLocks noChangeAspect="1"/>
          </p:cNvPicPr>
          <p:nvPr/>
        </p:nvPicPr>
        <p:blipFill>
          <a:blip r:embed="rId4"/>
          <a:stretch>
            <a:fillRect/>
          </a:stretch>
        </p:blipFill>
        <p:spPr>
          <a:xfrm>
            <a:off x="913668" y="4918740"/>
            <a:ext cx="275783" cy="275783"/>
          </a:xfrm>
          <a:prstGeom prst="rect">
            <a:avLst/>
          </a:prstGeom>
        </p:spPr>
      </p:pic>
      <p:sp>
        <p:nvSpPr>
          <p:cNvPr id="25" name="Text 19"/>
          <p:cNvSpPr/>
          <p:nvPr/>
        </p:nvSpPr>
        <p:spPr>
          <a:xfrm>
            <a:off x="1444752" y="4718304"/>
            <a:ext cx="4297680" cy="292608"/>
          </a:xfrm>
          <a:prstGeom prst="rect">
            <a:avLst/>
          </a:prstGeom>
          <a:noFill/>
          <a:ln/>
        </p:spPr>
        <p:txBody>
          <a:bodyPr wrap="square" lIns="0" tIns="0" rIns="0" bIns="0" rtlCol="0" anchor="ctr"/>
          <a:lstStyle/>
          <a:p>
            <a:pPr indent="0" marL="0">
              <a:buNone/>
            </a:pPr>
            <a:r>
              <a:rPr lang="en-US" sz="1300" b="1" dirty="0">
                <a:solidFill>
                  <a:srgbClr val="173753"/>
                </a:solidFill>
                <a:latin typeface="Calibri" pitchFamily="34" charset="0"/>
                <a:ea typeface="Calibri" pitchFamily="34" charset="-122"/>
                <a:cs typeface="Calibri" pitchFamily="34" charset="-120"/>
              </a:rPr>
              <a:t>Data &amp; Pelaporan Bersama</a:t>
            </a:r>
            <a:endParaRPr lang="en-US" sz="1300" dirty="0"/>
          </a:p>
        </p:txBody>
      </p:sp>
      <p:sp>
        <p:nvSpPr>
          <p:cNvPr id="26" name="Text 20"/>
          <p:cNvSpPr/>
          <p:nvPr/>
        </p:nvSpPr>
        <p:spPr>
          <a:xfrm>
            <a:off x="1444752" y="5010912"/>
            <a:ext cx="4352544" cy="42062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Dapodik dan catatan tumbuh kembang sebagai rujukan yang sama bagi semua pihak.</a:t>
            </a:r>
            <a:endParaRPr lang="en-US" sz="1100" dirty="0"/>
          </a:p>
        </p:txBody>
      </p:sp>
      <p:sp>
        <p:nvSpPr>
          <p:cNvPr id="27" name="Text 21"/>
          <p:cNvSpPr/>
          <p:nvPr/>
        </p:nvSpPr>
        <p:spPr>
          <a:xfrm>
            <a:off x="6345936" y="1463040"/>
            <a:ext cx="5120640" cy="274320"/>
          </a:xfrm>
          <a:prstGeom prst="rect">
            <a:avLst/>
          </a:prstGeom>
          <a:noFill/>
          <a:ln/>
        </p:spPr>
        <p:txBody>
          <a:bodyPr wrap="square" lIns="0" tIns="0" rIns="0" bIns="0" rtlCol="0" anchor="ctr"/>
          <a:lstStyle/>
          <a:p>
            <a:pPr indent="0" marL="0">
              <a:buNone/>
            </a:pPr>
            <a:r>
              <a:rPr lang="en-US" sz="1100" b="1" spc="150" kern="0" dirty="0">
                <a:solidFill>
                  <a:srgbClr val="2FA36B"/>
                </a:solidFill>
                <a:latin typeface="Calibri" pitchFamily="34" charset="0"/>
                <a:ea typeface="Calibri" pitchFamily="34" charset="-122"/>
                <a:cs typeface="Calibri" pitchFamily="34" charset="-120"/>
              </a:rPr>
              <a:t>SUMBER PEMBIAYAAN</a:t>
            </a:r>
            <a:endParaRPr lang="en-US" sz="1100" dirty="0"/>
          </a:p>
        </p:txBody>
      </p:sp>
      <p:sp>
        <p:nvSpPr>
          <p:cNvPr id="28" name="Shape 22"/>
          <p:cNvSpPr/>
          <p:nvPr/>
        </p:nvSpPr>
        <p:spPr>
          <a:xfrm>
            <a:off x="6345936" y="1773936"/>
            <a:ext cx="5278831" cy="859536"/>
          </a:xfrm>
          <a:prstGeom prst="roundRect">
            <a:avLst>
              <a:gd name="adj" fmla="val 1489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9" name="Shape 23"/>
          <p:cNvSpPr/>
          <p:nvPr/>
        </p:nvSpPr>
        <p:spPr>
          <a:xfrm>
            <a:off x="6565392" y="1938528"/>
            <a:ext cx="530352" cy="530352"/>
          </a:xfrm>
          <a:prstGeom prst="ellipse">
            <a:avLst>
              <a:gd name="adj" fmla="val 20690"/>
            </a:avLst>
          </a:prstGeom>
          <a:solidFill>
            <a:srgbClr val="2FA36B"/>
          </a:solidFill>
          <a:ln w="12700">
            <a:solidFill>
              <a:srgbClr val="333333"/>
            </a:solidFill>
            <a:prstDash val="solid"/>
          </a:ln>
        </p:spPr>
      </p:sp>
      <p:pic>
        <p:nvPicPr>
          <p:cNvPr id="30" name="Image 4" descr="preencoded.png">    </p:cNvPr>
          <p:cNvPicPr>
            <a:picLocks noChangeAspect="1"/>
          </p:cNvPicPr>
          <p:nvPr/>
        </p:nvPicPr>
        <p:blipFill>
          <a:blip r:embed="rId5"/>
          <a:stretch>
            <a:fillRect/>
          </a:stretch>
        </p:blipFill>
        <p:spPr>
          <a:xfrm>
            <a:off x="6692676" y="2065812"/>
            <a:ext cx="275783" cy="275783"/>
          </a:xfrm>
          <a:prstGeom prst="rect">
            <a:avLst/>
          </a:prstGeom>
        </p:spPr>
      </p:pic>
      <p:sp>
        <p:nvSpPr>
          <p:cNvPr id="31" name="Text 24"/>
          <p:cNvSpPr/>
          <p:nvPr/>
        </p:nvSpPr>
        <p:spPr>
          <a:xfrm>
            <a:off x="7223760" y="1865376"/>
            <a:ext cx="4114800" cy="292608"/>
          </a:xfrm>
          <a:prstGeom prst="rect">
            <a:avLst/>
          </a:prstGeom>
          <a:noFill/>
          <a:ln/>
        </p:spPr>
        <p:txBody>
          <a:bodyPr wrap="square" lIns="0" tIns="0" rIns="0" bIns="0" rtlCol="0" anchor="ctr"/>
          <a:lstStyle/>
          <a:p>
            <a:pPr indent="0" marL="0">
              <a:buNone/>
            </a:pPr>
            <a:r>
              <a:rPr lang="en-US" sz="1300" b="1" dirty="0">
                <a:solidFill>
                  <a:srgbClr val="173753"/>
                </a:solidFill>
                <a:latin typeface="Calibri" pitchFamily="34" charset="0"/>
                <a:ea typeface="Calibri" pitchFamily="34" charset="-122"/>
                <a:cs typeface="Calibri" pitchFamily="34" charset="-120"/>
              </a:rPr>
              <a:t>BOP PAUD</a:t>
            </a:r>
            <a:endParaRPr lang="en-US" sz="1300" dirty="0"/>
          </a:p>
        </p:txBody>
      </p:sp>
      <p:sp>
        <p:nvSpPr>
          <p:cNvPr id="32" name="Text 25"/>
          <p:cNvSpPr/>
          <p:nvPr/>
        </p:nvSpPr>
        <p:spPr>
          <a:xfrm>
            <a:off x="7223760" y="2157984"/>
            <a:ext cx="4114800" cy="42062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Pembelian bahan PMT, alat kebersihan, dan penguatan kapasitas pendidik.</a:t>
            </a:r>
            <a:endParaRPr lang="en-US" sz="1100" dirty="0"/>
          </a:p>
        </p:txBody>
      </p:sp>
      <p:sp>
        <p:nvSpPr>
          <p:cNvPr id="33" name="Shape 26"/>
          <p:cNvSpPr/>
          <p:nvPr/>
        </p:nvSpPr>
        <p:spPr>
          <a:xfrm>
            <a:off x="6345936" y="2724912"/>
            <a:ext cx="5278831" cy="859536"/>
          </a:xfrm>
          <a:prstGeom prst="roundRect">
            <a:avLst>
              <a:gd name="adj" fmla="val 1489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4" name="Shape 27"/>
          <p:cNvSpPr/>
          <p:nvPr/>
        </p:nvSpPr>
        <p:spPr>
          <a:xfrm>
            <a:off x="6565392" y="2889504"/>
            <a:ext cx="530352" cy="530352"/>
          </a:xfrm>
          <a:prstGeom prst="ellipse">
            <a:avLst>
              <a:gd name="adj" fmla="val 20690"/>
            </a:avLst>
          </a:prstGeom>
          <a:solidFill>
            <a:srgbClr val="2FA36B"/>
          </a:solidFill>
          <a:ln w="12700">
            <a:solidFill>
              <a:srgbClr val="333333"/>
            </a:solidFill>
            <a:prstDash val="solid"/>
          </a:ln>
        </p:spPr>
      </p:sp>
      <p:pic>
        <p:nvPicPr>
          <p:cNvPr id="35" name="Image 5" descr="preencoded.png">    </p:cNvPr>
          <p:cNvPicPr>
            <a:picLocks noChangeAspect="1"/>
          </p:cNvPicPr>
          <p:nvPr/>
        </p:nvPicPr>
        <p:blipFill>
          <a:blip r:embed="rId6"/>
          <a:stretch>
            <a:fillRect/>
          </a:stretch>
        </p:blipFill>
        <p:spPr>
          <a:xfrm>
            <a:off x="6692676" y="3016788"/>
            <a:ext cx="275783" cy="275783"/>
          </a:xfrm>
          <a:prstGeom prst="rect">
            <a:avLst/>
          </a:prstGeom>
        </p:spPr>
      </p:pic>
      <p:sp>
        <p:nvSpPr>
          <p:cNvPr id="36" name="Text 28"/>
          <p:cNvSpPr/>
          <p:nvPr/>
        </p:nvSpPr>
        <p:spPr>
          <a:xfrm>
            <a:off x="7223760" y="2816352"/>
            <a:ext cx="4114800" cy="292608"/>
          </a:xfrm>
          <a:prstGeom prst="rect">
            <a:avLst/>
          </a:prstGeom>
          <a:noFill/>
          <a:ln/>
        </p:spPr>
        <p:txBody>
          <a:bodyPr wrap="square" lIns="0" tIns="0" rIns="0" bIns="0" rtlCol="0" anchor="ctr"/>
          <a:lstStyle/>
          <a:p>
            <a:pPr indent="0" marL="0">
              <a:buNone/>
            </a:pPr>
            <a:r>
              <a:rPr lang="en-US" sz="1300" b="1" dirty="0">
                <a:solidFill>
                  <a:srgbClr val="173753"/>
                </a:solidFill>
                <a:latin typeface="Calibri" pitchFamily="34" charset="0"/>
                <a:ea typeface="Calibri" pitchFamily="34" charset="-122"/>
                <a:cs typeface="Calibri" pitchFamily="34" charset="-120"/>
              </a:rPr>
              <a:t>Dana Desa / ADD</a:t>
            </a:r>
            <a:endParaRPr lang="en-US" sz="1300" dirty="0"/>
          </a:p>
        </p:txBody>
      </p:sp>
      <p:sp>
        <p:nvSpPr>
          <p:cNvPr id="37" name="Text 29"/>
          <p:cNvSpPr/>
          <p:nvPr/>
        </p:nvSpPr>
        <p:spPr>
          <a:xfrm>
            <a:off x="7223760" y="3108960"/>
            <a:ext cx="4114800" cy="42062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Pembangunan sarana sanitasi, air bersih, dan ruang bermain ramah anak.</a:t>
            </a:r>
            <a:endParaRPr lang="en-US" sz="1100" dirty="0"/>
          </a:p>
        </p:txBody>
      </p:sp>
      <p:sp>
        <p:nvSpPr>
          <p:cNvPr id="38" name="Shape 30"/>
          <p:cNvSpPr/>
          <p:nvPr/>
        </p:nvSpPr>
        <p:spPr>
          <a:xfrm>
            <a:off x="6345936" y="3675888"/>
            <a:ext cx="5278831" cy="859536"/>
          </a:xfrm>
          <a:prstGeom prst="roundRect">
            <a:avLst>
              <a:gd name="adj" fmla="val 1489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9" name="Shape 31"/>
          <p:cNvSpPr/>
          <p:nvPr/>
        </p:nvSpPr>
        <p:spPr>
          <a:xfrm>
            <a:off x="6565392" y="3840480"/>
            <a:ext cx="530352" cy="530352"/>
          </a:xfrm>
          <a:prstGeom prst="ellipse">
            <a:avLst>
              <a:gd name="adj" fmla="val 20690"/>
            </a:avLst>
          </a:prstGeom>
          <a:solidFill>
            <a:srgbClr val="2FA36B"/>
          </a:solidFill>
          <a:ln w="12700">
            <a:solidFill>
              <a:srgbClr val="333333"/>
            </a:solidFill>
            <a:prstDash val="solid"/>
          </a:ln>
        </p:spPr>
      </p:sp>
      <p:pic>
        <p:nvPicPr>
          <p:cNvPr id="40" name="Image 6" descr="preencoded.png">    </p:cNvPr>
          <p:cNvPicPr>
            <a:picLocks noChangeAspect="1"/>
          </p:cNvPicPr>
          <p:nvPr/>
        </p:nvPicPr>
        <p:blipFill>
          <a:blip r:embed="rId7"/>
          <a:stretch>
            <a:fillRect/>
          </a:stretch>
        </p:blipFill>
        <p:spPr>
          <a:xfrm>
            <a:off x="6692676" y="3967764"/>
            <a:ext cx="275783" cy="275783"/>
          </a:xfrm>
          <a:prstGeom prst="rect">
            <a:avLst/>
          </a:prstGeom>
        </p:spPr>
      </p:pic>
      <p:sp>
        <p:nvSpPr>
          <p:cNvPr id="41" name="Text 32"/>
          <p:cNvSpPr/>
          <p:nvPr/>
        </p:nvSpPr>
        <p:spPr>
          <a:xfrm>
            <a:off x="7223760" y="3767328"/>
            <a:ext cx="4114800" cy="292608"/>
          </a:xfrm>
          <a:prstGeom prst="rect">
            <a:avLst/>
          </a:prstGeom>
          <a:noFill/>
          <a:ln/>
        </p:spPr>
        <p:txBody>
          <a:bodyPr wrap="square" lIns="0" tIns="0" rIns="0" bIns="0" rtlCol="0" anchor="ctr"/>
          <a:lstStyle/>
          <a:p>
            <a:pPr indent="0" marL="0">
              <a:buNone/>
            </a:pPr>
            <a:r>
              <a:rPr lang="en-US" sz="1300" b="1" dirty="0">
                <a:solidFill>
                  <a:srgbClr val="173753"/>
                </a:solidFill>
                <a:latin typeface="Calibri" pitchFamily="34" charset="0"/>
                <a:ea typeface="Calibri" pitchFamily="34" charset="-122"/>
                <a:cs typeface="Calibri" pitchFamily="34" charset="-120"/>
              </a:rPr>
              <a:t>CSR &amp; Mitra Pembangunan</a:t>
            </a:r>
            <a:endParaRPr lang="en-US" sz="1300" dirty="0"/>
          </a:p>
        </p:txBody>
      </p:sp>
      <p:sp>
        <p:nvSpPr>
          <p:cNvPr id="42" name="Text 33"/>
          <p:cNvSpPr/>
          <p:nvPr/>
        </p:nvSpPr>
        <p:spPr>
          <a:xfrm>
            <a:off x="7223760" y="4059936"/>
            <a:ext cx="4114800" cy="42062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Buku, alat main edukatif, wastafel, dan pelatihan bagi pendidik.</a:t>
            </a:r>
            <a:endParaRPr lang="en-US" sz="1100" dirty="0"/>
          </a:p>
        </p:txBody>
      </p:sp>
      <p:sp>
        <p:nvSpPr>
          <p:cNvPr id="43" name="Shape 34"/>
          <p:cNvSpPr/>
          <p:nvPr/>
        </p:nvSpPr>
        <p:spPr>
          <a:xfrm>
            <a:off x="6345936" y="4626864"/>
            <a:ext cx="5278831" cy="859536"/>
          </a:xfrm>
          <a:prstGeom prst="roundRect">
            <a:avLst>
              <a:gd name="adj" fmla="val 1489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44" name="Shape 35"/>
          <p:cNvSpPr/>
          <p:nvPr/>
        </p:nvSpPr>
        <p:spPr>
          <a:xfrm>
            <a:off x="6565392" y="4791456"/>
            <a:ext cx="530352" cy="530352"/>
          </a:xfrm>
          <a:prstGeom prst="ellipse">
            <a:avLst>
              <a:gd name="adj" fmla="val 20690"/>
            </a:avLst>
          </a:prstGeom>
          <a:solidFill>
            <a:srgbClr val="2FA36B"/>
          </a:solidFill>
          <a:ln w="12700">
            <a:solidFill>
              <a:srgbClr val="333333"/>
            </a:solidFill>
            <a:prstDash val="solid"/>
          </a:ln>
        </p:spPr>
      </p:sp>
      <p:pic>
        <p:nvPicPr>
          <p:cNvPr id="45" name="Image 7" descr="preencoded.png">    </p:cNvPr>
          <p:cNvPicPr>
            <a:picLocks noChangeAspect="1"/>
          </p:cNvPicPr>
          <p:nvPr/>
        </p:nvPicPr>
        <p:blipFill>
          <a:blip r:embed="rId8"/>
          <a:stretch>
            <a:fillRect/>
          </a:stretch>
        </p:blipFill>
        <p:spPr>
          <a:xfrm>
            <a:off x="6692676" y="4918740"/>
            <a:ext cx="275783" cy="275783"/>
          </a:xfrm>
          <a:prstGeom prst="rect">
            <a:avLst/>
          </a:prstGeom>
        </p:spPr>
      </p:pic>
      <p:sp>
        <p:nvSpPr>
          <p:cNvPr id="46" name="Text 36"/>
          <p:cNvSpPr/>
          <p:nvPr/>
        </p:nvSpPr>
        <p:spPr>
          <a:xfrm>
            <a:off x="7223760" y="4718304"/>
            <a:ext cx="4114800" cy="292608"/>
          </a:xfrm>
          <a:prstGeom prst="rect">
            <a:avLst/>
          </a:prstGeom>
          <a:noFill/>
          <a:ln/>
        </p:spPr>
        <p:txBody>
          <a:bodyPr wrap="square" lIns="0" tIns="0" rIns="0" bIns="0" rtlCol="0" anchor="ctr"/>
          <a:lstStyle/>
          <a:p>
            <a:pPr indent="0" marL="0">
              <a:buNone/>
            </a:pPr>
            <a:r>
              <a:rPr lang="en-US" sz="1300" b="1" dirty="0">
                <a:solidFill>
                  <a:srgbClr val="173753"/>
                </a:solidFill>
                <a:latin typeface="Calibri" pitchFamily="34" charset="0"/>
                <a:ea typeface="Calibri" pitchFamily="34" charset="-122"/>
                <a:cs typeface="Calibri" pitchFamily="34" charset="-120"/>
              </a:rPr>
              <a:t>Swadaya &amp; Gotong Royong</a:t>
            </a:r>
            <a:endParaRPr lang="en-US" sz="1300" dirty="0"/>
          </a:p>
        </p:txBody>
      </p:sp>
      <p:sp>
        <p:nvSpPr>
          <p:cNvPr id="47" name="Text 37"/>
          <p:cNvSpPr/>
          <p:nvPr/>
        </p:nvSpPr>
        <p:spPr>
          <a:xfrm>
            <a:off x="7223760" y="5010912"/>
            <a:ext cx="4114800" cy="420624"/>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Tenaga, bahan lokal, dan kebun gizi yang dikelola bersama orang tua.</a:t>
            </a:r>
            <a:endParaRPr lang="en-US" sz="1100" dirty="0"/>
          </a:p>
        </p:txBody>
      </p:sp>
      <p:sp>
        <p:nvSpPr>
          <p:cNvPr id="48" name="Shape 38"/>
          <p:cNvSpPr/>
          <p:nvPr/>
        </p:nvSpPr>
        <p:spPr>
          <a:xfrm>
            <a:off x="566928" y="5541264"/>
            <a:ext cx="11057839" cy="749808"/>
          </a:xfrm>
          <a:prstGeom prst="roundRect">
            <a:avLst>
              <a:gd name="adj" fmla="val 17073"/>
            </a:avLst>
          </a:prstGeom>
          <a:solidFill>
            <a:srgbClr val="DCEDFB"/>
          </a:solidFill>
          <a:ln w="12700">
            <a:solidFill>
              <a:srgbClr val="B9DBF6"/>
            </a:solidFill>
            <a:prstDash val="solid"/>
          </a:ln>
          <a:effectLst>
            <a:outerShdw sx="100000" sy="100000" kx="0" ky="0" algn="bl" rotWithShape="0" blurRad="177800" dist="38100" dir="5400000">
              <a:srgbClr val="0F3352">
                <a:alpha val="10000"/>
              </a:srgbClr>
            </a:outerShdw>
          </a:effectLst>
        </p:spPr>
      </p:sp>
      <p:pic>
        <p:nvPicPr>
          <p:cNvPr id="49" name="Image 8" descr="preencoded.png">    </p:cNvPr>
          <p:cNvPicPr>
            <a:picLocks noChangeAspect="1"/>
          </p:cNvPicPr>
          <p:nvPr/>
        </p:nvPicPr>
        <p:blipFill>
          <a:blip r:embed="rId9"/>
          <a:stretch>
            <a:fillRect/>
          </a:stretch>
        </p:blipFill>
        <p:spPr>
          <a:xfrm>
            <a:off x="694944" y="5614416"/>
            <a:ext cx="1173054" cy="603504"/>
          </a:xfrm>
          <a:prstGeom prst="rect">
            <a:avLst/>
          </a:prstGeom>
        </p:spPr>
      </p:pic>
      <p:sp>
        <p:nvSpPr>
          <p:cNvPr id="50" name="Text 39"/>
          <p:cNvSpPr/>
          <p:nvPr/>
        </p:nvSpPr>
        <p:spPr>
          <a:xfrm>
            <a:off x="1920240" y="5596128"/>
            <a:ext cx="9509760" cy="640080"/>
          </a:xfrm>
          <a:prstGeom prst="rect">
            <a:avLst/>
          </a:prstGeom>
          <a:noFill/>
          <a:ln/>
        </p:spPr>
        <p:txBody>
          <a:bodyPr wrap="square" lIns="0" tIns="0" rIns="0" bIns="0" rtlCol="0" anchor="ctr"/>
          <a:lstStyle/>
          <a:p>
            <a:pPr indent="0" marL="0">
              <a:buNone/>
            </a:pPr>
            <a:r>
              <a:rPr lang="en-US" sz="1150" dirty="0">
                <a:solidFill>
                  <a:srgbClr val="173753"/>
                </a:solidFill>
                <a:latin typeface="Calibri" pitchFamily="34" charset="0"/>
                <a:ea typeface="Calibri" pitchFamily="34" charset="-122"/>
                <a:cs typeface="Calibri" pitchFamily="34" charset="-120"/>
              </a:rPr>
              <a:t>Rujukan praktis: seri Panduan Penyelenggaraan PAUD Berkualitas terbitan Direktorat PAUD. Mulailah dari sumber daya yang tersedia — banyak perbaikan layanan tidak memerlukan anggaran baru, melainkan koordinasi yang lebih baik.</a:t>
            </a:r>
            <a:endParaRPr lang="en-US" sz="1150" dirty="0"/>
          </a:p>
        </p:txBody>
      </p:sp>
      <p:sp>
        <p:nvSpPr>
          <p:cNvPr id="51" name="Text 40"/>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52" name="Text 41"/>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7A66B8"/>
        </a:solidFill>
      </p:bgPr>
    </p:bg>
    <p:spTree>
      <p:nvGrpSpPr>
        <p:cNvPr id="1" name=""/>
        <p:cNvGrpSpPr/>
        <p:nvPr/>
      </p:nvGrpSpPr>
      <p:grpSpPr>
        <a:xfrm>
          <a:off x="0" y="0"/>
          <a:ext cx="0" cy="0"/>
          <a:chOff x="0" y="0"/>
          <a:chExt cx="0" cy="0"/>
        </a:xfrm>
      </p:grpSpPr>
      <p:sp>
        <p:nvSpPr>
          <p:cNvPr id="2" name="Shape 0"/>
          <p:cNvSpPr/>
          <p:nvPr/>
        </p:nvSpPr>
        <p:spPr>
          <a:xfrm>
            <a:off x="-1097280" y="-1280160"/>
            <a:ext cx="3840480" cy="3840480"/>
          </a:xfrm>
          <a:prstGeom prst="ellipse">
            <a:avLst/>
          </a:prstGeom>
          <a:solidFill>
            <a:srgbClr val="FFFFFF">
              <a:alpha val="12000"/>
            </a:srgbClr>
          </a:solidFill>
          <a:ln/>
        </p:spPr>
      </p:sp>
      <p:sp>
        <p:nvSpPr>
          <p:cNvPr id="3" name="Shape 1"/>
          <p:cNvSpPr/>
          <p:nvPr/>
        </p:nvSpPr>
        <p:spPr>
          <a:xfrm>
            <a:off x="3857205" y="3447288"/>
            <a:ext cx="4477285" cy="3054096"/>
          </a:xfrm>
          <a:prstGeom prst="roundRect">
            <a:avLst>
              <a:gd name="adj" fmla="val 4192"/>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4" name="Image 0" descr="preencoded.png">    </p:cNvPr>
          <p:cNvPicPr>
            <a:picLocks noChangeAspect="1"/>
          </p:cNvPicPr>
          <p:nvPr/>
        </p:nvPicPr>
        <p:blipFill>
          <a:blip r:embed="rId1"/>
          <a:stretch>
            <a:fillRect/>
          </a:stretch>
        </p:blipFill>
        <p:spPr>
          <a:xfrm>
            <a:off x="3939501" y="3529584"/>
            <a:ext cx="4312693" cy="2889504"/>
          </a:xfrm>
          <a:prstGeom prst="rect">
            <a:avLst/>
          </a:prstGeom>
        </p:spPr>
      </p:pic>
      <p:sp>
        <p:nvSpPr>
          <p:cNvPr id="5" name="Text 2"/>
          <p:cNvSpPr/>
          <p:nvPr/>
        </p:nvSpPr>
        <p:spPr>
          <a:xfrm>
            <a:off x="585216" y="475488"/>
            <a:ext cx="2377440" cy="1051560"/>
          </a:xfrm>
          <a:prstGeom prst="rect">
            <a:avLst/>
          </a:prstGeom>
          <a:noFill/>
          <a:ln/>
        </p:spPr>
        <p:txBody>
          <a:bodyPr wrap="square" lIns="0" tIns="0" rIns="0" bIns="0" rtlCol="0" anchor="ctr"/>
          <a:lstStyle/>
          <a:p>
            <a:pPr indent="0" marL="0">
              <a:buNone/>
            </a:pPr>
            <a:r>
              <a:rPr lang="en-US" sz="7200" b="1" dirty="0">
                <a:solidFill>
                  <a:srgbClr val="FFFFFF">
                    <a:alpha val="66000"/>
                  </a:srgbClr>
                </a:solidFill>
                <a:latin typeface="Calibri" pitchFamily="34" charset="0"/>
                <a:ea typeface="Calibri" pitchFamily="34" charset="-122"/>
                <a:cs typeface="Calibri" pitchFamily="34" charset="-120"/>
              </a:rPr>
              <a:t>04</a:t>
            </a:r>
            <a:endParaRPr lang="en-US" sz="7200" dirty="0"/>
          </a:p>
        </p:txBody>
      </p:sp>
      <p:sp>
        <p:nvSpPr>
          <p:cNvPr id="6" name="Text 3"/>
          <p:cNvSpPr/>
          <p:nvPr/>
        </p:nvSpPr>
        <p:spPr>
          <a:xfrm>
            <a:off x="566928" y="1572768"/>
            <a:ext cx="9966960" cy="105156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Praktik Baik dan Aksi Nyata</a:t>
            </a:r>
            <a:endParaRPr lang="en-US" sz="3600" dirty="0"/>
          </a:p>
        </p:txBody>
      </p:sp>
      <p:sp>
        <p:nvSpPr>
          <p:cNvPr id="7" name="Text 4"/>
          <p:cNvSpPr/>
          <p:nvPr/>
        </p:nvSpPr>
        <p:spPr>
          <a:xfrm>
            <a:off x="566928" y="2706624"/>
            <a:ext cx="8778240" cy="731520"/>
          </a:xfrm>
          <a:prstGeom prst="rect">
            <a:avLst/>
          </a:prstGeom>
          <a:noFill/>
          <a:ln/>
        </p:spPr>
        <p:txBody>
          <a:bodyPr wrap="square" lIns="0" tIns="0" rIns="0" bIns="0" rtlCol="0" anchor="t"/>
          <a:lstStyle/>
          <a:p>
            <a:pPr indent="0" marL="0">
              <a:buNone/>
            </a:pPr>
            <a:r>
              <a:rPr lang="en-US" sz="1500" dirty="0">
                <a:solidFill>
                  <a:srgbClr val="FFFFFF">
                    <a:alpha val="88000"/>
                  </a:srgbClr>
                </a:solidFill>
                <a:latin typeface="Calibri" pitchFamily="34" charset="0"/>
                <a:ea typeface="Calibri" pitchFamily="34" charset="-122"/>
                <a:cs typeface="Calibri" pitchFamily="34" charset="-120"/>
              </a:rPr>
              <a:t>Pembelajaran dari satuan PAUD, strategi peningkatan mutu, rencana 30–60–90 hari, serta monitoring dan evaluasi.</a:t>
            </a:r>
            <a:endParaRPr lang="en-US" sz="1500" dirty="0"/>
          </a:p>
        </p:txBody>
      </p:sp>
      <p:sp>
        <p:nvSpPr>
          <p:cNvPr id="8" name="Text 5"/>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9" name="Text 6"/>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F0EBFA">
              <a:alpha val="55000"/>
            </a:srgbClr>
          </a:solidFill>
          <a:ln/>
        </p:spPr>
      </p:sp>
      <p:sp>
        <p:nvSpPr>
          <p:cNvPr id="3" name="Shape 1"/>
          <p:cNvSpPr/>
          <p:nvPr/>
        </p:nvSpPr>
        <p:spPr>
          <a:xfrm>
            <a:off x="10820095" y="5303520"/>
            <a:ext cx="2926080" cy="2926080"/>
          </a:xfrm>
          <a:prstGeom prst="ellipse">
            <a:avLst/>
          </a:prstGeom>
          <a:solidFill>
            <a:srgbClr val="F0EBFA">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7A66B8"/>
                </a:solidFill>
                <a:latin typeface="Calibri" pitchFamily="34" charset="0"/>
                <a:ea typeface="Calibri" pitchFamily="34" charset="-122"/>
                <a:cs typeface="Calibri" pitchFamily="34" charset="-120"/>
              </a:rPr>
              <a:t>BELAJAR DARI LAPANGAN</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Empat Pola Praktik Baik yang Bisa Ditiru</a:t>
            </a:r>
            <a:endParaRPr lang="en-US" sz="3200" dirty="0"/>
          </a:p>
        </p:txBody>
      </p:sp>
      <p:sp>
        <p:nvSpPr>
          <p:cNvPr id="6" name="Shape 4"/>
          <p:cNvSpPr/>
          <p:nvPr/>
        </p:nvSpPr>
        <p:spPr>
          <a:xfrm>
            <a:off x="566928" y="1481328"/>
            <a:ext cx="2596896" cy="3310128"/>
          </a:xfrm>
          <a:prstGeom prst="roundRect">
            <a:avLst>
              <a:gd name="adj" fmla="val 493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pic>
        <p:nvPicPr>
          <p:cNvPr id="7" name="Image 0" descr="preencoded.png">    </p:cNvPr>
          <p:cNvPicPr>
            <a:picLocks noChangeAspect="1"/>
          </p:cNvPicPr>
          <p:nvPr/>
        </p:nvPicPr>
        <p:blipFill>
          <a:blip r:embed="rId1"/>
          <a:stretch>
            <a:fillRect/>
          </a:stretch>
        </p:blipFill>
        <p:spPr>
          <a:xfrm>
            <a:off x="1249680" y="1609344"/>
            <a:ext cx="1231392" cy="1280160"/>
          </a:xfrm>
          <a:prstGeom prst="rect">
            <a:avLst/>
          </a:prstGeom>
        </p:spPr>
      </p:pic>
      <p:sp>
        <p:nvSpPr>
          <p:cNvPr id="8" name="Shape 5"/>
          <p:cNvSpPr/>
          <p:nvPr/>
        </p:nvSpPr>
        <p:spPr>
          <a:xfrm>
            <a:off x="704088" y="2962656"/>
            <a:ext cx="566928" cy="256032"/>
          </a:xfrm>
          <a:prstGeom prst="roundRect">
            <a:avLst>
              <a:gd name="adj" fmla="val 50000"/>
            </a:avLst>
          </a:prstGeom>
          <a:solidFill>
            <a:srgbClr val="1F9C9C"/>
          </a:solidFill>
          <a:ln/>
        </p:spPr>
      </p:sp>
      <p:sp>
        <p:nvSpPr>
          <p:cNvPr id="9" name="Text 6"/>
          <p:cNvSpPr/>
          <p:nvPr/>
        </p:nvSpPr>
        <p:spPr>
          <a:xfrm>
            <a:off x="704088" y="2962656"/>
            <a:ext cx="566928"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a:t>
            </a:r>
            <a:endParaRPr lang="en-US" sz="1100" dirty="0"/>
          </a:p>
        </p:txBody>
      </p:sp>
      <p:sp>
        <p:nvSpPr>
          <p:cNvPr id="10" name="Text 7"/>
          <p:cNvSpPr/>
          <p:nvPr/>
        </p:nvSpPr>
        <p:spPr>
          <a:xfrm>
            <a:off x="749808" y="3273552"/>
            <a:ext cx="2231136" cy="512064"/>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Posyandu Masuk Satuan PAUD</a:t>
            </a:r>
            <a:endParaRPr lang="en-US" sz="1300" dirty="0"/>
          </a:p>
        </p:txBody>
      </p:sp>
      <p:sp>
        <p:nvSpPr>
          <p:cNvPr id="11" name="Text 8"/>
          <p:cNvSpPr/>
          <p:nvPr/>
        </p:nvSpPr>
        <p:spPr>
          <a:xfrm>
            <a:off x="749808" y="3803904"/>
            <a:ext cx="2231136" cy="932688"/>
          </a:xfrm>
          <a:prstGeom prst="rect">
            <a:avLst/>
          </a:prstGeom>
          <a:noFill/>
          <a:ln/>
        </p:spPr>
        <p:txBody>
          <a:bodyPr wrap="square" lIns="0" tIns="0" rIns="0" bIns="0" rtlCol="0" anchor="t"/>
          <a:lstStyle/>
          <a:p>
            <a:pPr indent="0" marL="0">
              <a:buNone/>
            </a:pPr>
            <a:r>
              <a:rPr lang="en-US" sz="1050" dirty="0">
                <a:solidFill>
                  <a:srgbClr val="3E5C77"/>
                </a:solidFill>
                <a:latin typeface="Calibri" pitchFamily="34" charset="0"/>
                <a:ea typeface="Calibri" pitchFamily="34" charset="-122"/>
                <a:cs typeface="Calibri" pitchFamily="34" charset="-120"/>
              </a:rPr>
              <a:t>Jadwal bulanan bersama kader: penimbangan, pengukuran, dan pencatatan dilakukan di sekolah sehingga tidak ada anak yang terlewat.</a:t>
            </a:r>
            <a:endParaRPr lang="en-US" sz="1050" dirty="0"/>
          </a:p>
        </p:txBody>
      </p:sp>
      <p:sp>
        <p:nvSpPr>
          <p:cNvPr id="12" name="Shape 9"/>
          <p:cNvSpPr/>
          <p:nvPr/>
        </p:nvSpPr>
        <p:spPr>
          <a:xfrm>
            <a:off x="3383280" y="1481328"/>
            <a:ext cx="2596896" cy="3310128"/>
          </a:xfrm>
          <a:prstGeom prst="roundRect">
            <a:avLst>
              <a:gd name="adj" fmla="val 493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pic>
        <p:nvPicPr>
          <p:cNvPr id="13" name="Image 1" descr="preencoded.png">    </p:cNvPr>
          <p:cNvPicPr>
            <a:picLocks noChangeAspect="1"/>
          </p:cNvPicPr>
          <p:nvPr/>
        </p:nvPicPr>
        <p:blipFill>
          <a:blip r:embed="rId2"/>
          <a:stretch>
            <a:fillRect/>
          </a:stretch>
        </p:blipFill>
        <p:spPr>
          <a:xfrm>
            <a:off x="3520440" y="1798345"/>
            <a:ext cx="2322576" cy="902158"/>
          </a:xfrm>
          <a:prstGeom prst="rect">
            <a:avLst/>
          </a:prstGeom>
        </p:spPr>
      </p:pic>
      <p:sp>
        <p:nvSpPr>
          <p:cNvPr id="14" name="Shape 10"/>
          <p:cNvSpPr/>
          <p:nvPr/>
        </p:nvSpPr>
        <p:spPr>
          <a:xfrm>
            <a:off x="3520440" y="2962656"/>
            <a:ext cx="566928" cy="256032"/>
          </a:xfrm>
          <a:prstGeom prst="roundRect">
            <a:avLst>
              <a:gd name="adj" fmla="val 50000"/>
            </a:avLst>
          </a:prstGeom>
          <a:solidFill>
            <a:srgbClr val="7A66B8"/>
          </a:solidFill>
          <a:ln/>
        </p:spPr>
      </p:sp>
      <p:sp>
        <p:nvSpPr>
          <p:cNvPr id="15" name="Text 11"/>
          <p:cNvSpPr/>
          <p:nvPr/>
        </p:nvSpPr>
        <p:spPr>
          <a:xfrm>
            <a:off x="3520440" y="2962656"/>
            <a:ext cx="566928"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a:t>
            </a:r>
            <a:endParaRPr lang="en-US" sz="1100" dirty="0"/>
          </a:p>
        </p:txBody>
      </p:sp>
      <p:sp>
        <p:nvSpPr>
          <p:cNvPr id="16" name="Text 12"/>
          <p:cNvSpPr/>
          <p:nvPr/>
        </p:nvSpPr>
        <p:spPr>
          <a:xfrm>
            <a:off x="3566160" y="3273552"/>
            <a:ext cx="2231136" cy="512064"/>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Kelas Orang Tua Rutin</a:t>
            </a:r>
            <a:endParaRPr lang="en-US" sz="1300" dirty="0"/>
          </a:p>
        </p:txBody>
      </p:sp>
      <p:sp>
        <p:nvSpPr>
          <p:cNvPr id="17" name="Text 13"/>
          <p:cNvSpPr/>
          <p:nvPr/>
        </p:nvSpPr>
        <p:spPr>
          <a:xfrm>
            <a:off x="3566160" y="3803904"/>
            <a:ext cx="2231136" cy="932688"/>
          </a:xfrm>
          <a:prstGeom prst="rect">
            <a:avLst/>
          </a:prstGeom>
          <a:noFill/>
          <a:ln/>
        </p:spPr>
        <p:txBody>
          <a:bodyPr wrap="square" lIns="0" tIns="0" rIns="0" bIns="0" rtlCol="0" anchor="t"/>
          <a:lstStyle/>
          <a:p>
            <a:pPr indent="0" marL="0">
              <a:buNone/>
            </a:pPr>
            <a:r>
              <a:rPr lang="en-US" sz="1050" dirty="0">
                <a:solidFill>
                  <a:srgbClr val="3E5C77"/>
                </a:solidFill>
                <a:latin typeface="Calibri" pitchFamily="34" charset="0"/>
                <a:ea typeface="Calibri" pitchFamily="34" charset="-122"/>
                <a:cs typeface="Calibri" pitchFamily="34" charset="-120"/>
              </a:rPr>
              <a:t>Parenting bulanan bersama bidan atau petugas puskesmas membuat stimulasi di rumah berjalan sejalan dengan di sekolah.</a:t>
            </a:r>
            <a:endParaRPr lang="en-US" sz="1050" dirty="0"/>
          </a:p>
        </p:txBody>
      </p:sp>
      <p:sp>
        <p:nvSpPr>
          <p:cNvPr id="18" name="Shape 14"/>
          <p:cNvSpPr/>
          <p:nvPr/>
        </p:nvSpPr>
        <p:spPr>
          <a:xfrm>
            <a:off x="6199632" y="1481328"/>
            <a:ext cx="2596896" cy="3310128"/>
          </a:xfrm>
          <a:prstGeom prst="roundRect">
            <a:avLst>
              <a:gd name="adj" fmla="val 493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pic>
        <p:nvPicPr>
          <p:cNvPr id="19" name="Image 2" descr="preencoded.png">    </p:cNvPr>
          <p:cNvPicPr>
            <a:picLocks noChangeAspect="1"/>
          </p:cNvPicPr>
          <p:nvPr/>
        </p:nvPicPr>
        <p:blipFill>
          <a:blip r:embed="rId3"/>
          <a:stretch>
            <a:fillRect/>
          </a:stretch>
        </p:blipFill>
        <p:spPr>
          <a:xfrm>
            <a:off x="6954012" y="1609344"/>
            <a:ext cx="1088136" cy="1280160"/>
          </a:xfrm>
          <a:prstGeom prst="rect">
            <a:avLst/>
          </a:prstGeom>
        </p:spPr>
      </p:pic>
      <p:sp>
        <p:nvSpPr>
          <p:cNvPr id="20" name="Shape 15"/>
          <p:cNvSpPr/>
          <p:nvPr/>
        </p:nvSpPr>
        <p:spPr>
          <a:xfrm>
            <a:off x="6336792" y="2962656"/>
            <a:ext cx="566928" cy="256032"/>
          </a:xfrm>
          <a:prstGeom prst="roundRect">
            <a:avLst>
              <a:gd name="adj" fmla="val 50000"/>
            </a:avLst>
          </a:prstGeom>
          <a:solidFill>
            <a:srgbClr val="1E76C8"/>
          </a:solidFill>
          <a:ln/>
        </p:spPr>
      </p:sp>
      <p:sp>
        <p:nvSpPr>
          <p:cNvPr id="21" name="Text 16"/>
          <p:cNvSpPr/>
          <p:nvPr/>
        </p:nvSpPr>
        <p:spPr>
          <a:xfrm>
            <a:off x="6336792" y="2962656"/>
            <a:ext cx="566928"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a:t>
            </a:r>
            <a:endParaRPr lang="en-US" sz="1100" dirty="0"/>
          </a:p>
        </p:txBody>
      </p:sp>
      <p:sp>
        <p:nvSpPr>
          <p:cNvPr id="22" name="Text 17"/>
          <p:cNvSpPr/>
          <p:nvPr/>
        </p:nvSpPr>
        <p:spPr>
          <a:xfrm>
            <a:off x="6382512" y="3273552"/>
            <a:ext cx="2231136" cy="512064"/>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Gotong Royong Sanitasi</a:t>
            </a:r>
            <a:endParaRPr lang="en-US" sz="1300" dirty="0"/>
          </a:p>
        </p:txBody>
      </p:sp>
      <p:sp>
        <p:nvSpPr>
          <p:cNvPr id="23" name="Text 18"/>
          <p:cNvSpPr/>
          <p:nvPr/>
        </p:nvSpPr>
        <p:spPr>
          <a:xfrm>
            <a:off x="6382512" y="3803904"/>
            <a:ext cx="2231136" cy="932688"/>
          </a:xfrm>
          <a:prstGeom prst="rect">
            <a:avLst/>
          </a:prstGeom>
          <a:noFill/>
          <a:ln/>
        </p:spPr>
        <p:txBody>
          <a:bodyPr wrap="square" lIns="0" tIns="0" rIns="0" bIns="0" rtlCol="0" anchor="t"/>
          <a:lstStyle/>
          <a:p>
            <a:pPr indent="0" marL="0">
              <a:buNone/>
            </a:pPr>
            <a:r>
              <a:rPr lang="en-US" sz="1050" dirty="0">
                <a:solidFill>
                  <a:srgbClr val="3E5C77"/>
                </a:solidFill>
                <a:latin typeface="Calibri" pitchFamily="34" charset="0"/>
                <a:ea typeface="Calibri" pitchFamily="34" charset="-122"/>
                <a:cs typeface="Calibri" pitchFamily="34" charset="-120"/>
              </a:rPr>
              <a:t>Dana desa dipadukan dengan swadaya wali murid untuk membangun wastafel dan sumber air bersih sederhana.</a:t>
            </a:r>
            <a:endParaRPr lang="en-US" sz="1050" dirty="0"/>
          </a:p>
        </p:txBody>
      </p:sp>
      <p:sp>
        <p:nvSpPr>
          <p:cNvPr id="24" name="Shape 19"/>
          <p:cNvSpPr/>
          <p:nvPr/>
        </p:nvSpPr>
        <p:spPr>
          <a:xfrm>
            <a:off x="9015984" y="1481328"/>
            <a:ext cx="2596896" cy="3310128"/>
          </a:xfrm>
          <a:prstGeom prst="roundRect">
            <a:avLst>
              <a:gd name="adj" fmla="val 493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pic>
        <p:nvPicPr>
          <p:cNvPr id="25" name="Image 3" descr="preencoded.png">    </p:cNvPr>
          <p:cNvPicPr>
            <a:picLocks noChangeAspect="1"/>
          </p:cNvPicPr>
          <p:nvPr/>
        </p:nvPicPr>
        <p:blipFill>
          <a:blip r:embed="rId4"/>
          <a:stretch>
            <a:fillRect/>
          </a:stretch>
        </p:blipFill>
        <p:spPr>
          <a:xfrm>
            <a:off x="9176512" y="1609344"/>
            <a:ext cx="2275840" cy="1280160"/>
          </a:xfrm>
          <a:prstGeom prst="rect">
            <a:avLst/>
          </a:prstGeom>
        </p:spPr>
      </p:pic>
      <p:sp>
        <p:nvSpPr>
          <p:cNvPr id="26" name="Shape 20"/>
          <p:cNvSpPr/>
          <p:nvPr/>
        </p:nvSpPr>
        <p:spPr>
          <a:xfrm>
            <a:off x="9153144" y="2962656"/>
            <a:ext cx="566928" cy="256032"/>
          </a:xfrm>
          <a:prstGeom prst="roundRect">
            <a:avLst>
              <a:gd name="adj" fmla="val 50000"/>
            </a:avLst>
          </a:prstGeom>
          <a:solidFill>
            <a:srgbClr val="2FA36B"/>
          </a:solidFill>
          <a:ln/>
        </p:spPr>
      </p:sp>
      <p:sp>
        <p:nvSpPr>
          <p:cNvPr id="27" name="Text 21"/>
          <p:cNvSpPr/>
          <p:nvPr/>
        </p:nvSpPr>
        <p:spPr>
          <a:xfrm>
            <a:off x="9153144" y="2962656"/>
            <a:ext cx="566928"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a:t>
            </a:r>
            <a:endParaRPr lang="en-US" sz="1100" dirty="0"/>
          </a:p>
        </p:txBody>
      </p:sp>
      <p:sp>
        <p:nvSpPr>
          <p:cNvPr id="28" name="Text 22"/>
          <p:cNvSpPr/>
          <p:nvPr/>
        </p:nvSpPr>
        <p:spPr>
          <a:xfrm>
            <a:off x="9198864" y="3273552"/>
            <a:ext cx="2231136" cy="512064"/>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Makan Bergizi Bersama</a:t>
            </a:r>
            <a:endParaRPr lang="en-US" sz="1300" dirty="0"/>
          </a:p>
        </p:txBody>
      </p:sp>
      <p:sp>
        <p:nvSpPr>
          <p:cNvPr id="29" name="Text 23"/>
          <p:cNvSpPr/>
          <p:nvPr/>
        </p:nvSpPr>
        <p:spPr>
          <a:xfrm>
            <a:off x="9198864" y="3803904"/>
            <a:ext cx="2231136" cy="932688"/>
          </a:xfrm>
          <a:prstGeom prst="rect">
            <a:avLst/>
          </a:prstGeom>
          <a:noFill/>
          <a:ln/>
        </p:spPr>
        <p:txBody>
          <a:bodyPr wrap="square" lIns="0" tIns="0" rIns="0" bIns="0" rtlCol="0" anchor="t"/>
          <a:lstStyle/>
          <a:p>
            <a:pPr indent="0" marL="0">
              <a:buNone/>
            </a:pPr>
            <a:r>
              <a:rPr lang="en-US" sz="1050" dirty="0">
                <a:solidFill>
                  <a:srgbClr val="3E5C77"/>
                </a:solidFill>
                <a:latin typeface="Calibri" pitchFamily="34" charset="0"/>
                <a:ea typeface="Calibri" pitchFamily="34" charset="-122"/>
                <a:cs typeface="Calibri" pitchFamily="34" charset="-120"/>
              </a:rPr>
              <a:t>Menu bahan lokal disiapkan bergilir oleh orang tua, dilengkapi kebun gizi sekolah dan pembiasaan PHBS.</a:t>
            </a:r>
            <a:endParaRPr lang="en-US" sz="1050" dirty="0"/>
          </a:p>
        </p:txBody>
      </p:sp>
      <p:sp>
        <p:nvSpPr>
          <p:cNvPr id="30" name="Shape 24"/>
          <p:cNvSpPr/>
          <p:nvPr/>
        </p:nvSpPr>
        <p:spPr>
          <a:xfrm>
            <a:off x="566928" y="4956048"/>
            <a:ext cx="11057839" cy="1115568"/>
          </a:xfrm>
          <a:prstGeom prst="roundRect">
            <a:avLst>
              <a:gd name="adj" fmla="val 11475"/>
            </a:avLst>
          </a:prstGeom>
          <a:solidFill>
            <a:srgbClr val="F0EBFA"/>
          </a:solidFill>
          <a:ln w="12700">
            <a:solidFill>
              <a:srgbClr val="DED4F2"/>
            </a:solidFill>
            <a:prstDash val="solid"/>
          </a:ln>
          <a:effectLst>
            <a:outerShdw sx="100000" sy="100000" kx="0" ky="0" algn="bl" rotWithShape="0" blurRad="177800" dist="38100" dir="5400000">
              <a:srgbClr val="0F3352">
                <a:alpha val="10000"/>
              </a:srgbClr>
            </a:outerShdw>
          </a:effectLst>
        </p:spPr>
      </p:sp>
      <p:sp>
        <p:nvSpPr>
          <p:cNvPr id="31" name="Text 25"/>
          <p:cNvSpPr/>
          <p:nvPr/>
        </p:nvSpPr>
        <p:spPr>
          <a:xfrm>
            <a:off x="877824" y="5065776"/>
            <a:ext cx="3657600" cy="256032"/>
          </a:xfrm>
          <a:prstGeom prst="rect">
            <a:avLst/>
          </a:prstGeom>
          <a:noFill/>
          <a:ln/>
        </p:spPr>
        <p:txBody>
          <a:bodyPr wrap="square" lIns="0" tIns="0" rIns="0" bIns="0" rtlCol="0" anchor="ctr"/>
          <a:lstStyle/>
          <a:p>
            <a:pPr indent="0" marL="0">
              <a:buNone/>
            </a:pPr>
            <a:r>
              <a:rPr lang="en-US" sz="1050" b="1" spc="140" kern="0" dirty="0">
                <a:solidFill>
                  <a:srgbClr val="7A66B8"/>
                </a:solidFill>
                <a:latin typeface="Calibri" pitchFamily="34" charset="0"/>
                <a:ea typeface="Calibri" pitchFamily="34" charset="-122"/>
                <a:cs typeface="Calibri" pitchFamily="34" charset="-120"/>
              </a:rPr>
              <a:t>FAKTOR KUNCI KEBERHASILAN</a:t>
            </a:r>
            <a:endParaRPr lang="en-US" sz="1050" dirty="0"/>
          </a:p>
        </p:txBody>
      </p:sp>
      <p:pic>
        <p:nvPicPr>
          <p:cNvPr id="32" name="Image 4" descr="preencoded.png">    </p:cNvPr>
          <p:cNvPicPr>
            <a:picLocks noChangeAspect="1"/>
          </p:cNvPicPr>
          <p:nvPr/>
        </p:nvPicPr>
        <p:blipFill>
          <a:blip r:embed="rId5"/>
          <a:stretch>
            <a:fillRect/>
          </a:stretch>
        </p:blipFill>
        <p:spPr>
          <a:xfrm>
            <a:off x="877824" y="5431536"/>
            <a:ext cx="237744" cy="237744"/>
          </a:xfrm>
          <a:prstGeom prst="rect">
            <a:avLst/>
          </a:prstGeom>
        </p:spPr>
      </p:pic>
      <p:sp>
        <p:nvSpPr>
          <p:cNvPr id="33" name="Text 26"/>
          <p:cNvSpPr/>
          <p:nvPr/>
        </p:nvSpPr>
        <p:spPr>
          <a:xfrm>
            <a:off x="1188720" y="5376672"/>
            <a:ext cx="2224964" cy="365760"/>
          </a:xfrm>
          <a:prstGeom prst="rect">
            <a:avLst/>
          </a:prstGeom>
          <a:noFill/>
          <a:ln/>
        </p:spPr>
        <p:txBody>
          <a:bodyPr wrap="square" lIns="0" tIns="0" rIns="0" bIns="0" rtlCol="0" anchor="ctr"/>
          <a:lstStyle/>
          <a:p>
            <a:pPr indent="0" marL="0">
              <a:buNone/>
            </a:pPr>
            <a:r>
              <a:rPr lang="en-US" sz="1100" dirty="0">
                <a:solidFill>
                  <a:srgbClr val="173753"/>
                </a:solidFill>
                <a:latin typeface="Calibri" pitchFamily="34" charset="0"/>
                <a:ea typeface="Calibri" pitchFamily="34" charset="-122"/>
                <a:cs typeface="Calibri" pitchFamily="34" charset="-120"/>
              </a:rPr>
              <a:t>Komitmen pimpinan satuan</a:t>
            </a:r>
            <a:endParaRPr lang="en-US" sz="1100" dirty="0"/>
          </a:p>
        </p:txBody>
      </p:sp>
      <p:pic>
        <p:nvPicPr>
          <p:cNvPr id="34" name="Image 5" descr="preencoded.png">    </p:cNvPr>
          <p:cNvPicPr>
            <a:picLocks noChangeAspect="1"/>
          </p:cNvPicPr>
          <p:nvPr/>
        </p:nvPicPr>
        <p:blipFill>
          <a:blip r:embed="rId6"/>
          <a:stretch>
            <a:fillRect/>
          </a:stretch>
        </p:blipFill>
        <p:spPr>
          <a:xfrm>
            <a:off x="3486836" y="5431536"/>
            <a:ext cx="237744" cy="237744"/>
          </a:xfrm>
          <a:prstGeom prst="rect">
            <a:avLst/>
          </a:prstGeom>
        </p:spPr>
      </p:pic>
      <p:sp>
        <p:nvSpPr>
          <p:cNvPr id="35" name="Text 27"/>
          <p:cNvSpPr/>
          <p:nvPr/>
        </p:nvSpPr>
        <p:spPr>
          <a:xfrm>
            <a:off x="3797732" y="5376672"/>
            <a:ext cx="2224964" cy="365760"/>
          </a:xfrm>
          <a:prstGeom prst="rect">
            <a:avLst/>
          </a:prstGeom>
          <a:noFill/>
          <a:ln/>
        </p:spPr>
        <p:txBody>
          <a:bodyPr wrap="square" lIns="0" tIns="0" rIns="0" bIns="0" rtlCol="0" anchor="ctr"/>
          <a:lstStyle/>
          <a:p>
            <a:pPr indent="0" marL="0">
              <a:buNone/>
            </a:pPr>
            <a:r>
              <a:rPr lang="en-US" sz="1100" dirty="0">
                <a:solidFill>
                  <a:srgbClr val="173753"/>
                </a:solidFill>
                <a:latin typeface="Calibri" pitchFamily="34" charset="0"/>
                <a:ea typeface="Calibri" pitchFamily="34" charset="-122"/>
                <a:cs typeface="Calibri" pitchFamily="34" charset="-120"/>
              </a:rPr>
              <a:t>Data sebagai dasar ajakan</a:t>
            </a:r>
            <a:endParaRPr lang="en-US" sz="1100" dirty="0"/>
          </a:p>
        </p:txBody>
      </p:sp>
      <p:pic>
        <p:nvPicPr>
          <p:cNvPr id="36" name="Image 6" descr="preencoded.png">    </p:cNvPr>
          <p:cNvPicPr>
            <a:picLocks noChangeAspect="1"/>
          </p:cNvPicPr>
          <p:nvPr/>
        </p:nvPicPr>
        <p:blipFill>
          <a:blip r:embed="rId7"/>
          <a:stretch>
            <a:fillRect/>
          </a:stretch>
        </p:blipFill>
        <p:spPr>
          <a:xfrm>
            <a:off x="6095848" y="5431536"/>
            <a:ext cx="237744" cy="237744"/>
          </a:xfrm>
          <a:prstGeom prst="rect">
            <a:avLst/>
          </a:prstGeom>
        </p:spPr>
      </p:pic>
      <p:sp>
        <p:nvSpPr>
          <p:cNvPr id="37" name="Text 28"/>
          <p:cNvSpPr/>
          <p:nvPr/>
        </p:nvSpPr>
        <p:spPr>
          <a:xfrm>
            <a:off x="6406744" y="5376672"/>
            <a:ext cx="2224964" cy="365760"/>
          </a:xfrm>
          <a:prstGeom prst="rect">
            <a:avLst/>
          </a:prstGeom>
          <a:noFill/>
          <a:ln/>
        </p:spPr>
        <p:txBody>
          <a:bodyPr wrap="square" lIns="0" tIns="0" rIns="0" bIns="0" rtlCol="0" anchor="ctr"/>
          <a:lstStyle/>
          <a:p>
            <a:pPr indent="0" marL="0">
              <a:buNone/>
            </a:pPr>
            <a:r>
              <a:rPr lang="en-US" sz="1100" dirty="0">
                <a:solidFill>
                  <a:srgbClr val="173753"/>
                </a:solidFill>
                <a:latin typeface="Calibri" pitchFamily="34" charset="0"/>
                <a:ea typeface="Calibri" pitchFamily="34" charset="-122"/>
                <a:cs typeface="Calibri" pitchFamily="34" charset="-120"/>
              </a:rPr>
              <a:t>Komunikasi rutin dengan mitra</a:t>
            </a:r>
            <a:endParaRPr lang="en-US" sz="1100" dirty="0"/>
          </a:p>
        </p:txBody>
      </p:sp>
      <p:pic>
        <p:nvPicPr>
          <p:cNvPr id="38" name="Image 7" descr="preencoded.png">    </p:cNvPr>
          <p:cNvPicPr>
            <a:picLocks noChangeAspect="1"/>
          </p:cNvPicPr>
          <p:nvPr/>
        </p:nvPicPr>
        <p:blipFill>
          <a:blip r:embed="rId8"/>
          <a:stretch>
            <a:fillRect/>
          </a:stretch>
        </p:blipFill>
        <p:spPr>
          <a:xfrm>
            <a:off x="8704859" y="5431536"/>
            <a:ext cx="237744" cy="237744"/>
          </a:xfrm>
          <a:prstGeom prst="rect">
            <a:avLst/>
          </a:prstGeom>
        </p:spPr>
      </p:pic>
      <p:sp>
        <p:nvSpPr>
          <p:cNvPr id="39" name="Text 29"/>
          <p:cNvSpPr/>
          <p:nvPr/>
        </p:nvSpPr>
        <p:spPr>
          <a:xfrm>
            <a:off x="9015755" y="5376672"/>
            <a:ext cx="2224964" cy="365760"/>
          </a:xfrm>
          <a:prstGeom prst="rect">
            <a:avLst/>
          </a:prstGeom>
          <a:noFill/>
          <a:ln/>
        </p:spPr>
        <p:txBody>
          <a:bodyPr wrap="square" lIns="0" tIns="0" rIns="0" bIns="0" rtlCol="0" anchor="ctr"/>
          <a:lstStyle/>
          <a:p>
            <a:pPr indent="0" marL="0">
              <a:buNone/>
            </a:pPr>
            <a:r>
              <a:rPr lang="en-US" sz="1100" dirty="0">
                <a:solidFill>
                  <a:srgbClr val="173753"/>
                </a:solidFill>
                <a:latin typeface="Calibri" pitchFamily="34" charset="0"/>
                <a:ea typeface="Calibri" pitchFamily="34" charset="-122"/>
                <a:cs typeface="Calibri" pitchFamily="34" charset="-120"/>
              </a:rPr>
              <a:t>Dokumentasi &amp; apresiasi</a:t>
            </a:r>
            <a:endParaRPr lang="en-US" sz="1100" dirty="0"/>
          </a:p>
        </p:txBody>
      </p:sp>
      <p:sp>
        <p:nvSpPr>
          <p:cNvPr id="40" name="Text 30"/>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41" name="Text 31"/>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STRATEGI</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Enam Strategi Peningkatan Mutu Layanan</a:t>
            </a:r>
            <a:endParaRPr lang="en-US" sz="3200" dirty="0"/>
          </a:p>
        </p:txBody>
      </p:sp>
      <p:sp>
        <p:nvSpPr>
          <p:cNvPr id="6" name="Shape 4"/>
          <p:cNvSpPr/>
          <p:nvPr/>
        </p:nvSpPr>
        <p:spPr>
          <a:xfrm>
            <a:off x="566928" y="1517904"/>
            <a:ext cx="3529584" cy="1298448"/>
          </a:xfrm>
          <a:prstGeom prst="roundRect">
            <a:avLst>
              <a:gd name="adj" fmla="val 985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804672" y="1792224"/>
            <a:ext cx="585216" cy="585216"/>
          </a:xfrm>
          <a:prstGeom prst="ellipse">
            <a:avLst>
              <a:gd name="adj" fmla="val 18750"/>
            </a:avLst>
          </a:prstGeom>
          <a:solidFill>
            <a:srgbClr val="1E76C8"/>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945124" y="1932676"/>
            <a:ext cx="304312" cy="304312"/>
          </a:xfrm>
          <a:prstGeom prst="rect">
            <a:avLst/>
          </a:prstGeom>
        </p:spPr>
      </p:pic>
      <p:sp>
        <p:nvSpPr>
          <p:cNvPr id="9" name="Text 6"/>
          <p:cNvSpPr/>
          <p:nvPr/>
        </p:nvSpPr>
        <p:spPr>
          <a:xfrm>
            <a:off x="1499616" y="1719072"/>
            <a:ext cx="2395728" cy="384048"/>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Perkuat kepemimpinan &amp; tata kelola</a:t>
            </a:r>
            <a:endParaRPr lang="en-US" sz="1300" dirty="0"/>
          </a:p>
        </p:txBody>
      </p:sp>
      <p:sp>
        <p:nvSpPr>
          <p:cNvPr id="10" name="Text 7"/>
          <p:cNvSpPr/>
          <p:nvPr/>
        </p:nvSpPr>
        <p:spPr>
          <a:xfrm>
            <a:off x="1499616" y="2121408"/>
            <a:ext cx="2377440" cy="58521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Kepala satuan memimpin perencanaan berbasis data dan refleksi berkala.</a:t>
            </a:r>
            <a:endParaRPr lang="en-US" sz="1100" dirty="0"/>
          </a:p>
        </p:txBody>
      </p:sp>
      <p:sp>
        <p:nvSpPr>
          <p:cNvPr id="11" name="Text 8"/>
          <p:cNvSpPr/>
          <p:nvPr/>
        </p:nvSpPr>
        <p:spPr>
          <a:xfrm>
            <a:off x="3438144" y="2359152"/>
            <a:ext cx="457200" cy="329184"/>
          </a:xfrm>
          <a:prstGeom prst="rect">
            <a:avLst/>
          </a:prstGeom>
          <a:noFill/>
          <a:ln/>
        </p:spPr>
        <p:txBody>
          <a:bodyPr wrap="square" lIns="0" tIns="0" rIns="0" bIns="0" rtlCol="0" anchor="ctr"/>
          <a:lstStyle/>
          <a:p>
            <a:pPr algn="r" indent="0" marL="0">
              <a:buNone/>
            </a:pPr>
            <a:r>
              <a:rPr lang="en-US" sz="1600" b="1" dirty="0">
                <a:solidFill>
                  <a:srgbClr val="1E76C8">
                    <a:alpha val="30000"/>
                  </a:srgbClr>
                </a:solidFill>
                <a:latin typeface="Calibri" pitchFamily="34" charset="0"/>
                <a:ea typeface="Calibri" pitchFamily="34" charset="-122"/>
                <a:cs typeface="Calibri" pitchFamily="34" charset="-120"/>
              </a:rPr>
              <a:t>01</a:t>
            </a:r>
            <a:endParaRPr lang="en-US" sz="1600" dirty="0"/>
          </a:p>
        </p:txBody>
      </p:sp>
      <p:sp>
        <p:nvSpPr>
          <p:cNvPr id="12" name="Shape 9"/>
          <p:cNvSpPr/>
          <p:nvPr/>
        </p:nvSpPr>
        <p:spPr>
          <a:xfrm>
            <a:off x="4352544" y="1517904"/>
            <a:ext cx="3529584" cy="1298448"/>
          </a:xfrm>
          <a:prstGeom prst="roundRect">
            <a:avLst>
              <a:gd name="adj" fmla="val 985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3" name="Shape 10"/>
          <p:cNvSpPr/>
          <p:nvPr/>
        </p:nvSpPr>
        <p:spPr>
          <a:xfrm>
            <a:off x="4590288" y="1792224"/>
            <a:ext cx="585216" cy="585216"/>
          </a:xfrm>
          <a:prstGeom prst="ellipse">
            <a:avLst>
              <a:gd name="adj" fmla="val 18750"/>
            </a:avLst>
          </a:prstGeom>
          <a:solidFill>
            <a:srgbClr val="2FA36B"/>
          </a:solidFill>
          <a:ln w="12700">
            <a:solidFill>
              <a:srgbClr val="333333"/>
            </a:solidFill>
            <a:prstDash val="solid"/>
          </a:ln>
        </p:spPr>
      </p:sp>
      <p:pic>
        <p:nvPicPr>
          <p:cNvPr id="14" name="Image 1" descr="preencoded.png">    </p:cNvPr>
          <p:cNvPicPr>
            <a:picLocks noChangeAspect="1"/>
          </p:cNvPicPr>
          <p:nvPr/>
        </p:nvPicPr>
        <p:blipFill>
          <a:blip r:embed="rId2"/>
          <a:stretch>
            <a:fillRect/>
          </a:stretch>
        </p:blipFill>
        <p:spPr>
          <a:xfrm>
            <a:off x="4730740" y="1932676"/>
            <a:ext cx="304312" cy="304312"/>
          </a:xfrm>
          <a:prstGeom prst="rect">
            <a:avLst/>
          </a:prstGeom>
        </p:spPr>
      </p:pic>
      <p:sp>
        <p:nvSpPr>
          <p:cNvPr id="15" name="Text 11"/>
          <p:cNvSpPr/>
          <p:nvPr/>
        </p:nvSpPr>
        <p:spPr>
          <a:xfrm>
            <a:off x="5285232" y="1719072"/>
            <a:ext cx="2395728" cy="384048"/>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Jadikan data sebagai dasar</a:t>
            </a:r>
            <a:endParaRPr lang="en-US" sz="1300" dirty="0"/>
          </a:p>
        </p:txBody>
      </p:sp>
      <p:sp>
        <p:nvSpPr>
          <p:cNvPr id="16" name="Text 12"/>
          <p:cNvSpPr/>
          <p:nvPr/>
        </p:nvSpPr>
        <p:spPr>
          <a:xfrm>
            <a:off x="5285232" y="2121408"/>
            <a:ext cx="2377440" cy="58521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Gunakan Dapodik dan capaian 8 indikator untuk menentukan prioritas.</a:t>
            </a:r>
            <a:endParaRPr lang="en-US" sz="1100" dirty="0"/>
          </a:p>
        </p:txBody>
      </p:sp>
      <p:sp>
        <p:nvSpPr>
          <p:cNvPr id="17" name="Text 13"/>
          <p:cNvSpPr/>
          <p:nvPr/>
        </p:nvSpPr>
        <p:spPr>
          <a:xfrm>
            <a:off x="7223760" y="2359152"/>
            <a:ext cx="457200" cy="329184"/>
          </a:xfrm>
          <a:prstGeom prst="rect">
            <a:avLst/>
          </a:prstGeom>
          <a:noFill/>
          <a:ln/>
        </p:spPr>
        <p:txBody>
          <a:bodyPr wrap="square" lIns="0" tIns="0" rIns="0" bIns="0" rtlCol="0" anchor="ctr"/>
          <a:lstStyle/>
          <a:p>
            <a:pPr algn="r" indent="0" marL="0">
              <a:buNone/>
            </a:pPr>
            <a:r>
              <a:rPr lang="en-US" sz="1600" b="1" dirty="0">
                <a:solidFill>
                  <a:srgbClr val="2FA36B">
                    <a:alpha val="30000"/>
                  </a:srgbClr>
                </a:solidFill>
                <a:latin typeface="Calibri" pitchFamily="34" charset="0"/>
                <a:ea typeface="Calibri" pitchFamily="34" charset="-122"/>
                <a:cs typeface="Calibri" pitchFamily="34" charset="-120"/>
              </a:rPr>
              <a:t>02</a:t>
            </a:r>
            <a:endParaRPr lang="en-US" sz="1600" dirty="0"/>
          </a:p>
        </p:txBody>
      </p:sp>
      <p:sp>
        <p:nvSpPr>
          <p:cNvPr id="18" name="Shape 14"/>
          <p:cNvSpPr/>
          <p:nvPr/>
        </p:nvSpPr>
        <p:spPr>
          <a:xfrm>
            <a:off x="566928" y="3054096"/>
            <a:ext cx="3529584" cy="1298448"/>
          </a:xfrm>
          <a:prstGeom prst="roundRect">
            <a:avLst>
              <a:gd name="adj" fmla="val 985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9" name="Shape 15"/>
          <p:cNvSpPr/>
          <p:nvPr/>
        </p:nvSpPr>
        <p:spPr>
          <a:xfrm>
            <a:off x="804672" y="3328416"/>
            <a:ext cx="585216" cy="585216"/>
          </a:xfrm>
          <a:prstGeom prst="ellipse">
            <a:avLst>
              <a:gd name="adj" fmla="val 18750"/>
            </a:avLst>
          </a:prstGeom>
          <a:solidFill>
            <a:srgbClr val="F5871F"/>
          </a:solidFill>
          <a:ln w="12700">
            <a:solidFill>
              <a:srgbClr val="333333"/>
            </a:solidFill>
            <a:prstDash val="solid"/>
          </a:ln>
        </p:spPr>
      </p:sp>
      <p:pic>
        <p:nvPicPr>
          <p:cNvPr id="20" name="Image 2" descr="preencoded.png">    </p:cNvPr>
          <p:cNvPicPr>
            <a:picLocks noChangeAspect="1"/>
          </p:cNvPicPr>
          <p:nvPr/>
        </p:nvPicPr>
        <p:blipFill>
          <a:blip r:embed="rId3"/>
          <a:stretch>
            <a:fillRect/>
          </a:stretch>
        </p:blipFill>
        <p:spPr>
          <a:xfrm>
            <a:off x="945124" y="3468868"/>
            <a:ext cx="304312" cy="304312"/>
          </a:xfrm>
          <a:prstGeom prst="rect">
            <a:avLst/>
          </a:prstGeom>
        </p:spPr>
      </p:pic>
      <p:sp>
        <p:nvSpPr>
          <p:cNvPr id="21" name="Text 16"/>
          <p:cNvSpPr/>
          <p:nvPr/>
        </p:nvSpPr>
        <p:spPr>
          <a:xfrm>
            <a:off x="1499616" y="3255264"/>
            <a:ext cx="2395728" cy="384048"/>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Bangun kemitraan berbasis kebutuhan</a:t>
            </a:r>
            <a:endParaRPr lang="en-US" sz="1300" dirty="0"/>
          </a:p>
        </p:txBody>
      </p:sp>
      <p:sp>
        <p:nvSpPr>
          <p:cNvPr id="22" name="Text 17"/>
          <p:cNvSpPr/>
          <p:nvPr/>
        </p:nvSpPr>
        <p:spPr>
          <a:xfrm>
            <a:off x="1499616" y="3657600"/>
            <a:ext cx="2377440" cy="58521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Pilih mitra sesuai indikator yang paling tertinggal.</a:t>
            </a:r>
            <a:endParaRPr lang="en-US" sz="1100" dirty="0"/>
          </a:p>
        </p:txBody>
      </p:sp>
      <p:sp>
        <p:nvSpPr>
          <p:cNvPr id="23" name="Text 18"/>
          <p:cNvSpPr/>
          <p:nvPr/>
        </p:nvSpPr>
        <p:spPr>
          <a:xfrm>
            <a:off x="3438144" y="3895344"/>
            <a:ext cx="457200" cy="329184"/>
          </a:xfrm>
          <a:prstGeom prst="rect">
            <a:avLst/>
          </a:prstGeom>
          <a:noFill/>
          <a:ln/>
        </p:spPr>
        <p:txBody>
          <a:bodyPr wrap="square" lIns="0" tIns="0" rIns="0" bIns="0" rtlCol="0" anchor="ctr"/>
          <a:lstStyle/>
          <a:p>
            <a:pPr algn="r" indent="0" marL="0">
              <a:buNone/>
            </a:pPr>
            <a:r>
              <a:rPr lang="en-US" sz="1600" b="1" dirty="0">
                <a:solidFill>
                  <a:srgbClr val="F5871F">
                    <a:alpha val="30000"/>
                  </a:srgbClr>
                </a:solidFill>
                <a:latin typeface="Calibri" pitchFamily="34" charset="0"/>
                <a:ea typeface="Calibri" pitchFamily="34" charset="-122"/>
                <a:cs typeface="Calibri" pitchFamily="34" charset="-120"/>
              </a:rPr>
              <a:t>03</a:t>
            </a:r>
            <a:endParaRPr lang="en-US" sz="1600" dirty="0"/>
          </a:p>
        </p:txBody>
      </p:sp>
      <p:sp>
        <p:nvSpPr>
          <p:cNvPr id="24" name="Shape 19"/>
          <p:cNvSpPr/>
          <p:nvPr/>
        </p:nvSpPr>
        <p:spPr>
          <a:xfrm>
            <a:off x="4352544" y="3054096"/>
            <a:ext cx="3529584" cy="1298448"/>
          </a:xfrm>
          <a:prstGeom prst="roundRect">
            <a:avLst>
              <a:gd name="adj" fmla="val 985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5" name="Shape 20"/>
          <p:cNvSpPr/>
          <p:nvPr/>
        </p:nvSpPr>
        <p:spPr>
          <a:xfrm>
            <a:off x="4590288" y="3328416"/>
            <a:ext cx="585216" cy="585216"/>
          </a:xfrm>
          <a:prstGeom prst="ellipse">
            <a:avLst>
              <a:gd name="adj" fmla="val 18750"/>
            </a:avLst>
          </a:prstGeom>
          <a:solidFill>
            <a:srgbClr val="7A66B8"/>
          </a:solidFill>
          <a:ln w="12700">
            <a:solidFill>
              <a:srgbClr val="333333"/>
            </a:solidFill>
            <a:prstDash val="solid"/>
          </a:ln>
        </p:spPr>
      </p:sp>
      <p:pic>
        <p:nvPicPr>
          <p:cNvPr id="26" name="Image 3" descr="preencoded.png">    </p:cNvPr>
          <p:cNvPicPr>
            <a:picLocks noChangeAspect="1"/>
          </p:cNvPicPr>
          <p:nvPr/>
        </p:nvPicPr>
        <p:blipFill>
          <a:blip r:embed="rId4"/>
          <a:stretch>
            <a:fillRect/>
          </a:stretch>
        </p:blipFill>
        <p:spPr>
          <a:xfrm>
            <a:off x="4730740" y="3468868"/>
            <a:ext cx="304312" cy="304312"/>
          </a:xfrm>
          <a:prstGeom prst="rect">
            <a:avLst/>
          </a:prstGeom>
        </p:spPr>
      </p:pic>
      <p:sp>
        <p:nvSpPr>
          <p:cNvPr id="27" name="Text 21"/>
          <p:cNvSpPr/>
          <p:nvPr/>
        </p:nvSpPr>
        <p:spPr>
          <a:xfrm>
            <a:off x="5285232" y="3255264"/>
            <a:ext cx="2395728" cy="384048"/>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Kuatkan kapasitas pendidik</a:t>
            </a:r>
            <a:endParaRPr lang="en-US" sz="1300" dirty="0"/>
          </a:p>
        </p:txBody>
      </p:sp>
      <p:sp>
        <p:nvSpPr>
          <p:cNvPr id="28" name="Text 22"/>
          <p:cNvSpPr/>
          <p:nvPr/>
        </p:nvSpPr>
        <p:spPr>
          <a:xfrm>
            <a:off x="5285232" y="3657600"/>
            <a:ext cx="2377440" cy="58521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Pendidik sebagai penghubung PAUD HI perlu pelatihan dan pendampingan.</a:t>
            </a:r>
            <a:endParaRPr lang="en-US" sz="1100" dirty="0"/>
          </a:p>
        </p:txBody>
      </p:sp>
      <p:sp>
        <p:nvSpPr>
          <p:cNvPr id="29" name="Text 23"/>
          <p:cNvSpPr/>
          <p:nvPr/>
        </p:nvSpPr>
        <p:spPr>
          <a:xfrm>
            <a:off x="7223760" y="3895344"/>
            <a:ext cx="457200" cy="329184"/>
          </a:xfrm>
          <a:prstGeom prst="rect">
            <a:avLst/>
          </a:prstGeom>
          <a:noFill/>
          <a:ln/>
        </p:spPr>
        <p:txBody>
          <a:bodyPr wrap="square" lIns="0" tIns="0" rIns="0" bIns="0" rtlCol="0" anchor="ctr"/>
          <a:lstStyle/>
          <a:p>
            <a:pPr algn="r" indent="0" marL="0">
              <a:buNone/>
            </a:pPr>
            <a:r>
              <a:rPr lang="en-US" sz="1600" b="1" dirty="0">
                <a:solidFill>
                  <a:srgbClr val="7A66B8">
                    <a:alpha val="30000"/>
                  </a:srgbClr>
                </a:solidFill>
                <a:latin typeface="Calibri" pitchFamily="34" charset="0"/>
                <a:ea typeface="Calibri" pitchFamily="34" charset="-122"/>
                <a:cs typeface="Calibri" pitchFamily="34" charset="-120"/>
              </a:rPr>
              <a:t>04</a:t>
            </a:r>
            <a:endParaRPr lang="en-US" sz="1600" dirty="0"/>
          </a:p>
        </p:txBody>
      </p:sp>
      <p:sp>
        <p:nvSpPr>
          <p:cNvPr id="30" name="Shape 24"/>
          <p:cNvSpPr/>
          <p:nvPr/>
        </p:nvSpPr>
        <p:spPr>
          <a:xfrm>
            <a:off x="566928" y="4590288"/>
            <a:ext cx="3529584" cy="1298448"/>
          </a:xfrm>
          <a:prstGeom prst="roundRect">
            <a:avLst>
              <a:gd name="adj" fmla="val 985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1" name="Shape 25"/>
          <p:cNvSpPr/>
          <p:nvPr/>
        </p:nvSpPr>
        <p:spPr>
          <a:xfrm>
            <a:off x="804672" y="4864608"/>
            <a:ext cx="585216" cy="585216"/>
          </a:xfrm>
          <a:prstGeom prst="ellipse">
            <a:avLst>
              <a:gd name="adj" fmla="val 18750"/>
            </a:avLst>
          </a:prstGeom>
          <a:solidFill>
            <a:srgbClr val="1F9C9C"/>
          </a:solidFill>
          <a:ln w="12700">
            <a:solidFill>
              <a:srgbClr val="333333"/>
            </a:solidFill>
            <a:prstDash val="solid"/>
          </a:ln>
        </p:spPr>
      </p:sp>
      <p:pic>
        <p:nvPicPr>
          <p:cNvPr id="32" name="Image 4" descr="preencoded.png">    </p:cNvPr>
          <p:cNvPicPr>
            <a:picLocks noChangeAspect="1"/>
          </p:cNvPicPr>
          <p:nvPr/>
        </p:nvPicPr>
        <p:blipFill>
          <a:blip r:embed="rId5"/>
          <a:stretch>
            <a:fillRect/>
          </a:stretch>
        </p:blipFill>
        <p:spPr>
          <a:xfrm>
            <a:off x="945124" y="5005060"/>
            <a:ext cx="304312" cy="304312"/>
          </a:xfrm>
          <a:prstGeom prst="rect">
            <a:avLst/>
          </a:prstGeom>
        </p:spPr>
      </p:pic>
      <p:sp>
        <p:nvSpPr>
          <p:cNvPr id="33" name="Text 26"/>
          <p:cNvSpPr/>
          <p:nvPr/>
        </p:nvSpPr>
        <p:spPr>
          <a:xfrm>
            <a:off x="1499616" y="4791456"/>
            <a:ext cx="2395728" cy="384048"/>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Lengkapi layanan &amp; sarana esensial</a:t>
            </a:r>
            <a:endParaRPr lang="en-US" sz="1300" dirty="0"/>
          </a:p>
        </p:txBody>
      </p:sp>
      <p:sp>
        <p:nvSpPr>
          <p:cNvPr id="34" name="Text 27"/>
          <p:cNvSpPr/>
          <p:nvPr/>
        </p:nvSpPr>
        <p:spPr>
          <a:xfrm>
            <a:off x="1499616" y="5193792"/>
            <a:ext cx="2377440" cy="58521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Prioritaskan sanitasi, air bersih, dan ruang bermain yang aman.</a:t>
            </a:r>
            <a:endParaRPr lang="en-US" sz="1100" dirty="0"/>
          </a:p>
        </p:txBody>
      </p:sp>
      <p:sp>
        <p:nvSpPr>
          <p:cNvPr id="35" name="Text 28"/>
          <p:cNvSpPr/>
          <p:nvPr/>
        </p:nvSpPr>
        <p:spPr>
          <a:xfrm>
            <a:off x="3438144" y="5431536"/>
            <a:ext cx="457200" cy="329184"/>
          </a:xfrm>
          <a:prstGeom prst="rect">
            <a:avLst/>
          </a:prstGeom>
          <a:noFill/>
          <a:ln/>
        </p:spPr>
        <p:txBody>
          <a:bodyPr wrap="square" lIns="0" tIns="0" rIns="0" bIns="0" rtlCol="0" anchor="ctr"/>
          <a:lstStyle/>
          <a:p>
            <a:pPr algn="r" indent="0" marL="0">
              <a:buNone/>
            </a:pPr>
            <a:r>
              <a:rPr lang="en-US" sz="1600" b="1" dirty="0">
                <a:solidFill>
                  <a:srgbClr val="1F9C9C">
                    <a:alpha val="30000"/>
                  </a:srgbClr>
                </a:solidFill>
                <a:latin typeface="Calibri" pitchFamily="34" charset="0"/>
                <a:ea typeface="Calibri" pitchFamily="34" charset="-122"/>
                <a:cs typeface="Calibri" pitchFamily="34" charset="-120"/>
              </a:rPr>
              <a:t>05</a:t>
            </a:r>
            <a:endParaRPr lang="en-US" sz="1600" dirty="0"/>
          </a:p>
        </p:txBody>
      </p:sp>
      <p:sp>
        <p:nvSpPr>
          <p:cNvPr id="36" name="Shape 29"/>
          <p:cNvSpPr/>
          <p:nvPr/>
        </p:nvSpPr>
        <p:spPr>
          <a:xfrm>
            <a:off x="4352544" y="4590288"/>
            <a:ext cx="3529584" cy="1298448"/>
          </a:xfrm>
          <a:prstGeom prst="roundRect">
            <a:avLst>
              <a:gd name="adj" fmla="val 9859"/>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7" name="Shape 30"/>
          <p:cNvSpPr/>
          <p:nvPr/>
        </p:nvSpPr>
        <p:spPr>
          <a:xfrm>
            <a:off x="4590288" y="4864608"/>
            <a:ext cx="585216" cy="585216"/>
          </a:xfrm>
          <a:prstGeom prst="ellipse">
            <a:avLst>
              <a:gd name="adj" fmla="val 18750"/>
            </a:avLst>
          </a:prstGeom>
          <a:solidFill>
            <a:srgbClr val="E0574B"/>
          </a:solidFill>
          <a:ln w="12700">
            <a:solidFill>
              <a:srgbClr val="333333"/>
            </a:solidFill>
            <a:prstDash val="solid"/>
          </a:ln>
        </p:spPr>
      </p:sp>
      <p:pic>
        <p:nvPicPr>
          <p:cNvPr id="38" name="Image 5" descr="preencoded.png">    </p:cNvPr>
          <p:cNvPicPr>
            <a:picLocks noChangeAspect="1"/>
          </p:cNvPicPr>
          <p:nvPr/>
        </p:nvPicPr>
        <p:blipFill>
          <a:blip r:embed="rId6"/>
          <a:stretch>
            <a:fillRect/>
          </a:stretch>
        </p:blipFill>
        <p:spPr>
          <a:xfrm>
            <a:off x="4730740" y="5005060"/>
            <a:ext cx="304312" cy="304312"/>
          </a:xfrm>
          <a:prstGeom prst="rect">
            <a:avLst/>
          </a:prstGeom>
        </p:spPr>
      </p:pic>
      <p:sp>
        <p:nvSpPr>
          <p:cNvPr id="39" name="Text 31"/>
          <p:cNvSpPr/>
          <p:nvPr/>
        </p:nvSpPr>
        <p:spPr>
          <a:xfrm>
            <a:off x="5285232" y="4791456"/>
            <a:ext cx="2395728" cy="384048"/>
          </a:xfrm>
          <a:prstGeom prst="rect">
            <a:avLst/>
          </a:prstGeom>
          <a:noFill/>
          <a:ln/>
        </p:spPr>
        <p:txBody>
          <a:bodyPr wrap="square" lIns="0" tIns="0" rIns="0" bIns="0" rtlCol="0" anchor="t"/>
          <a:lstStyle/>
          <a:p>
            <a:pPr indent="0" marL="0">
              <a:buNone/>
            </a:pPr>
            <a:r>
              <a:rPr lang="en-US" sz="1300" b="1" dirty="0">
                <a:solidFill>
                  <a:srgbClr val="173753"/>
                </a:solidFill>
                <a:latin typeface="Calibri" pitchFamily="34" charset="0"/>
                <a:ea typeface="Calibri" pitchFamily="34" charset="-122"/>
                <a:cs typeface="Calibri" pitchFamily="34" charset="-120"/>
              </a:rPr>
              <a:t>Libatkan orang tua sebagai mitra</a:t>
            </a:r>
            <a:endParaRPr lang="en-US" sz="1300" dirty="0"/>
          </a:p>
        </p:txBody>
      </p:sp>
      <p:sp>
        <p:nvSpPr>
          <p:cNvPr id="40" name="Text 32"/>
          <p:cNvSpPr/>
          <p:nvPr/>
        </p:nvSpPr>
        <p:spPr>
          <a:xfrm>
            <a:off x="5285232" y="5193792"/>
            <a:ext cx="2377440" cy="58521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Kelas orang tua yang konsisten menjaga kesinambungan stimulasi.</a:t>
            </a:r>
            <a:endParaRPr lang="en-US" sz="1100" dirty="0"/>
          </a:p>
        </p:txBody>
      </p:sp>
      <p:sp>
        <p:nvSpPr>
          <p:cNvPr id="41" name="Text 33"/>
          <p:cNvSpPr/>
          <p:nvPr/>
        </p:nvSpPr>
        <p:spPr>
          <a:xfrm>
            <a:off x="7223760" y="5431536"/>
            <a:ext cx="457200" cy="329184"/>
          </a:xfrm>
          <a:prstGeom prst="rect">
            <a:avLst/>
          </a:prstGeom>
          <a:noFill/>
          <a:ln/>
        </p:spPr>
        <p:txBody>
          <a:bodyPr wrap="square" lIns="0" tIns="0" rIns="0" bIns="0" rtlCol="0" anchor="ctr"/>
          <a:lstStyle/>
          <a:p>
            <a:pPr algn="r" indent="0" marL="0">
              <a:buNone/>
            </a:pPr>
            <a:r>
              <a:rPr lang="en-US" sz="1600" b="1" dirty="0">
                <a:solidFill>
                  <a:srgbClr val="E0574B">
                    <a:alpha val="30000"/>
                  </a:srgbClr>
                </a:solidFill>
                <a:latin typeface="Calibri" pitchFamily="34" charset="0"/>
                <a:ea typeface="Calibri" pitchFamily="34" charset="-122"/>
                <a:cs typeface="Calibri" pitchFamily="34" charset="-120"/>
              </a:rPr>
              <a:t>06</a:t>
            </a:r>
            <a:endParaRPr lang="en-US" sz="1600" dirty="0"/>
          </a:p>
        </p:txBody>
      </p:sp>
      <p:sp>
        <p:nvSpPr>
          <p:cNvPr id="42" name="Shape 34"/>
          <p:cNvSpPr/>
          <p:nvPr/>
        </p:nvSpPr>
        <p:spPr>
          <a:xfrm>
            <a:off x="7854696" y="1655064"/>
            <a:ext cx="3833110" cy="2212848"/>
          </a:xfrm>
          <a:prstGeom prst="roundRect">
            <a:avLst>
              <a:gd name="adj" fmla="val 5785"/>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43" name="Image 6" descr="preencoded.png">    </p:cNvPr>
          <p:cNvPicPr>
            <a:picLocks noChangeAspect="1"/>
          </p:cNvPicPr>
          <p:nvPr/>
        </p:nvPicPr>
        <p:blipFill>
          <a:blip r:embed="rId7"/>
          <a:stretch>
            <a:fillRect/>
          </a:stretch>
        </p:blipFill>
        <p:spPr>
          <a:xfrm>
            <a:off x="7936992" y="1737360"/>
            <a:ext cx="3668518" cy="2048256"/>
          </a:xfrm>
          <a:prstGeom prst="rect">
            <a:avLst/>
          </a:prstGeom>
        </p:spPr>
      </p:pic>
      <p:sp>
        <p:nvSpPr>
          <p:cNvPr id="44" name="Text 35"/>
          <p:cNvSpPr/>
          <p:nvPr/>
        </p:nvSpPr>
        <p:spPr>
          <a:xfrm>
            <a:off x="7936992" y="4005072"/>
            <a:ext cx="3657600" cy="292608"/>
          </a:xfrm>
          <a:prstGeom prst="rect">
            <a:avLst/>
          </a:prstGeom>
          <a:noFill/>
          <a:ln/>
        </p:spPr>
        <p:txBody>
          <a:bodyPr wrap="square" lIns="0" tIns="0" rIns="0" bIns="0" rtlCol="0" anchor="ctr"/>
          <a:lstStyle/>
          <a:p>
            <a:pPr indent="0" marL="0">
              <a:buNone/>
            </a:pPr>
            <a:r>
              <a:rPr lang="en-US" sz="1300" b="1" dirty="0">
                <a:solidFill>
                  <a:srgbClr val="173753"/>
                </a:solidFill>
                <a:latin typeface="Calibri" pitchFamily="34" charset="0"/>
                <a:ea typeface="Calibri" pitchFamily="34" charset="-122"/>
                <a:cs typeface="Calibri" pitchFamily="34" charset="-120"/>
              </a:rPr>
              <a:t>Strategi Direktorat PAUD</a:t>
            </a:r>
            <a:endParaRPr lang="en-US" sz="1300" dirty="0"/>
          </a:p>
        </p:txBody>
      </p:sp>
      <p:sp>
        <p:nvSpPr>
          <p:cNvPr id="45" name="Text 36"/>
          <p:cNvSpPr/>
          <p:nvPr/>
        </p:nvSpPr>
        <p:spPr>
          <a:xfrm>
            <a:off x="7936992" y="4315968"/>
            <a:ext cx="3657600" cy="1554480"/>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Percepatan pemenuhan 8 indikator PAUD HI dijalankan melalui koordinasi lintas sektor, peningkatan pemahaman, penyaluran bantuan, pengembangan dashboard, serta kajian dampak. Strategi satuan sebaiknya menyambung ke lima jalur ini.</a:t>
            </a:r>
            <a:endParaRPr lang="en-US" sz="1100" dirty="0"/>
          </a:p>
        </p:txBody>
      </p:sp>
      <p:sp>
        <p:nvSpPr>
          <p:cNvPr id="46" name="Text 37"/>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47" name="Text 38"/>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RENCANA AKSI</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Peta 30 – 60 – 90 Hari untuk Satuan PAUD</a:t>
            </a:r>
            <a:endParaRPr lang="en-US" sz="3200" dirty="0"/>
          </a:p>
        </p:txBody>
      </p:sp>
      <p:sp>
        <p:nvSpPr>
          <p:cNvPr id="6" name="Shape 4"/>
          <p:cNvSpPr/>
          <p:nvPr/>
        </p:nvSpPr>
        <p:spPr>
          <a:xfrm>
            <a:off x="566928" y="1572768"/>
            <a:ext cx="3478682" cy="4023360"/>
          </a:xfrm>
          <a:prstGeom prst="roundRect">
            <a:avLst>
              <a:gd name="adj" fmla="val 368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566928" y="1572768"/>
            <a:ext cx="3478682" cy="859536"/>
          </a:xfrm>
          <a:prstGeom prst="roundRect">
            <a:avLst>
              <a:gd name="adj" fmla="val 14894"/>
            </a:avLst>
          </a:prstGeom>
          <a:solidFill>
            <a:srgbClr val="1E76C8"/>
          </a:solidFill>
          <a:ln w="12700">
            <a:solidFill>
              <a:srgbClr val="333333"/>
            </a:solidFill>
            <a:prstDash val="solid"/>
          </a:ln>
        </p:spPr>
      </p:sp>
      <p:sp>
        <p:nvSpPr>
          <p:cNvPr id="8" name="Shape 6"/>
          <p:cNvSpPr/>
          <p:nvPr/>
        </p:nvSpPr>
        <p:spPr>
          <a:xfrm>
            <a:off x="566928" y="2157984"/>
            <a:ext cx="3478682" cy="274320"/>
          </a:xfrm>
          <a:prstGeom prst="rect">
            <a:avLst/>
          </a:prstGeom>
          <a:solidFill>
            <a:srgbClr val="1E76C8"/>
          </a:solidFill>
          <a:ln w="12700">
            <a:solidFill>
              <a:srgbClr val="333333"/>
            </a:solidFill>
            <a:prstDash val="solid"/>
          </a:ln>
        </p:spPr>
      </p:sp>
      <p:pic>
        <p:nvPicPr>
          <p:cNvPr id="9" name="Image 0" descr="preencoded.png">    </p:cNvPr>
          <p:cNvPicPr>
            <a:picLocks noChangeAspect="1"/>
          </p:cNvPicPr>
          <p:nvPr/>
        </p:nvPicPr>
        <p:blipFill>
          <a:blip r:embed="rId1"/>
          <a:stretch>
            <a:fillRect/>
          </a:stretch>
        </p:blipFill>
        <p:spPr>
          <a:xfrm>
            <a:off x="822960" y="1810512"/>
            <a:ext cx="384048" cy="384048"/>
          </a:xfrm>
          <a:prstGeom prst="rect">
            <a:avLst/>
          </a:prstGeom>
        </p:spPr>
      </p:pic>
      <p:sp>
        <p:nvSpPr>
          <p:cNvPr id="10" name="Text 7"/>
          <p:cNvSpPr/>
          <p:nvPr/>
        </p:nvSpPr>
        <p:spPr>
          <a:xfrm>
            <a:off x="1353312" y="1737360"/>
            <a:ext cx="2472842" cy="310896"/>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30 HARI</a:t>
            </a:r>
            <a:endParaRPr lang="en-US" sz="1800" dirty="0"/>
          </a:p>
        </p:txBody>
      </p:sp>
      <p:sp>
        <p:nvSpPr>
          <p:cNvPr id="11" name="Text 8"/>
          <p:cNvSpPr/>
          <p:nvPr/>
        </p:nvSpPr>
        <p:spPr>
          <a:xfrm>
            <a:off x="1353312" y="2048256"/>
            <a:ext cx="2472842" cy="274320"/>
          </a:xfrm>
          <a:prstGeom prst="rect">
            <a:avLst/>
          </a:prstGeom>
          <a:noFill/>
          <a:ln/>
        </p:spPr>
        <p:txBody>
          <a:bodyPr wrap="square" lIns="0" tIns="0" rIns="0" bIns="0" rtlCol="0" anchor="ctr"/>
          <a:lstStyle/>
          <a:p>
            <a:pPr indent="0" marL="0">
              <a:buNone/>
            </a:pPr>
            <a:r>
              <a:rPr lang="en-US" sz="1150" dirty="0">
                <a:solidFill>
                  <a:srgbClr val="FFFFFF">
                    <a:alpha val="85000"/>
                  </a:srgbClr>
                </a:solidFill>
                <a:latin typeface="Calibri" pitchFamily="34" charset="0"/>
                <a:ea typeface="Calibri" pitchFamily="34" charset="-122"/>
                <a:cs typeface="Calibri" pitchFamily="34" charset="-120"/>
              </a:rPr>
              <a:t>Menyiapkan</a:t>
            </a:r>
            <a:endParaRPr lang="en-US" sz="1150" dirty="0"/>
          </a:p>
        </p:txBody>
      </p:sp>
      <p:sp>
        <p:nvSpPr>
          <p:cNvPr id="12" name="Text 9"/>
          <p:cNvSpPr/>
          <p:nvPr/>
        </p:nvSpPr>
        <p:spPr>
          <a:xfrm>
            <a:off x="841248" y="2633472"/>
            <a:ext cx="2930042" cy="274320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Bentuk tim kecil PAUD HI di satuan.</a:t>
            </a:r>
            <a:endParaRPr lang="en-US" sz="1150" dirty="0"/>
          </a:p>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Verifikasi capaian 8 indikator pada Dapodik.</a:t>
            </a:r>
            <a:endParaRPr lang="en-US" sz="1150" dirty="0"/>
          </a:p>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Petakan kebutuhan anak dan calon mitra.</a:t>
            </a:r>
            <a:endParaRPr lang="en-US" sz="1150" dirty="0"/>
          </a:p>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Susun daftar kontak penanggung jawab mitra.</a:t>
            </a:r>
            <a:endParaRPr lang="en-US" sz="1150" dirty="0"/>
          </a:p>
        </p:txBody>
      </p:sp>
      <p:sp>
        <p:nvSpPr>
          <p:cNvPr id="13" name="Shape 10"/>
          <p:cNvSpPr/>
          <p:nvPr/>
        </p:nvSpPr>
        <p:spPr>
          <a:xfrm>
            <a:off x="4356506" y="1572768"/>
            <a:ext cx="3478682" cy="4023360"/>
          </a:xfrm>
          <a:prstGeom prst="roundRect">
            <a:avLst>
              <a:gd name="adj" fmla="val 368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4" name="Shape 11"/>
          <p:cNvSpPr/>
          <p:nvPr/>
        </p:nvSpPr>
        <p:spPr>
          <a:xfrm>
            <a:off x="4356506" y="1572768"/>
            <a:ext cx="3478682" cy="859536"/>
          </a:xfrm>
          <a:prstGeom prst="roundRect">
            <a:avLst>
              <a:gd name="adj" fmla="val 14894"/>
            </a:avLst>
          </a:prstGeom>
          <a:solidFill>
            <a:srgbClr val="F5871F"/>
          </a:solidFill>
          <a:ln w="12700">
            <a:solidFill>
              <a:srgbClr val="333333"/>
            </a:solidFill>
            <a:prstDash val="solid"/>
          </a:ln>
        </p:spPr>
      </p:sp>
      <p:sp>
        <p:nvSpPr>
          <p:cNvPr id="15" name="Shape 12"/>
          <p:cNvSpPr/>
          <p:nvPr/>
        </p:nvSpPr>
        <p:spPr>
          <a:xfrm>
            <a:off x="4356506" y="2157984"/>
            <a:ext cx="3478682" cy="274320"/>
          </a:xfrm>
          <a:prstGeom prst="rect">
            <a:avLst/>
          </a:prstGeom>
          <a:solidFill>
            <a:srgbClr val="F5871F"/>
          </a:solidFill>
          <a:ln w="12700">
            <a:solidFill>
              <a:srgbClr val="333333"/>
            </a:solidFill>
            <a:prstDash val="solid"/>
          </a:ln>
        </p:spPr>
      </p:sp>
      <p:pic>
        <p:nvPicPr>
          <p:cNvPr id="16" name="Image 1" descr="preencoded.png">    </p:cNvPr>
          <p:cNvPicPr>
            <a:picLocks noChangeAspect="1"/>
          </p:cNvPicPr>
          <p:nvPr/>
        </p:nvPicPr>
        <p:blipFill>
          <a:blip r:embed="rId2"/>
          <a:stretch>
            <a:fillRect/>
          </a:stretch>
        </p:blipFill>
        <p:spPr>
          <a:xfrm>
            <a:off x="4612538" y="1810512"/>
            <a:ext cx="384048" cy="384048"/>
          </a:xfrm>
          <a:prstGeom prst="rect">
            <a:avLst/>
          </a:prstGeom>
        </p:spPr>
      </p:pic>
      <p:sp>
        <p:nvSpPr>
          <p:cNvPr id="17" name="Text 13"/>
          <p:cNvSpPr/>
          <p:nvPr/>
        </p:nvSpPr>
        <p:spPr>
          <a:xfrm>
            <a:off x="5142890" y="1737360"/>
            <a:ext cx="2472842" cy="310896"/>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60 HARI</a:t>
            </a:r>
            <a:endParaRPr lang="en-US" sz="1800" dirty="0"/>
          </a:p>
        </p:txBody>
      </p:sp>
      <p:sp>
        <p:nvSpPr>
          <p:cNvPr id="18" name="Text 14"/>
          <p:cNvSpPr/>
          <p:nvPr/>
        </p:nvSpPr>
        <p:spPr>
          <a:xfrm>
            <a:off x="5142890" y="2048256"/>
            <a:ext cx="2472842" cy="274320"/>
          </a:xfrm>
          <a:prstGeom prst="rect">
            <a:avLst/>
          </a:prstGeom>
          <a:noFill/>
          <a:ln/>
        </p:spPr>
        <p:txBody>
          <a:bodyPr wrap="square" lIns="0" tIns="0" rIns="0" bIns="0" rtlCol="0" anchor="ctr"/>
          <a:lstStyle/>
          <a:p>
            <a:pPr indent="0" marL="0">
              <a:buNone/>
            </a:pPr>
            <a:r>
              <a:rPr lang="en-US" sz="1150" dirty="0">
                <a:solidFill>
                  <a:srgbClr val="FFFFFF">
                    <a:alpha val="85000"/>
                  </a:srgbClr>
                </a:solidFill>
                <a:latin typeface="Calibri" pitchFamily="34" charset="0"/>
                <a:ea typeface="Calibri" pitchFamily="34" charset="-122"/>
                <a:cs typeface="Calibri" pitchFamily="34" charset="-120"/>
              </a:rPr>
              <a:t>Menyepakati</a:t>
            </a:r>
            <a:endParaRPr lang="en-US" sz="1150" dirty="0"/>
          </a:p>
        </p:txBody>
      </p:sp>
      <p:sp>
        <p:nvSpPr>
          <p:cNvPr id="19" name="Text 15"/>
          <p:cNvSpPr/>
          <p:nvPr/>
        </p:nvSpPr>
        <p:spPr>
          <a:xfrm>
            <a:off x="4630826" y="2633472"/>
            <a:ext cx="2930042" cy="274320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Audiensi ke puskesmas, desa, dan dinas terkait.</a:t>
            </a:r>
            <a:endParaRPr lang="en-US" sz="1150" dirty="0"/>
          </a:p>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Tandatangani PKS/MoU sederhana dengan mitra.</a:t>
            </a:r>
            <a:endParaRPr lang="en-US" sz="1150" dirty="0"/>
          </a:p>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Susun kalender kegiatan terpadu satu semester.</a:t>
            </a:r>
            <a:endParaRPr lang="en-US" sz="1150" dirty="0"/>
          </a:p>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Selenggarakan kelas orang tua perdana.</a:t>
            </a:r>
            <a:endParaRPr lang="en-US" sz="1150" dirty="0"/>
          </a:p>
        </p:txBody>
      </p:sp>
      <p:sp>
        <p:nvSpPr>
          <p:cNvPr id="20" name="Shape 16"/>
          <p:cNvSpPr/>
          <p:nvPr/>
        </p:nvSpPr>
        <p:spPr>
          <a:xfrm>
            <a:off x="8146085" y="1572768"/>
            <a:ext cx="3478682" cy="4023360"/>
          </a:xfrm>
          <a:prstGeom prst="roundRect">
            <a:avLst>
              <a:gd name="adj" fmla="val 3680"/>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1" name="Shape 17"/>
          <p:cNvSpPr/>
          <p:nvPr/>
        </p:nvSpPr>
        <p:spPr>
          <a:xfrm>
            <a:off x="8146085" y="1572768"/>
            <a:ext cx="3478682" cy="859536"/>
          </a:xfrm>
          <a:prstGeom prst="roundRect">
            <a:avLst>
              <a:gd name="adj" fmla="val 14894"/>
            </a:avLst>
          </a:prstGeom>
          <a:solidFill>
            <a:srgbClr val="2FA36B"/>
          </a:solidFill>
          <a:ln w="12700">
            <a:solidFill>
              <a:srgbClr val="333333"/>
            </a:solidFill>
            <a:prstDash val="solid"/>
          </a:ln>
        </p:spPr>
      </p:sp>
      <p:sp>
        <p:nvSpPr>
          <p:cNvPr id="22" name="Shape 18"/>
          <p:cNvSpPr/>
          <p:nvPr/>
        </p:nvSpPr>
        <p:spPr>
          <a:xfrm>
            <a:off x="8146085" y="2157984"/>
            <a:ext cx="3478682" cy="274320"/>
          </a:xfrm>
          <a:prstGeom prst="rect">
            <a:avLst/>
          </a:prstGeom>
          <a:solidFill>
            <a:srgbClr val="2FA36B"/>
          </a:solidFill>
          <a:ln w="12700">
            <a:solidFill>
              <a:srgbClr val="333333"/>
            </a:solidFill>
            <a:prstDash val="solid"/>
          </a:ln>
        </p:spPr>
      </p:sp>
      <p:pic>
        <p:nvPicPr>
          <p:cNvPr id="23" name="Image 2" descr="preencoded.png">    </p:cNvPr>
          <p:cNvPicPr>
            <a:picLocks noChangeAspect="1"/>
          </p:cNvPicPr>
          <p:nvPr/>
        </p:nvPicPr>
        <p:blipFill>
          <a:blip r:embed="rId3"/>
          <a:stretch>
            <a:fillRect/>
          </a:stretch>
        </p:blipFill>
        <p:spPr>
          <a:xfrm>
            <a:off x="8402117" y="1810512"/>
            <a:ext cx="384048" cy="384048"/>
          </a:xfrm>
          <a:prstGeom prst="rect">
            <a:avLst/>
          </a:prstGeom>
        </p:spPr>
      </p:pic>
      <p:sp>
        <p:nvSpPr>
          <p:cNvPr id="24" name="Text 19"/>
          <p:cNvSpPr/>
          <p:nvPr/>
        </p:nvSpPr>
        <p:spPr>
          <a:xfrm>
            <a:off x="8932469" y="1737360"/>
            <a:ext cx="2472842" cy="310896"/>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90 HARI</a:t>
            </a:r>
            <a:endParaRPr lang="en-US" sz="1800" dirty="0"/>
          </a:p>
        </p:txBody>
      </p:sp>
      <p:sp>
        <p:nvSpPr>
          <p:cNvPr id="25" name="Text 20"/>
          <p:cNvSpPr/>
          <p:nvPr/>
        </p:nvSpPr>
        <p:spPr>
          <a:xfrm>
            <a:off x="8932469" y="2048256"/>
            <a:ext cx="2472842" cy="274320"/>
          </a:xfrm>
          <a:prstGeom prst="rect">
            <a:avLst/>
          </a:prstGeom>
          <a:noFill/>
          <a:ln/>
        </p:spPr>
        <p:txBody>
          <a:bodyPr wrap="square" lIns="0" tIns="0" rIns="0" bIns="0" rtlCol="0" anchor="ctr"/>
          <a:lstStyle/>
          <a:p>
            <a:pPr indent="0" marL="0">
              <a:buNone/>
            </a:pPr>
            <a:r>
              <a:rPr lang="en-US" sz="1150" dirty="0">
                <a:solidFill>
                  <a:srgbClr val="FFFFFF">
                    <a:alpha val="85000"/>
                  </a:srgbClr>
                </a:solidFill>
                <a:latin typeface="Calibri" pitchFamily="34" charset="0"/>
                <a:ea typeface="Calibri" pitchFamily="34" charset="-122"/>
                <a:cs typeface="Calibri" pitchFamily="34" charset="-120"/>
              </a:rPr>
              <a:t>Menjalankan &amp; Menilai</a:t>
            </a:r>
            <a:endParaRPr lang="en-US" sz="1150" dirty="0"/>
          </a:p>
        </p:txBody>
      </p:sp>
      <p:sp>
        <p:nvSpPr>
          <p:cNvPr id="26" name="Text 21"/>
          <p:cNvSpPr/>
          <p:nvPr/>
        </p:nvSpPr>
        <p:spPr>
          <a:xfrm>
            <a:off x="8420405" y="2633472"/>
            <a:ext cx="2930042" cy="2743200"/>
          </a:xfrm>
          <a:prstGeom prst="rect">
            <a:avLst/>
          </a:prstGeom>
          <a:noFill/>
          <a:ln/>
        </p:spPr>
        <p:txBody>
          <a:bodyPr wrap="square" lIns="0" tIns="0" rIns="0" bIns="0" rtlCol="0" anchor="t"/>
          <a:lstStyle/>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Jalankan posyandu dan pemeriksaan terjadwal.</a:t>
            </a:r>
            <a:endParaRPr lang="en-US" sz="1150" dirty="0"/>
          </a:p>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Dokumentasikan kegiatan dan perbarui data.</a:t>
            </a:r>
            <a:endParaRPr lang="en-US" sz="1150" dirty="0"/>
          </a:p>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Refleksi bersama mitra dan orang tua.</a:t>
            </a:r>
            <a:endParaRPr lang="en-US" sz="1150" dirty="0"/>
          </a:p>
          <a:p>
            <a:pPr marL="342900" indent="-342900">
              <a:spcAft>
                <a:spcPts val="700"/>
              </a:spcAft>
              <a:buSzPct val="100000"/>
              <a:buChar char="•"/>
            </a:pPr>
            <a:r>
              <a:rPr lang="en-US" sz="1150" dirty="0">
                <a:solidFill>
                  <a:srgbClr val="3E5C77"/>
                </a:solidFill>
                <a:latin typeface="Calibri" pitchFamily="34" charset="0"/>
                <a:ea typeface="Calibri" pitchFamily="34" charset="-122"/>
                <a:cs typeface="Calibri" pitchFamily="34" charset="-120"/>
              </a:rPr>
              <a:t>Perluas kemitraan ke indikator yang tertinggal.</a:t>
            </a:r>
            <a:endParaRPr lang="en-US" sz="1150" dirty="0"/>
          </a:p>
        </p:txBody>
      </p:sp>
      <p:sp>
        <p:nvSpPr>
          <p:cNvPr id="27" name="Text 22"/>
          <p:cNvSpPr/>
          <p:nvPr/>
        </p:nvSpPr>
        <p:spPr>
          <a:xfrm>
            <a:off x="566928" y="5779008"/>
            <a:ext cx="11057839" cy="365760"/>
          </a:xfrm>
          <a:prstGeom prst="rect">
            <a:avLst/>
          </a:prstGeom>
          <a:noFill/>
          <a:ln/>
        </p:spPr>
        <p:txBody>
          <a:bodyPr wrap="square" lIns="0" tIns="0" rIns="0" bIns="0" rtlCol="0" anchor="ctr"/>
          <a:lstStyle/>
          <a:p>
            <a:pPr algn="ctr" indent="0" marL="0">
              <a:buNone/>
            </a:pPr>
            <a:r>
              <a:rPr lang="en-US" sz="1250" b="1" dirty="0">
                <a:solidFill>
                  <a:srgbClr val="173753"/>
                </a:solidFill>
                <a:latin typeface="Calibri" pitchFamily="34" charset="0"/>
                <a:ea typeface="Calibri" pitchFamily="34" charset="-122"/>
                <a:cs typeface="Calibri" pitchFamily="34" charset="-120"/>
              </a:rPr>
              <a:t>Tempelkan lembar ini di ruang guru. Rencana yang terlihat setiap hari jauh lebih mungkin dijalankan.</a:t>
            </a:r>
            <a:endParaRPr lang="en-US" sz="1250" dirty="0"/>
          </a:p>
        </p:txBody>
      </p:sp>
      <p:sp>
        <p:nvSpPr>
          <p:cNvPr id="28" name="Text 23"/>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29" name="Text 24"/>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D"/>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E3F6EC">
              <a:alpha val="55000"/>
            </a:srgbClr>
          </a:solidFill>
          <a:ln/>
        </p:spPr>
      </p:sp>
      <p:sp>
        <p:nvSpPr>
          <p:cNvPr id="3" name="Shape 1"/>
          <p:cNvSpPr/>
          <p:nvPr/>
        </p:nvSpPr>
        <p:spPr>
          <a:xfrm>
            <a:off x="10820095" y="5303520"/>
            <a:ext cx="2926080" cy="2926080"/>
          </a:xfrm>
          <a:prstGeom prst="ellipse">
            <a:avLst/>
          </a:prstGeom>
          <a:solidFill>
            <a:srgbClr val="E3F6EC">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2FA36B"/>
                </a:solidFill>
                <a:latin typeface="Calibri" pitchFamily="34" charset="0"/>
                <a:ea typeface="Calibri" pitchFamily="34" charset="-122"/>
                <a:cs typeface="Calibri" pitchFamily="34" charset="-120"/>
              </a:rPr>
              <a:t>AKSI NYATA</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Lembar Cek Aksi di Satuan PAUD</a:t>
            </a:r>
            <a:endParaRPr lang="en-US" sz="3200" dirty="0"/>
          </a:p>
        </p:txBody>
      </p:sp>
      <p:sp>
        <p:nvSpPr>
          <p:cNvPr id="6" name="Shape 4"/>
          <p:cNvSpPr/>
          <p:nvPr/>
        </p:nvSpPr>
        <p:spPr>
          <a:xfrm>
            <a:off x="566928" y="1517904"/>
            <a:ext cx="5394960" cy="658368"/>
          </a:xfrm>
          <a:prstGeom prst="roundRect">
            <a:avLst>
              <a:gd name="adj" fmla="val 1944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786384" y="1682496"/>
            <a:ext cx="329184" cy="329184"/>
          </a:xfrm>
          <a:prstGeom prst="roundRect">
            <a:avLst>
              <a:gd name="adj" fmla="val 22222"/>
            </a:avLst>
          </a:prstGeom>
          <a:solidFill>
            <a:srgbClr val="E3F6EC"/>
          </a:solidFill>
          <a:ln w="17780">
            <a:solidFill>
              <a:srgbClr val="2FA36B"/>
            </a:solidFill>
            <a:prstDash val="solid"/>
          </a:ln>
        </p:spPr>
      </p:sp>
      <p:pic>
        <p:nvPicPr>
          <p:cNvPr id="8" name="Image 0" descr="preencoded.png">    </p:cNvPr>
          <p:cNvPicPr>
            <a:picLocks noChangeAspect="1"/>
          </p:cNvPicPr>
          <p:nvPr/>
        </p:nvPicPr>
        <p:blipFill>
          <a:blip r:embed="rId1"/>
          <a:stretch>
            <a:fillRect/>
          </a:stretch>
        </p:blipFill>
        <p:spPr>
          <a:xfrm>
            <a:off x="850392" y="1746504"/>
            <a:ext cx="201168" cy="201168"/>
          </a:xfrm>
          <a:prstGeom prst="rect">
            <a:avLst/>
          </a:prstGeom>
        </p:spPr>
      </p:pic>
      <p:sp>
        <p:nvSpPr>
          <p:cNvPr id="9" name="Text 6"/>
          <p:cNvSpPr/>
          <p:nvPr/>
        </p:nvSpPr>
        <p:spPr>
          <a:xfrm>
            <a:off x="1243584" y="1572768"/>
            <a:ext cx="4517136" cy="548640"/>
          </a:xfrm>
          <a:prstGeom prst="rect">
            <a:avLst/>
          </a:prstGeom>
          <a:noFill/>
          <a:ln/>
        </p:spPr>
        <p:txBody>
          <a:bodyPr wrap="square" lIns="0" tIns="0" rIns="0" bIns="0" rtlCol="0" anchor="ctr"/>
          <a:lstStyle/>
          <a:p>
            <a:pPr indent="0" marL="0">
              <a:buNone/>
            </a:pPr>
            <a:r>
              <a:rPr lang="en-US" sz="1150" dirty="0">
                <a:solidFill>
                  <a:srgbClr val="173753"/>
                </a:solidFill>
                <a:latin typeface="Calibri" pitchFamily="34" charset="0"/>
                <a:ea typeface="Calibri" pitchFamily="34" charset="-122"/>
                <a:cs typeface="Calibri" pitchFamily="34" charset="-120"/>
              </a:rPr>
              <a:t>Menyelenggarakan kelas orang tua minimal satu kali per semester.</a:t>
            </a:r>
            <a:endParaRPr lang="en-US" sz="1150" dirty="0"/>
          </a:p>
        </p:txBody>
      </p:sp>
      <p:sp>
        <p:nvSpPr>
          <p:cNvPr id="10" name="Shape 7"/>
          <p:cNvSpPr/>
          <p:nvPr/>
        </p:nvSpPr>
        <p:spPr>
          <a:xfrm>
            <a:off x="6236208" y="1517904"/>
            <a:ext cx="5394960" cy="658368"/>
          </a:xfrm>
          <a:prstGeom prst="roundRect">
            <a:avLst>
              <a:gd name="adj" fmla="val 1944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1" name="Shape 8"/>
          <p:cNvSpPr/>
          <p:nvPr/>
        </p:nvSpPr>
        <p:spPr>
          <a:xfrm>
            <a:off x="6455664" y="1682496"/>
            <a:ext cx="329184" cy="329184"/>
          </a:xfrm>
          <a:prstGeom prst="roundRect">
            <a:avLst>
              <a:gd name="adj" fmla="val 22222"/>
            </a:avLst>
          </a:prstGeom>
          <a:solidFill>
            <a:srgbClr val="E3F6EC"/>
          </a:solidFill>
          <a:ln w="17780">
            <a:solidFill>
              <a:srgbClr val="2FA36B"/>
            </a:solidFill>
            <a:prstDash val="solid"/>
          </a:ln>
        </p:spPr>
      </p:sp>
      <p:pic>
        <p:nvPicPr>
          <p:cNvPr id="12" name="Image 1" descr="preencoded.png">    </p:cNvPr>
          <p:cNvPicPr>
            <a:picLocks noChangeAspect="1"/>
          </p:cNvPicPr>
          <p:nvPr/>
        </p:nvPicPr>
        <p:blipFill>
          <a:blip r:embed="rId2"/>
          <a:stretch>
            <a:fillRect/>
          </a:stretch>
        </p:blipFill>
        <p:spPr>
          <a:xfrm>
            <a:off x="6519672" y="1746504"/>
            <a:ext cx="201168" cy="201168"/>
          </a:xfrm>
          <a:prstGeom prst="rect">
            <a:avLst/>
          </a:prstGeom>
        </p:spPr>
      </p:pic>
      <p:sp>
        <p:nvSpPr>
          <p:cNvPr id="13" name="Text 9"/>
          <p:cNvSpPr/>
          <p:nvPr/>
        </p:nvSpPr>
        <p:spPr>
          <a:xfrm>
            <a:off x="6912864" y="1572768"/>
            <a:ext cx="4517136" cy="548640"/>
          </a:xfrm>
          <a:prstGeom prst="rect">
            <a:avLst/>
          </a:prstGeom>
          <a:noFill/>
          <a:ln/>
        </p:spPr>
        <p:txBody>
          <a:bodyPr wrap="square" lIns="0" tIns="0" rIns="0" bIns="0" rtlCol="0" anchor="ctr"/>
          <a:lstStyle/>
          <a:p>
            <a:pPr indent="0" marL="0">
              <a:buNone/>
            </a:pPr>
            <a:r>
              <a:rPr lang="en-US" sz="1150" dirty="0">
                <a:solidFill>
                  <a:srgbClr val="173753"/>
                </a:solidFill>
                <a:latin typeface="Calibri" pitchFamily="34" charset="0"/>
                <a:ea typeface="Calibri" pitchFamily="34" charset="-122"/>
                <a:cs typeface="Calibri" pitchFamily="34" charset="-120"/>
              </a:rPr>
              <a:t>Memantau pertumbuhan anak: berat badan, tinggi badan, dan lingkar kepala.</a:t>
            </a:r>
            <a:endParaRPr lang="en-US" sz="1150" dirty="0"/>
          </a:p>
        </p:txBody>
      </p:sp>
      <p:sp>
        <p:nvSpPr>
          <p:cNvPr id="14" name="Shape 10"/>
          <p:cNvSpPr/>
          <p:nvPr/>
        </p:nvSpPr>
        <p:spPr>
          <a:xfrm>
            <a:off x="566928" y="2340864"/>
            <a:ext cx="5394960" cy="658368"/>
          </a:xfrm>
          <a:prstGeom prst="roundRect">
            <a:avLst>
              <a:gd name="adj" fmla="val 1944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5" name="Shape 11"/>
          <p:cNvSpPr/>
          <p:nvPr/>
        </p:nvSpPr>
        <p:spPr>
          <a:xfrm>
            <a:off x="786384" y="2505456"/>
            <a:ext cx="329184" cy="329184"/>
          </a:xfrm>
          <a:prstGeom prst="roundRect">
            <a:avLst>
              <a:gd name="adj" fmla="val 22222"/>
            </a:avLst>
          </a:prstGeom>
          <a:solidFill>
            <a:srgbClr val="E3F6EC"/>
          </a:solidFill>
          <a:ln w="17780">
            <a:solidFill>
              <a:srgbClr val="2FA36B"/>
            </a:solidFill>
            <a:prstDash val="solid"/>
          </a:ln>
        </p:spPr>
      </p:sp>
      <p:pic>
        <p:nvPicPr>
          <p:cNvPr id="16" name="Image 2" descr="preencoded.png">    </p:cNvPr>
          <p:cNvPicPr>
            <a:picLocks noChangeAspect="1"/>
          </p:cNvPicPr>
          <p:nvPr/>
        </p:nvPicPr>
        <p:blipFill>
          <a:blip r:embed="rId3"/>
          <a:stretch>
            <a:fillRect/>
          </a:stretch>
        </p:blipFill>
        <p:spPr>
          <a:xfrm>
            <a:off x="850392" y="2569464"/>
            <a:ext cx="201168" cy="201168"/>
          </a:xfrm>
          <a:prstGeom prst="rect">
            <a:avLst/>
          </a:prstGeom>
        </p:spPr>
      </p:pic>
      <p:sp>
        <p:nvSpPr>
          <p:cNvPr id="17" name="Text 12"/>
          <p:cNvSpPr/>
          <p:nvPr/>
        </p:nvSpPr>
        <p:spPr>
          <a:xfrm>
            <a:off x="1243584" y="2395728"/>
            <a:ext cx="4517136" cy="548640"/>
          </a:xfrm>
          <a:prstGeom prst="rect">
            <a:avLst/>
          </a:prstGeom>
          <a:noFill/>
          <a:ln/>
        </p:spPr>
        <p:txBody>
          <a:bodyPr wrap="square" lIns="0" tIns="0" rIns="0" bIns="0" rtlCol="0" anchor="ctr"/>
          <a:lstStyle/>
          <a:p>
            <a:pPr indent="0" marL="0">
              <a:buNone/>
            </a:pPr>
            <a:r>
              <a:rPr lang="en-US" sz="1150" dirty="0">
                <a:solidFill>
                  <a:srgbClr val="173753"/>
                </a:solidFill>
                <a:latin typeface="Calibri" pitchFamily="34" charset="0"/>
                <a:ea typeface="Calibri" pitchFamily="34" charset="-122"/>
                <a:cs typeface="Calibri" pitchFamily="34" charset="-120"/>
              </a:rPr>
              <a:t>Memantau perkembangan anak dengan DDTK/KPSP/KMS/KIA/KKA.</a:t>
            </a:r>
            <a:endParaRPr lang="en-US" sz="1150" dirty="0"/>
          </a:p>
        </p:txBody>
      </p:sp>
      <p:sp>
        <p:nvSpPr>
          <p:cNvPr id="18" name="Shape 13"/>
          <p:cNvSpPr/>
          <p:nvPr/>
        </p:nvSpPr>
        <p:spPr>
          <a:xfrm>
            <a:off x="6236208" y="2340864"/>
            <a:ext cx="5394960" cy="658368"/>
          </a:xfrm>
          <a:prstGeom prst="roundRect">
            <a:avLst>
              <a:gd name="adj" fmla="val 1944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9" name="Shape 14"/>
          <p:cNvSpPr/>
          <p:nvPr/>
        </p:nvSpPr>
        <p:spPr>
          <a:xfrm>
            <a:off x="6455664" y="2505456"/>
            <a:ext cx="329184" cy="329184"/>
          </a:xfrm>
          <a:prstGeom prst="roundRect">
            <a:avLst>
              <a:gd name="adj" fmla="val 22222"/>
            </a:avLst>
          </a:prstGeom>
          <a:solidFill>
            <a:srgbClr val="E3F6EC"/>
          </a:solidFill>
          <a:ln w="17780">
            <a:solidFill>
              <a:srgbClr val="2FA36B"/>
            </a:solidFill>
            <a:prstDash val="solid"/>
          </a:ln>
        </p:spPr>
      </p:sp>
      <p:pic>
        <p:nvPicPr>
          <p:cNvPr id="20" name="Image 3" descr="preencoded.png">    </p:cNvPr>
          <p:cNvPicPr>
            <a:picLocks noChangeAspect="1"/>
          </p:cNvPicPr>
          <p:nvPr/>
        </p:nvPicPr>
        <p:blipFill>
          <a:blip r:embed="rId4"/>
          <a:stretch>
            <a:fillRect/>
          </a:stretch>
        </p:blipFill>
        <p:spPr>
          <a:xfrm>
            <a:off x="6519672" y="2569464"/>
            <a:ext cx="201168" cy="201168"/>
          </a:xfrm>
          <a:prstGeom prst="rect">
            <a:avLst/>
          </a:prstGeom>
        </p:spPr>
      </p:pic>
      <p:sp>
        <p:nvSpPr>
          <p:cNvPr id="21" name="Text 15"/>
          <p:cNvSpPr/>
          <p:nvPr/>
        </p:nvSpPr>
        <p:spPr>
          <a:xfrm>
            <a:off x="6912864" y="2395728"/>
            <a:ext cx="4517136" cy="548640"/>
          </a:xfrm>
          <a:prstGeom prst="rect">
            <a:avLst/>
          </a:prstGeom>
          <a:noFill/>
          <a:ln/>
        </p:spPr>
        <p:txBody>
          <a:bodyPr wrap="square" lIns="0" tIns="0" rIns="0" bIns="0" rtlCol="0" anchor="ctr"/>
          <a:lstStyle/>
          <a:p>
            <a:pPr indent="0" marL="0">
              <a:buNone/>
            </a:pPr>
            <a:r>
              <a:rPr lang="en-US" sz="1150" dirty="0">
                <a:solidFill>
                  <a:srgbClr val="173753"/>
                </a:solidFill>
                <a:latin typeface="Calibri" pitchFamily="34" charset="0"/>
                <a:ea typeface="Calibri" pitchFamily="34" charset="-122"/>
                <a:cs typeface="Calibri" pitchFamily="34" charset="-120"/>
              </a:rPr>
              <a:t>Berkoordinasi dengan puskesmas dan posyandu secara terjadwal.</a:t>
            </a:r>
            <a:endParaRPr lang="en-US" sz="1150" dirty="0"/>
          </a:p>
        </p:txBody>
      </p:sp>
      <p:sp>
        <p:nvSpPr>
          <p:cNvPr id="22" name="Shape 16"/>
          <p:cNvSpPr/>
          <p:nvPr/>
        </p:nvSpPr>
        <p:spPr>
          <a:xfrm>
            <a:off x="566928" y="3163824"/>
            <a:ext cx="5394960" cy="658368"/>
          </a:xfrm>
          <a:prstGeom prst="roundRect">
            <a:avLst>
              <a:gd name="adj" fmla="val 1944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3" name="Shape 17"/>
          <p:cNvSpPr/>
          <p:nvPr/>
        </p:nvSpPr>
        <p:spPr>
          <a:xfrm>
            <a:off x="786384" y="3328416"/>
            <a:ext cx="329184" cy="329184"/>
          </a:xfrm>
          <a:prstGeom prst="roundRect">
            <a:avLst>
              <a:gd name="adj" fmla="val 22222"/>
            </a:avLst>
          </a:prstGeom>
          <a:solidFill>
            <a:srgbClr val="E3F6EC"/>
          </a:solidFill>
          <a:ln w="17780">
            <a:solidFill>
              <a:srgbClr val="2FA36B"/>
            </a:solidFill>
            <a:prstDash val="solid"/>
          </a:ln>
        </p:spPr>
      </p:sp>
      <p:pic>
        <p:nvPicPr>
          <p:cNvPr id="24" name="Image 4" descr="preencoded.png">    </p:cNvPr>
          <p:cNvPicPr>
            <a:picLocks noChangeAspect="1"/>
          </p:cNvPicPr>
          <p:nvPr/>
        </p:nvPicPr>
        <p:blipFill>
          <a:blip r:embed="rId5"/>
          <a:stretch>
            <a:fillRect/>
          </a:stretch>
        </p:blipFill>
        <p:spPr>
          <a:xfrm>
            <a:off x="850392" y="3392424"/>
            <a:ext cx="201168" cy="201168"/>
          </a:xfrm>
          <a:prstGeom prst="rect">
            <a:avLst/>
          </a:prstGeom>
        </p:spPr>
      </p:pic>
      <p:sp>
        <p:nvSpPr>
          <p:cNvPr id="25" name="Text 18"/>
          <p:cNvSpPr/>
          <p:nvPr/>
        </p:nvSpPr>
        <p:spPr>
          <a:xfrm>
            <a:off x="1243584" y="3218688"/>
            <a:ext cx="4517136" cy="548640"/>
          </a:xfrm>
          <a:prstGeom prst="rect">
            <a:avLst/>
          </a:prstGeom>
          <a:noFill/>
          <a:ln/>
        </p:spPr>
        <p:txBody>
          <a:bodyPr wrap="square" lIns="0" tIns="0" rIns="0" bIns="0" rtlCol="0" anchor="ctr"/>
          <a:lstStyle/>
          <a:p>
            <a:pPr indent="0" marL="0">
              <a:buNone/>
            </a:pPr>
            <a:r>
              <a:rPr lang="en-US" sz="1150" dirty="0">
                <a:solidFill>
                  <a:srgbClr val="173753"/>
                </a:solidFill>
                <a:latin typeface="Calibri" pitchFamily="34" charset="0"/>
                <a:ea typeface="Calibri" pitchFamily="34" charset="-122"/>
                <a:cs typeface="Calibri" pitchFamily="34" charset="-120"/>
              </a:rPr>
              <a:t>Membiasakan PHBS: cuci tangan, sikat gigi, dan kebersihan diri.</a:t>
            </a:r>
            <a:endParaRPr lang="en-US" sz="1150" dirty="0"/>
          </a:p>
        </p:txBody>
      </p:sp>
      <p:sp>
        <p:nvSpPr>
          <p:cNvPr id="26" name="Shape 19"/>
          <p:cNvSpPr/>
          <p:nvPr/>
        </p:nvSpPr>
        <p:spPr>
          <a:xfrm>
            <a:off x="6236208" y="3163824"/>
            <a:ext cx="5394960" cy="658368"/>
          </a:xfrm>
          <a:prstGeom prst="roundRect">
            <a:avLst>
              <a:gd name="adj" fmla="val 1944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7" name="Shape 20"/>
          <p:cNvSpPr/>
          <p:nvPr/>
        </p:nvSpPr>
        <p:spPr>
          <a:xfrm>
            <a:off x="6455664" y="3328416"/>
            <a:ext cx="329184" cy="329184"/>
          </a:xfrm>
          <a:prstGeom prst="roundRect">
            <a:avLst>
              <a:gd name="adj" fmla="val 22222"/>
            </a:avLst>
          </a:prstGeom>
          <a:solidFill>
            <a:srgbClr val="E3F6EC"/>
          </a:solidFill>
          <a:ln w="17780">
            <a:solidFill>
              <a:srgbClr val="2FA36B"/>
            </a:solidFill>
            <a:prstDash val="solid"/>
          </a:ln>
        </p:spPr>
      </p:sp>
      <p:pic>
        <p:nvPicPr>
          <p:cNvPr id="28" name="Image 5" descr="preencoded.png">    </p:cNvPr>
          <p:cNvPicPr>
            <a:picLocks noChangeAspect="1"/>
          </p:cNvPicPr>
          <p:nvPr/>
        </p:nvPicPr>
        <p:blipFill>
          <a:blip r:embed="rId6"/>
          <a:stretch>
            <a:fillRect/>
          </a:stretch>
        </p:blipFill>
        <p:spPr>
          <a:xfrm>
            <a:off x="6519672" y="3392424"/>
            <a:ext cx="201168" cy="201168"/>
          </a:xfrm>
          <a:prstGeom prst="rect">
            <a:avLst/>
          </a:prstGeom>
        </p:spPr>
      </p:pic>
      <p:sp>
        <p:nvSpPr>
          <p:cNvPr id="29" name="Text 21"/>
          <p:cNvSpPr/>
          <p:nvPr/>
        </p:nvSpPr>
        <p:spPr>
          <a:xfrm>
            <a:off x="6912864" y="3218688"/>
            <a:ext cx="4517136" cy="548640"/>
          </a:xfrm>
          <a:prstGeom prst="rect">
            <a:avLst/>
          </a:prstGeom>
          <a:noFill/>
          <a:ln/>
        </p:spPr>
        <p:txBody>
          <a:bodyPr wrap="square" lIns="0" tIns="0" rIns="0" bIns="0" rtlCol="0" anchor="ctr"/>
          <a:lstStyle/>
          <a:p>
            <a:pPr indent="0" marL="0">
              <a:buNone/>
            </a:pPr>
            <a:r>
              <a:rPr lang="en-US" sz="1150" dirty="0">
                <a:solidFill>
                  <a:srgbClr val="173753"/>
                </a:solidFill>
                <a:latin typeface="Calibri" pitchFamily="34" charset="0"/>
                <a:ea typeface="Calibri" pitchFamily="34" charset="-122"/>
                <a:cs typeface="Calibri" pitchFamily="34" charset="-120"/>
              </a:rPr>
              <a:t>Memberikan PMT atau makanan bergizi minimal tiga bulan sekali.</a:t>
            </a:r>
            <a:endParaRPr lang="en-US" sz="1150" dirty="0"/>
          </a:p>
        </p:txBody>
      </p:sp>
      <p:sp>
        <p:nvSpPr>
          <p:cNvPr id="30" name="Shape 22"/>
          <p:cNvSpPr/>
          <p:nvPr/>
        </p:nvSpPr>
        <p:spPr>
          <a:xfrm>
            <a:off x="566928" y="3986784"/>
            <a:ext cx="5394960" cy="658368"/>
          </a:xfrm>
          <a:prstGeom prst="roundRect">
            <a:avLst>
              <a:gd name="adj" fmla="val 1944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1" name="Shape 23"/>
          <p:cNvSpPr/>
          <p:nvPr/>
        </p:nvSpPr>
        <p:spPr>
          <a:xfrm>
            <a:off x="786384" y="4151376"/>
            <a:ext cx="329184" cy="329184"/>
          </a:xfrm>
          <a:prstGeom prst="roundRect">
            <a:avLst>
              <a:gd name="adj" fmla="val 22222"/>
            </a:avLst>
          </a:prstGeom>
          <a:solidFill>
            <a:srgbClr val="E3F6EC"/>
          </a:solidFill>
          <a:ln w="17780">
            <a:solidFill>
              <a:srgbClr val="2FA36B"/>
            </a:solidFill>
            <a:prstDash val="solid"/>
          </a:ln>
        </p:spPr>
      </p:sp>
      <p:pic>
        <p:nvPicPr>
          <p:cNvPr id="32" name="Image 6" descr="preencoded.png">    </p:cNvPr>
          <p:cNvPicPr>
            <a:picLocks noChangeAspect="1"/>
          </p:cNvPicPr>
          <p:nvPr/>
        </p:nvPicPr>
        <p:blipFill>
          <a:blip r:embed="rId7"/>
          <a:stretch>
            <a:fillRect/>
          </a:stretch>
        </p:blipFill>
        <p:spPr>
          <a:xfrm>
            <a:off x="850392" y="4215384"/>
            <a:ext cx="201168" cy="201168"/>
          </a:xfrm>
          <a:prstGeom prst="rect">
            <a:avLst/>
          </a:prstGeom>
        </p:spPr>
      </p:pic>
      <p:sp>
        <p:nvSpPr>
          <p:cNvPr id="33" name="Text 24"/>
          <p:cNvSpPr/>
          <p:nvPr/>
        </p:nvSpPr>
        <p:spPr>
          <a:xfrm>
            <a:off x="1243584" y="4041648"/>
            <a:ext cx="4517136" cy="548640"/>
          </a:xfrm>
          <a:prstGeom prst="rect">
            <a:avLst/>
          </a:prstGeom>
          <a:noFill/>
          <a:ln/>
        </p:spPr>
        <p:txBody>
          <a:bodyPr wrap="square" lIns="0" tIns="0" rIns="0" bIns="0" rtlCol="0" anchor="ctr"/>
          <a:lstStyle/>
          <a:p>
            <a:pPr indent="0" marL="0">
              <a:buNone/>
            </a:pPr>
            <a:r>
              <a:rPr lang="en-US" sz="1150" dirty="0">
                <a:solidFill>
                  <a:srgbClr val="173753"/>
                </a:solidFill>
                <a:latin typeface="Calibri" pitchFamily="34" charset="0"/>
                <a:ea typeface="Calibri" pitchFamily="34" charset="-122"/>
                <a:cs typeface="Calibri" pitchFamily="34" charset="-120"/>
              </a:rPr>
              <a:t>Memastikan seluruh peserta didik memiliki NIK.</a:t>
            </a:r>
            <a:endParaRPr lang="en-US" sz="1150" dirty="0"/>
          </a:p>
        </p:txBody>
      </p:sp>
      <p:sp>
        <p:nvSpPr>
          <p:cNvPr id="34" name="Shape 25"/>
          <p:cNvSpPr/>
          <p:nvPr/>
        </p:nvSpPr>
        <p:spPr>
          <a:xfrm>
            <a:off x="6236208" y="3986784"/>
            <a:ext cx="5394960" cy="658368"/>
          </a:xfrm>
          <a:prstGeom prst="roundRect">
            <a:avLst>
              <a:gd name="adj" fmla="val 19444"/>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5" name="Shape 26"/>
          <p:cNvSpPr/>
          <p:nvPr/>
        </p:nvSpPr>
        <p:spPr>
          <a:xfrm>
            <a:off x="6455664" y="4151376"/>
            <a:ext cx="329184" cy="329184"/>
          </a:xfrm>
          <a:prstGeom prst="roundRect">
            <a:avLst>
              <a:gd name="adj" fmla="val 22222"/>
            </a:avLst>
          </a:prstGeom>
          <a:solidFill>
            <a:srgbClr val="E3F6EC"/>
          </a:solidFill>
          <a:ln w="17780">
            <a:solidFill>
              <a:srgbClr val="2FA36B"/>
            </a:solidFill>
            <a:prstDash val="solid"/>
          </a:ln>
        </p:spPr>
      </p:sp>
      <p:pic>
        <p:nvPicPr>
          <p:cNvPr id="36" name="Image 7" descr="preencoded.png">    </p:cNvPr>
          <p:cNvPicPr>
            <a:picLocks noChangeAspect="1"/>
          </p:cNvPicPr>
          <p:nvPr/>
        </p:nvPicPr>
        <p:blipFill>
          <a:blip r:embed="rId8"/>
          <a:stretch>
            <a:fillRect/>
          </a:stretch>
        </p:blipFill>
        <p:spPr>
          <a:xfrm>
            <a:off x="6519672" y="4215384"/>
            <a:ext cx="201168" cy="201168"/>
          </a:xfrm>
          <a:prstGeom prst="rect">
            <a:avLst/>
          </a:prstGeom>
        </p:spPr>
      </p:pic>
      <p:sp>
        <p:nvSpPr>
          <p:cNvPr id="37" name="Text 27"/>
          <p:cNvSpPr/>
          <p:nvPr/>
        </p:nvSpPr>
        <p:spPr>
          <a:xfrm>
            <a:off x="6912864" y="4041648"/>
            <a:ext cx="4517136" cy="548640"/>
          </a:xfrm>
          <a:prstGeom prst="rect">
            <a:avLst/>
          </a:prstGeom>
          <a:noFill/>
          <a:ln/>
        </p:spPr>
        <p:txBody>
          <a:bodyPr wrap="square" lIns="0" tIns="0" rIns="0" bIns="0" rtlCol="0" anchor="ctr"/>
          <a:lstStyle/>
          <a:p>
            <a:pPr indent="0" marL="0">
              <a:buNone/>
            </a:pPr>
            <a:r>
              <a:rPr lang="en-US" sz="1150" dirty="0">
                <a:solidFill>
                  <a:srgbClr val="173753"/>
                </a:solidFill>
                <a:latin typeface="Calibri" pitchFamily="34" charset="0"/>
                <a:ea typeface="Calibri" pitchFamily="34" charset="-122"/>
                <a:cs typeface="Calibri" pitchFamily="34" charset="-120"/>
              </a:rPr>
              <a:t>Menyediakan fasilitas sanitasi dan air bersih yang mengalir.</a:t>
            </a:r>
            <a:endParaRPr lang="en-US" sz="1150" dirty="0"/>
          </a:p>
        </p:txBody>
      </p:sp>
      <p:sp>
        <p:nvSpPr>
          <p:cNvPr id="38" name="Shape 28"/>
          <p:cNvSpPr/>
          <p:nvPr/>
        </p:nvSpPr>
        <p:spPr>
          <a:xfrm>
            <a:off x="566928" y="4864608"/>
            <a:ext cx="8595360" cy="1060704"/>
          </a:xfrm>
          <a:prstGeom prst="roundRect">
            <a:avLst>
              <a:gd name="adj" fmla="val 12069"/>
            </a:avLst>
          </a:prstGeom>
          <a:solidFill>
            <a:srgbClr val="E3F6EC"/>
          </a:solidFill>
          <a:ln w="12700">
            <a:solidFill>
              <a:srgbClr val="BCE8D1"/>
            </a:solidFill>
            <a:prstDash val="solid"/>
          </a:ln>
          <a:effectLst>
            <a:outerShdw sx="100000" sy="100000" kx="0" ky="0" algn="bl" rotWithShape="0" blurRad="177800" dist="38100" dir="5400000">
              <a:srgbClr val="0F3352">
                <a:alpha val="10000"/>
              </a:srgbClr>
            </a:outerShdw>
          </a:effectLst>
        </p:spPr>
      </p:sp>
      <p:sp>
        <p:nvSpPr>
          <p:cNvPr id="39" name="Text 29"/>
          <p:cNvSpPr/>
          <p:nvPr/>
        </p:nvSpPr>
        <p:spPr>
          <a:xfrm>
            <a:off x="877824" y="4992624"/>
            <a:ext cx="2743200" cy="274320"/>
          </a:xfrm>
          <a:prstGeom prst="rect">
            <a:avLst/>
          </a:prstGeom>
          <a:noFill/>
          <a:ln/>
        </p:spPr>
        <p:txBody>
          <a:bodyPr wrap="square" lIns="0" tIns="0" rIns="0" bIns="0" rtlCol="0" anchor="ctr"/>
          <a:lstStyle/>
          <a:p>
            <a:pPr indent="0" marL="0">
              <a:buNone/>
            </a:pPr>
            <a:r>
              <a:rPr lang="en-US" sz="1300" b="1" dirty="0">
                <a:solidFill>
                  <a:srgbClr val="176B44"/>
                </a:solidFill>
                <a:latin typeface="Calibri" pitchFamily="34" charset="0"/>
                <a:ea typeface="Calibri" pitchFamily="34" charset="-122"/>
                <a:cs typeface="Calibri" pitchFamily="34" charset="-120"/>
              </a:rPr>
              <a:t>Mulai dari satu</a:t>
            </a:r>
            <a:endParaRPr lang="en-US" sz="1300" dirty="0"/>
          </a:p>
        </p:txBody>
      </p:sp>
      <p:sp>
        <p:nvSpPr>
          <p:cNvPr id="40" name="Text 30"/>
          <p:cNvSpPr/>
          <p:nvPr/>
        </p:nvSpPr>
        <p:spPr>
          <a:xfrm>
            <a:off x="877824" y="5285232"/>
            <a:ext cx="7991856" cy="566928"/>
          </a:xfrm>
          <a:prstGeom prst="rect">
            <a:avLst/>
          </a:prstGeom>
          <a:noFill/>
          <a:ln/>
        </p:spPr>
        <p:txBody>
          <a:bodyPr wrap="square" lIns="0" tIns="0" rIns="0" bIns="0" rtlCol="0" anchor="t"/>
          <a:lstStyle/>
          <a:p>
            <a:pPr indent="0" marL="0">
              <a:buNone/>
            </a:pPr>
            <a:r>
              <a:rPr lang="en-US" sz="1200" dirty="0">
                <a:solidFill>
                  <a:srgbClr val="3E5C77"/>
                </a:solidFill>
                <a:latin typeface="Calibri" pitchFamily="34" charset="0"/>
                <a:ea typeface="Calibri" pitchFamily="34" charset="-122"/>
                <a:cs typeface="Calibri" pitchFamily="34" charset="-120"/>
              </a:rPr>
              <a:t>Pilih satu indikator yang paling tertinggal di satuan Anda, tetapkan penanggung jawabnya, dan tentukan tanggal pelaksanaannya sebelum meninggalkan ruangan ini.</a:t>
            </a:r>
            <a:endParaRPr lang="en-US" sz="1200" dirty="0"/>
          </a:p>
        </p:txBody>
      </p:sp>
      <p:pic>
        <p:nvPicPr>
          <p:cNvPr id="41" name="Image 8" descr="preencoded.png">    </p:cNvPr>
          <p:cNvPicPr>
            <a:picLocks noChangeAspect="1"/>
          </p:cNvPicPr>
          <p:nvPr/>
        </p:nvPicPr>
        <p:blipFill>
          <a:blip r:embed="rId9"/>
          <a:stretch>
            <a:fillRect/>
          </a:stretch>
        </p:blipFill>
        <p:spPr>
          <a:xfrm>
            <a:off x="10489931" y="4791456"/>
            <a:ext cx="860516" cy="1554480"/>
          </a:xfrm>
          <a:prstGeom prst="rect">
            <a:avLst/>
          </a:prstGeom>
        </p:spPr>
      </p:pic>
      <p:sp>
        <p:nvSpPr>
          <p:cNvPr id="42" name="Text 31"/>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43" name="Text 32"/>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371600" y="-1463040"/>
            <a:ext cx="3291840" cy="3291840"/>
          </a:xfrm>
          <a:prstGeom prst="ellipse">
            <a:avLst/>
          </a:prstGeom>
          <a:solidFill>
            <a:srgbClr val="DCEDFB">
              <a:alpha val="55000"/>
            </a:srgbClr>
          </a:solidFill>
          <a:ln/>
        </p:spPr>
      </p:sp>
      <p:sp>
        <p:nvSpPr>
          <p:cNvPr id="3" name="Shape 1"/>
          <p:cNvSpPr/>
          <p:nvPr/>
        </p:nvSpPr>
        <p:spPr>
          <a:xfrm>
            <a:off x="10820095" y="5303520"/>
            <a:ext cx="2926080" cy="2926080"/>
          </a:xfrm>
          <a:prstGeom prst="ellipse">
            <a:avLst/>
          </a:prstGeom>
          <a:solidFill>
            <a:srgbClr val="DCEDFB">
              <a:alpha val="45000"/>
            </a:srgbClr>
          </a:solidFill>
          <a:ln/>
        </p:spPr>
      </p:sp>
      <p:sp>
        <p:nvSpPr>
          <p:cNvPr id="4" name="Text 2"/>
          <p:cNvSpPr/>
          <p:nvPr/>
        </p:nvSpPr>
        <p:spPr>
          <a:xfrm>
            <a:off x="566928" y="365760"/>
            <a:ext cx="10607040" cy="274320"/>
          </a:xfrm>
          <a:prstGeom prst="rect">
            <a:avLst/>
          </a:prstGeom>
          <a:noFill/>
          <a:ln/>
        </p:spPr>
        <p:txBody>
          <a:bodyPr wrap="square" lIns="0" tIns="0" rIns="0" bIns="0" rtlCol="0" anchor="ctr"/>
          <a:lstStyle/>
          <a:p>
            <a:pPr indent="0" marL="0">
              <a:buNone/>
            </a:pPr>
            <a:r>
              <a:rPr lang="en-US" sz="1200" b="1" spc="200" kern="0" dirty="0">
                <a:solidFill>
                  <a:srgbClr val="F5871F"/>
                </a:solidFill>
                <a:latin typeface="Calibri" pitchFamily="34" charset="0"/>
                <a:ea typeface="Calibri" pitchFamily="34" charset="-122"/>
                <a:cs typeface="Calibri" pitchFamily="34" charset="-120"/>
              </a:rPr>
              <a:t>MENJAGA MUTU</a:t>
            </a:r>
            <a:endParaRPr lang="en-US" sz="1200" dirty="0"/>
          </a:p>
        </p:txBody>
      </p:sp>
      <p:sp>
        <p:nvSpPr>
          <p:cNvPr id="5" name="Text 3"/>
          <p:cNvSpPr/>
          <p:nvPr/>
        </p:nvSpPr>
        <p:spPr>
          <a:xfrm>
            <a:off x="566928" y="640080"/>
            <a:ext cx="10881360" cy="658368"/>
          </a:xfrm>
          <a:prstGeom prst="rect">
            <a:avLst/>
          </a:prstGeom>
          <a:noFill/>
          <a:ln/>
        </p:spPr>
        <p:txBody>
          <a:bodyPr wrap="square" lIns="0" tIns="0" rIns="0" bIns="0" rtlCol="0" anchor="ctr"/>
          <a:lstStyle/>
          <a:p>
            <a:pPr indent="0" marL="0">
              <a:buNone/>
            </a:pPr>
            <a:r>
              <a:rPr lang="en-US" sz="3200" b="1" dirty="0">
                <a:solidFill>
                  <a:srgbClr val="173753"/>
                </a:solidFill>
                <a:latin typeface="Calibri" pitchFamily="34" charset="0"/>
                <a:ea typeface="Calibri" pitchFamily="34" charset="-122"/>
                <a:cs typeface="Calibri" pitchFamily="34" charset="-120"/>
              </a:rPr>
              <a:t>Monitoring, Evaluasi, dan Perbaikan</a:t>
            </a:r>
            <a:endParaRPr lang="en-US" sz="3200" dirty="0"/>
          </a:p>
        </p:txBody>
      </p:sp>
      <p:sp>
        <p:nvSpPr>
          <p:cNvPr id="6" name="Shape 4"/>
          <p:cNvSpPr/>
          <p:nvPr/>
        </p:nvSpPr>
        <p:spPr>
          <a:xfrm>
            <a:off x="566928" y="1517904"/>
            <a:ext cx="2615184" cy="1773936"/>
          </a:xfrm>
          <a:prstGeom prst="roundRect">
            <a:avLst>
              <a:gd name="adj" fmla="val 721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7" name="Shape 5"/>
          <p:cNvSpPr/>
          <p:nvPr/>
        </p:nvSpPr>
        <p:spPr>
          <a:xfrm>
            <a:off x="786384" y="1719072"/>
            <a:ext cx="548640" cy="548640"/>
          </a:xfrm>
          <a:prstGeom prst="ellipse">
            <a:avLst>
              <a:gd name="adj" fmla="val 20000"/>
            </a:avLst>
          </a:prstGeom>
          <a:solidFill>
            <a:srgbClr val="1E76C8"/>
          </a:solidFill>
          <a:ln w="12700">
            <a:solidFill>
              <a:srgbClr val="333333"/>
            </a:solidFill>
            <a:prstDash val="solid"/>
          </a:ln>
        </p:spPr>
      </p:sp>
      <p:pic>
        <p:nvPicPr>
          <p:cNvPr id="8" name="Image 0" descr="preencoded.png">    </p:cNvPr>
          <p:cNvPicPr>
            <a:picLocks noChangeAspect="1"/>
          </p:cNvPicPr>
          <p:nvPr/>
        </p:nvPicPr>
        <p:blipFill>
          <a:blip r:embed="rId1"/>
          <a:stretch>
            <a:fillRect/>
          </a:stretch>
        </p:blipFill>
        <p:spPr>
          <a:xfrm>
            <a:off x="918058" y="1850746"/>
            <a:ext cx="285293" cy="285293"/>
          </a:xfrm>
          <a:prstGeom prst="rect">
            <a:avLst/>
          </a:prstGeom>
        </p:spPr>
      </p:pic>
      <p:sp>
        <p:nvSpPr>
          <p:cNvPr id="9" name="Text 6"/>
          <p:cNvSpPr/>
          <p:nvPr/>
        </p:nvSpPr>
        <p:spPr>
          <a:xfrm>
            <a:off x="1463040" y="1755648"/>
            <a:ext cx="1517904" cy="310896"/>
          </a:xfrm>
          <a:prstGeom prst="rect">
            <a:avLst/>
          </a:prstGeom>
          <a:noFill/>
          <a:ln/>
        </p:spPr>
        <p:txBody>
          <a:bodyPr wrap="square" lIns="0" tIns="0" rIns="0" bIns="0" rtlCol="0" anchor="ctr"/>
          <a:lstStyle/>
          <a:p>
            <a:pPr indent="0" marL="0">
              <a:buNone/>
            </a:pPr>
            <a:r>
              <a:rPr lang="en-US" sz="1400" b="1" dirty="0">
                <a:solidFill>
                  <a:srgbClr val="1E76C8"/>
                </a:solidFill>
                <a:latin typeface="Calibri" pitchFamily="34" charset="0"/>
                <a:ea typeface="Calibri" pitchFamily="34" charset="-122"/>
                <a:cs typeface="Calibri" pitchFamily="34" charset="-120"/>
              </a:rPr>
              <a:t>Rencanakan</a:t>
            </a:r>
            <a:endParaRPr lang="en-US" sz="1400" dirty="0"/>
          </a:p>
        </p:txBody>
      </p:sp>
      <p:sp>
        <p:nvSpPr>
          <p:cNvPr id="10" name="Text 7"/>
          <p:cNvSpPr/>
          <p:nvPr/>
        </p:nvSpPr>
        <p:spPr>
          <a:xfrm>
            <a:off x="786384" y="2395728"/>
            <a:ext cx="2176272" cy="76809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Tetapkan target indikator dan mitra yang dilibatkan.</a:t>
            </a:r>
            <a:endParaRPr lang="en-US" sz="1100" dirty="0"/>
          </a:p>
        </p:txBody>
      </p:sp>
      <p:sp>
        <p:nvSpPr>
          <p:cNvPr id="11" name="Shape 8"/>
          <p:cNvSpPr/>
          <p:nvPr/>
        </p:nvSpPr>
        <p:spPr>
          <a:xfrm>
            <a:off x="3200400" y="2286000"/>
            <a:ext cx="164592" cy="201168"/>
          </a:xfrm>
          <a:prstGeom prst="rightArrow">
            <a:avLst/>
          </a:prstGeom>
          <a:solidFill>
            <a:srgbClr val="B9DBF6"/>
          </a:solidFill>
          <a:ln/>
        </p:spPr>
      </p:sp>
      <p:sp>
        <p:nvSpPr>
          <p:cNvPr id="12" name="Shape 9"/>
          <p:cNvSpPr/>
          <p:nvPr/>
        </p:nvSpPr>
        <p:spPr>
          <a:xfrm>
            <a:off x="3383280" y="1517904"/>
            <a:ext cx="2615184" cy="1773936"/>
          </a:xfrm>
          <a:prstGeom prst="roundRect">
            <a:avLst>
              <a:gd name="adj" fmla="val 721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3" name="Shape 10"/>
          <p:cNvSpPr/>
          <p:nvPr/>
        </p:nvSpPr>
        <p:spPr>
          <a:xfrm>
            <a:off x="3602736" y="1719072"/>
            <a:ext cx="548640" cy="548640"/>
          </a:xfrm>
          <a:prstGeom prst="ellipse">
            <a:avLst>
              <a:gd name="adj" fmla="val 20000"/>
            </a:avLst>
          </a:prstGeom>
          <a:solidFill>
            <a:srgbClr val="F5871F"/>
          </a:solidFill>
          <a:ln w="12700">
            <a:solidFill>
              <a:srgbClr val="333333"/>
            </a:solidFill>
            <a:prstDash val="solid"/>
          </a:ln>
        </p:spPr>
      </p:sp>
      <p:pic>
        <p:nvPicPr>
          <p:cNvPr id="14" name="Image 1" descr="preencoded.png">    </p:cNvPr>
          <p:cNvPicPr>
            <a:picLocks noChangeAspect="1"/>
          </p:cNvPicPr>
          <p:nvPr/>
        </p:nvPicPr>
        <p:blipFill>
          <a:blip r:embed="rId2"/>
          <a:stretch>
            <a:fillRect/>
          </a:stretch>
        </p:blipFill>
        <p:spPr>
          <a:xfrm>
            <a:off x="3734410" y="1850746"/>
            <a:ext cx="285293" cy="285293"/>
          </a:xfrm>
          <a:prstGeom prst="rect">
            <a:avLst/>
          </a:prstGeom>
        </p:spPr>
      </p:pic>
      <p:sp>
        <p:nvSpPr>
          <p:cNvPr id="15" name="Text 11"/>
          <p:cNvSpPr/>
          <p:nvPr/>
        </p:nvSpPr>
        <p:spPr>
          <a:xfrm>
            <a:off x="4279392" y="1755648"/>
            <a:ext cx="1517904" cy="310896"/>
          </a:xfrm>
          <a:prstGeom prst="rect">
            <a:avLst/>
          </a:prstGeom>
          <a:noFill/>
          <a:ln/>
        </p:spPr>
        <p:txBody>
          <a:bodyPr wrap="square" lIns="0" tIns="0" rIns="0" bIns="0" rtlCol="0" anchor="ctr"/>
          <a:lstStyle/>
          <a:p>
            <a:pPr indent="0" marL="0">
              <a:buNone/>
            </a:pPr>
            <a:r>
              <a:rPr lang="en-US" sz="1400" b="1" dirty="0">
                <a:solidFill>
                  <a:srgbClr val="F5871F"/>
                </a:solidFill>
                <a:latin typeface="Calibri" pitchFamily="34" charset="0"/>
                <a:ea typeface="Calibri" pitchFamily="34" charset="-122"/>
                <a:cs typeface="Calibri" pitchFamily="34" charset="-120"/>
              </a:rPr>
              <a:t>Laksanakan</a:t>
            </a:r>
            <a:endParaRPr lang="en-US" sz="1400" dirty="0"/>
          </a:p>
        </p:txBody>
      </p:sp>
      <p:sp>
        <p:nvSpPr>
          <p:cNvPr id="16" name="Text 12"/>
          <p:cNvSpPr/>
          <p:nvPr/>
        </p:nvSpPr>
        <p:spPr>
          <a:xfrm>
            <a:off x="3602736" y="2395728"/>
            <a:ext cx="2176272" cy="76809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Jalankan kegiatan sesuai kalender terpadu.</a:t>
            </a:r>
            <a:endParaRPr lang="en-US" sz="1100" dirty="0"/>
          </a:p>
        </p:txBody>
      </p:sp>
      <p:sp>
        <p:nvSpPr>
          <p:cNvPr id="17" name="Shape 13"/>
          <p:cNvSpPr/>
          <p:nvPr/>
        </p:nvSpPr>
        <p:spPr>
          <a:xfrm>
            <a:off x="6016752" y="2286000"/>
            <a:ext cx="164592" cy="201168"/>
          </a:xfrm>
          <a:prstGeom prst="rightArrow">
            <a:avLst/>
          </a:prstGeom>
          <a:solidFill>
            <a:srgbClr val="B9DBF6"/>
          </a:solidFill>
          <a:ln/>
        </p:spPr>
      </p:sp>
      <p:sp>
        <p:nvSpPr>
          <p:cNvPr id="18" name="Shape 14"/>
          <p:cNvSpPr/>
          <p:nvPr/>
        </p:nvSpPr>
        <p:spPr>
          <a:xfrm>
            <a:off x="6199632" y="1517904"/>
            <a:ext cx="2615184" cy="1773936"/>
          </a:xfrm>
          <a:prstGeom prst="roundRect">
            <a:avLst>
              <a:gd name="adj" fmla="val 721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19" name="Shape 15"/>
          <p:cNvSpPr/>
          <p:nvPr/>
        </p:nvSpPr>
        <p:spPr>
          <a:xfrm>
            <a:off x="6419088" y="1719072"/>
            <a:ext cx="548640" cy="548640"/>
          </a:xfrm>
          <a:prstGeom prst="ellipse">
            <a:avLst>
              <a:gd name="adj" fmla="val 20000"/>
            </a:avLst>
          </a:prstGeom>
          <a:solidFill>
            <a:srgbClr val="2FA36B"/>
          </a:solidFill>
          <a:ln w="12700">
            <a:solidFill>
              <a:srgbClr val="333333"/>
            </a:solidFill>
            <a:prstDash val="solid"/>
          </a:ln>
        </p:spPr>
      </p:sp>
      <p:pic>
        <p:nvPicPr>
          <p:cNvPr id="20" name="Image 2" descr="preencoded.png">    </p:cNvPr>
          <p:cNvPicPr>
            <a:picLocks noChangeAspect="1"/>
          </p:cNvPicPr>
          <p:nvPr/>
        </p:nvPicPr>
        <p:blipFill>
          <a:blip r:embed="rId3"/>
          <a:stretch>
            <a:fillRect/>
          </a:stretch>
        </p:blipFill>
        <p:spPr>
          <a:xfrm>
            <a:off x="6550762" y="1850746"/>
            <a:ext cx="285293" cy="285293"/>
          </a:xfrm>
          <a:prstGeom prst="rect">
            <a:avLst/>
          </a:prstGeom>
        </p:spPr>
      </p:pic>
      <p:sp>
        <p:nvSpPr>
          <p:cNvPr id="21" name="Text 16"/>
          <p:cNvSpPr/>
          <p:nvPr/>
        </p:nvSpPr>
        <p:spPr>
          <a:xfrm>
            <a:off x="7095744" y="1755648"/>
            <a:ext cx="1517904" cy="310896"/>
          </a:xfrm>
          <a:prstGeom prst="rect">
            <a:avLst/>
          </a:prstGeom>
          <a:noFill/>
          <a:ln/>
        </p:spPr>
        <p:txBody>
          <a:bodyPr wrap="square" lIns="0" tIns="0" rIns="0" bIns="0" rtlCol="0" anchor="ctr"/>
          <a:lstStyle/>
          <a:p>
            <a:pPr indent="0" marL="0">
              <a:buNone/>
            </a:pPr>
            <a:r>
              <a:rPr lang="en-US" sz="1400" b="1" dirty="0">
                <a:solidFill>
                  <a:srgbClr val="2FA36B"/>
                </a:solidFill>
                <a:latin typeface="Calibri" pitchFamily="34" charset="0"/>
                <a:ea typeface="Calibri" pitchFamily="34" charset="-122"/>
                <a:cs typeface="Calibri" pitchFamily="34" charset="-120"/>
              </a:rPr>
              <a:t>Pantau</a:t>
            </a:r>
            <a:endParaRPr lang="en-US" sz="1400" dirty="0"/>
          </a:p>
        </p:txBody>
      </p:sp>
      <p:sp>
        <p:nvSpPr>
          <p:cNvPr id="22" name="Text 17"/>
          <p:cNvSpPr/>
          <p:nvPr/>
        </p:nvSpPr>
        <p:spPr>
          <a:xfrm>
            <a:off x="6419088" y="2395728"/>
            <a:ext cx="2176272" cy="76809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Catat kehadiran, hasil pemeriksaan, dan hambatan.</a:t>
            </a:r>
            <a:endParaRPr lang="en-US" sz="1100" dirty="0"/>
          </a:p>
        </p:txBody>
      </p:sp>
      <p:sp>
        <p:nvSpPr>
          <p:cNvPr id="23" name="Shape 18"/>
          <p:cNvSpPr/>
          <p:nvPr/>
        </p:nvSpPr>
        <p:spPr>
          <a:xfrm>
            <a:off x="8833104" y="2286000"/>
            <a:ext cx="164592" cy="201168"/>
          </a:xfrm>
          <a:prstGeom prst="rightArrow">
            <a:avLst/>
          </a:prstGeom>
          <a:solidFill>
            <a:srgbClr val="B9DBF6"/>
          </a:solidFill>
          <a:ln/>
        </p:spPr>
      </p:sp>
      <p:sp>
        <p:nvSpPr>
          <p:cNvPr id="24" name="Shape 19"/>
          <p:cNvSpPr/>
          <p:nvPr/>
        </p:nvSpPr>
        <p:spPr>
          <a:xfrm>
            <a:off x="9015984" y="1517904"/>
            <a:ext cx="2615184" cy="1773936"/>
          </a:xfrm>
          <a:prstGeom prst="roundRect">
            <a:avLst>
              <a:gd name="adj" fmla="val 7216"/>
            </a:avLst>
          </a:prstGeom>
          <a:solidFill>
            <a:srgbClr val="FFFFFF"/>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25" name="Shape 20"/>
          <p:cNvSpPr/>
          <p:nvPr/>
        </p:nvSpPr>
        <p:spPr>
          <a:xfrm>
            <a:off x="9235440" y="1719072"/>
            <a:ext cx="548640" cy="548640"/>
          </a:xfrm>
          <a:prstGeom prst="ellipse">
            <a:avLst>
              <a:gd name="adj" fmla="val 20000"/>
            </a:avLst>
          </a:prstGeom>
          <a:solidFill>
            <a:srgbClr val="7A66B8"/>
          </a:solidFill>
          <a:ln w="12700">
            <a:solidFill>
              <a:srgbClr val="333333"/>
            </a:solidFill>
            <a:prstDash val="solid"/>
          </a:ln>
        </p:spPr>
      </p:sp>
      <p:pic>
        <p:nvPicPr>
          <p:cNvPr id="26" name="Image 3" descr="preencoded.png">    </p:cNvPr>
          <p:cNvPicPr>
            <a:picLocks noChangeAspect="1"/>
          </p:cNvPicPr>
          <p:nvPr/>
        </p:nvPicPr>
        <p:blipFill>
          <a:blip r:embed="rId4"/>
          <a:stretch>
            <a:fillRect/>
          </a:stretch>
        </p:blipFill>
        <p:spPr>
          <a:xfrm>
            <a:off x="9367114" y="1850746"/>
            <a:ext cx="285293" cy="285293"/>
          </a:xfrm>
          <a:prstGeom prst="rect">
            <a:avLst/>
          </a:prstGeom>
        </p:spPr>
      </p:pic>
      <p:sp>
        <p:nvSpPr>
          <p:cNvPr id="27" name="Text 21"/>
          <p:cNvSpPr/>
          <p:nvPr/>
        </p:nvSpPr>
        <p:spPr>
          <a:xfrm>
            <a:off x="9912096" y="1755648"/>
            <a:ext cx="1517904" cy="310896"/>
          </a:xfrm>
          <a:prstGeom prst="rect">
            <a:avLst/>
          </a:prstGeom>
          <a:noFill/>
          <a:ln/>
        </p:spPr>
        <p:txBody>
          <a:bodyPr wrap="square" lIns="0" tIns="0" rIns="0" bIns="0" rtlCol="0" anchor="ctr"/>
          <a:lstStyle/>
          <a:p>
            <a:pPr indent="0" marL="0">
              <a:buNone/>
            </a:pPr>
            <a:r>
              <a:rPr lang="en-US" sz="1400" b="1" dirty="0">
                <a:solidFill>
                  <a:srgbClr val="7A66B8"/>
                </a:solidFill>
                <a:latin typeface="Calibri" pitchFamily="34" charset="0"/>
                <a:ea typeface="Calibri" pitchFamily="34" charset="-122"/>
                <a:cs typeface="Calibri" pitchFamily="34" charset="-120"/>
              </a:rPr>
              <a:t>Perbaiki</a:t>
            </a:r>
            <a:endParaRPr lang="en-US" sz="1400" dirty="0"/>
          </a:p>
        </p:txBody>
      </p:sp>
      <p:sp>
        <p:nvSpPr>
          <p:cNvPr id="28" name="Text 22"/>
          <p:cNvSpPr/>
          <p:nvPr/>
        </p:nvSpPr>
        <p:spPr>
          <a:xfrm>
            <a:off x="9235440" y="2395728"/>
            <a:ext cx="2176272" cy="768096"/>
          </a:xfrm>
          <a:prstGeom prst="rect">
            <a:avLst/>
          </a:prstGeom>
          <a:noFill/>
          <a:ln/>
        </p:spPr>
        <p:txBody>
          <a:bodyPr wrap="square" lIns="0" tIns="0" rIns="0" bIns="0" rtlCol="0" anchor="t"/>
          <a:lstStyle/>
          <a:p>
            <a:pPr indent="0" marL="0">
              <a:buNone/>
            </a:pPr>
            <a:r>
              <a:rPr lang="en-US" sz="1100" dirty="0">
                <a:solidFill>
                  <a:srgbClr val="3E5C77"/>
                </a:solidFill>
                <a:latin typeface="Calibri" pitchFamily="34" charset="0"/>
                <a:ea typeface="Calibri" pitchFamily="34" charset="-122"/>
                <a:cs typeface="Calibri" pitchFamily="34" charset="-120"/>
              </a:rPr>
              <a:t>Refleksi bersama, sesuaikan rencana berikutnya.</a:t>
            </a:r>
            <a:endParaRPr lang="en-US" sz="1100" dirty="0"/>
          </a:p>
        </p:txBody>
      </p:sp>
      <p:sp>
        <p:nvSpPr>
          <p:cNvPr id="29" name="Text 23"/>
          <p:cNvSpPr/>
          <p:nvPr/>
        </p:nvSpPr>
        <p:spPr>
          <a:xfrm>
            <a:off x="585216" y="3529584"/>
            <a:ext cx="7315200" cy="274320"/>
          </a:xfrm>
          <a:prstGeom prst="rect">
            <a:avLst/>
          </a:prstGeom>
          <a:noFill/>
          <a:ln/>
        </p:spPr>
        <p:txBody>
          <a:bodyPr wrap="square" lIns="0" tIns="0" rIns="0" bIns="0" rtlCol="0" anchor="ctr"/>
          <a:lstStyle/>
          <a:p>
            <a:pPr indent="0" marL="0">
              <a:buNone/>
            </a:pPr>
            <a:r>
              <a:rPr lang="en-US" sz="1100" b="1" spc="150" kern="0" dirty="0">
                <a:solidFill>
                  <a:srgbClr val="1E76C8"/>
                </a:solidFill>
                <a:latin typeface="Calibri" pitchFamily="34" charset="0"/>
                <a:ea typeface="Calibri" pitchFamily="34" charset="-122"/>
                <a:cs typeface="Calibri" pitchFamily="34" charset="-120"/>
              </a:rPr>
              <a:t>INDIKATOR KEBERHASILAN KEMITRAAN</a:t>
            </a:r>
            <a:endParaRPr lang="en-US" sz="1100" dirty="0"/>
          </a:p>
        </p:txBody>
      </p:sp>
      <p:sp>
        <p:nvSpPr>
          <p:cNvPr id="30" name="Shape 24"/>
          <p:cNvSpPr/>
          <p:nvPr/>
        </p:nvSpPr>
        <p:spPr>
          <a:xfrm>
            <a:off x="566928" y="3840480"/>
            <a:ext cx="2615184" cy="1517904"/>
          </a:xfrm>
          <a:prstGeom prst="roundRect">
            <a:avLst>
              <a:gd name="adj" fmla="val 8434"/>
            </a:avLst>
          </a:prstGeom>
          <a:solidFill>
            <a:srgbClr val="F7FAFD"/>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1" name="Shape 25"/>
          <p:cNvSpPr/>
          <p:nvPr/>
        </p:nvSpPr>
        <p:spPr>
          <a:xfrm>
            <a:off x="786384" y="4023360"/>
            <a:ext cx="310896" cy="310896"/>
          </a:xfrm>
          <a:prstGeom prst="ellipse">
            <a:avLst/>
          </a:prstGeom>
          <a:solidFill>
            <a:srgbClr val="2FA36B"/>
          </a:solidFill>
          <a:ln/>
        </p:spPr>
      </p:sp>
      <p:sp>
        <p:nvSpPr>
          <p:cNvPr id="32" name="Text 26"/>
          <p:cNvSpPr/>
          <p:nvPr/>
        </p:nvSpPr>
        <p:spPr>
          <a:xfrm>
            <a:off x="786384" y="40233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33" name="Text 27"/>
          <p:cNvSpPr/>
          <p:nvPr/>
        </p:nvSpPr>
        <p:spPr>
          <a:xfrm>
            <a:off x="786384" y="4425696"/>
            <a:ext cx="2176272" cy="457200"/>
          </a:xfrm>
          <a:prstGeom prst="rect">
            <a:avLst/>
          </a:prstGeom>
          <a:noFill/>
          <a:ln/>
        </p:spPr>
        <p:txBody>
          <a:bodyPr wrap="square" lIns="0" tIns="0" rIns="0" bIns="0" rtlCol="0" anchor="t"/>
          <a:lstStyle/>
          <a:p>
            <a:pPr indent="0" marL="0">
              <a:buNone/>
            </a:pPr>
            <a:r>
              <a:rPr lang="en-US" sz="1200" b="1" dirty="0">
                <a:solidFill>
                  <a:srgbClr val="173753"/>
                </a:solidFill>
                <a:latin typeface="Calibri" pitchFamily="34" charset="0"/>
                <a:ea typeface="Calibri" pitchFamily="34" charset="-122"/>
                <a:cs typeface="Calibri" pitchFamily="34" charset="-120"/>
              </a:rPr>
              <a:t>Jumlah indikator PAUD HI terpenuhi</a:t>
            </a:r>
            <a:endParaRPr lang="en-US" sz="1200" dirty="0"/>
          </a:p>
        </p:txBody>
      </p:sp>
      <p:sp>
        <p:nvSpPr>
          <p:cNvPr id="34" name="Text 28"/>
          <p:cNvSpPr/>
          <p:nvPr/>
        </p:nvSpPr>
        <p:spPr>
          <a:xfrm>
            <a:off x="786384" y="4864608"/>
            <a:ext cx="2176272" cy="457200"/>
          </a:xfrm>
          <a:prstGeom prst="rect">
            <a:avLst/>
          </a:prstGeom>
          <a:noFill/>
          <a:ln/>
        </p:spPr>
        <p:txBody>
          <a:bodyPr wrap="square" lIns="0" tIns="0" rIns="0" bIns="0" rtlCol="0" anchor="t"/>
          <a:lstStyle/>
          <a:p>
            <a:pPr indent="0" marL="0">
              <a:buNone/>
            </a:pPr>
            <a:r>
              <a:rPr lang="en-US" sz="1050" dirty="0">
                <a:solidFill>
                  <a:srgbClr val="3E5C77"/>
                </a:solidFill>
                <a:latin typeface="Calibri" pitchFamily="34" charset="0"/>
                <a:ea typeface="Calibri" pitchFamily="34" charset="-122"/>
                <a:cs typeface="Calibri" pitchFamily="34" charset="-120"/>
              </a:rPr>
              <a:t>Target minimal 6 dari 8 indikator, menuju 8 dari 8.</a:t>
            </a:r>
            <a:endParaRPr lang="en-US" sz="1050" dirty="0"/>
          </a:p>
        </p:txBody>
      </p:sp>
      <p:sp>
        <p:nvSpPr>
          <p:cNvPr id="35" name="Shape 29"/>
          <p:cNvSpPr/>
          <p:nvPr/>
        </p:nvSpPr>
        <p:spPr>
          <a:xfrm>
            <a:off x="3383280" y="3840480"/>
            <a:ext cx="2615184" cy="1517904"/>
          </a:xfrm>
          <a:prstGeom prst="roundRect">
            <a:avLst>
              <a:gd name="adj" fmla="val 8434"/>
            </a:avLst>
          </a:prstGeom>
          <a:solidFill>
            <a:srgbClr val="F7FAFD"/>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36" name="Shape 30"/>
          <p:cNvSpPr/>
          <p:nvPr/>
        </p:nvSpPr>
        <p:spPr>
          <a:xfrm>
            <a:off x="3602736" y="4023360"/>
            <a:ext cx="310896" cy="310896"/>
          </a:xfrm>
          <a:prstGeom prst="ellipse">
            <a:avLst/>
          </a:prstGeom>
          <a:solidFill>
            <a:srgbClr val="1E76C8"/>
          </a:solidFill>
          <a:ln/>
        </p:spPr>
      </p:sp>
      <p:sp>
        <p:nvSpPr>
          <p:cNvPr id="37" name="Text 31"/>
          <p:cNvSpPr/>
          <p:nvPr/>
        </p:nvSpPr>
        <p:spPr>
          <a:xfrm>
            <a:off x="3602736" y="40233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8" name="Text 32"/>
          <p:cNvSpPr/>
          <p:nvPr/>
        </p:nvSpPr>
        <p:spPr>
          <a:xfrm>
            <a:off x="3602736" y="4425696"/>
            <a:ext cx="2176272" cy="457200"/>
          </a:xfrm>
          <a:prstGeom prst="rect">
            <a:avLst/>
          </a:prstGeom>
          <a:noFill/>
          <a:ln/>
        </p:spPr>
        <p:txBody>
          <a:bodyPr wrap="square" lIns="0" tIns="0" rIns="0" bIns="0" rtlCol="0" anchor="t"/>
          <a:lstStyle/>
          <a:p>
            <a:pPr indent="0" marL="0">
              <a:buNone/>
            </a:pPr>
            <a:r>
              <a:rPr lang="en-US" sz="1200" b="1" dirty="0">
                <a:solidFill>
                  <a:srgbClr val="173753"/>
                </a:solidFill>
                <a:latin typeface="Calibri" pitchFamily="34" charset="0"/>
                <a:ea typeface="Calibri" pitchFamily="34" charset="-122"/>
                <a:cs typeface="Calibri" pitchFamily="34" charset="-120"/>
              </a:rPr>
              <a:t>Jumlah mitra aktif dengan kesepakatan</a:t>
            </a:r>
            <a:endParaRPr lang="en-US" sz="1200" dirty="0"/>
          </a:p>
        </p:txBody>
      </p:sp>
      <p:sp>
        <p:nvSpPr>
          <p:cNvPr id="39" name="Text 33"/>
          <p:cNvSpPr/>
          <p:nvPr/>
        </p:nvSpPr>
        <p:spPr>
          <a:xfrm>
            <a:off x="3602736" y="4864608"/>
            <a:ext cx="2176272" cy="457200"/>
          </a:xfrm>
          <a:prstGeom prst="rect">
            <a:avLst/>
          </a:prstGeom>
          <a:noFill/>
          <a:ln/>
        </p:spPr>
        <p:txBody>
          <a:bodyPr wrap="square" lIns="0" tIns="0" rIns="0" bIns="0" rtlCol="0" anchor="t"/>
          <a:lstStyle/>
          <a:p>
            <a:pPr indent="0" marL="0">
              <a:buNone/>
            </a:pPr>
            <a:r>
              <a:rPr lang="en-US" sz="1050" dirty="0">
                <a:solidFill>
                  <a:srgbClr val="3E5C77"/>
                </a:solidFill>
                <a:latin typeface="Calibri" pitchFamily="34" charset="0"/>
                <a:ea typeface="Calibri" pitchFamily="34" charset="-122"/>
                <a:cs typeface="Calibri" pitchFamily="34" charset="-120"/>
              </a:rPr>
              <a:t>Minimal tiga mitra memiliki PKS/MoU yang berjalan.</a:t>
            </a:r>
            <a:endParaRPr lang="en-US" sz="1050" dirty="0"/>
          </a:p>
        </p:txBody>
      </p:sp>
      <p:sp>
        <p:nvSpPr>
          <p:cNvPr id="40" name="Shape 34"/>
          <p:cNvSpPr/>
          <p:nvPr/>
        </p:nvSpPr>
        <p:spPr>
          <a:xfrm>
            <a:off x="6199632" y="3840480"/>
            <a:ext cx="2615184" cy="1517904"/>
          </a:xfrm>
          <a:prstGeom prst="roundRect">
            <a:avLst>
              <a:gd name="adj" fmla="val 8434"/>
            </a:avLst>
          </a:prstGeom>
          <a:solidFill>
            <a:srgbClr val="F7FAFD"/>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41" name="Shape 35"/>
          <p:cNvSpPr/>
          <p:nvPr/>
        </p:nvSpPr>
        <p:spPr>
          <a:xfrm>
            <a:off x="6419088" y="4023360"/>
            <a:ext cx="310896" cy="310896"/>
          </a:xfrm>
          <a:prstGeom prst="ellipse">
            <a:avLst/>
          </a:prstGeom>
          <a:solidFill>
            <a:srgbClr val="F5871F"/>
          </a:solidFill>
          <a:ln/>
        </p:spPr>
      </p:sp>
      <p:sp>
        <p:nvSpPr>
          <p:cNvPr id="42" name="Text 36"/>
          <p:cNvSpPr/>
          <p:nvPr/>
        </p:nvSpPr>
        <p:spPr>
          <a:xfrm>
            <a:off x="6419088" y="40233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3" name="Text 37"/>
          <p:cNvSpPr/>
          <p:nvPr/>
        </p:nvSpPr>
        <p:spPr>
          <a:xfrm>
            <a:off x="6419088" y="4425696"/>
            <a:ext cx="2176272" cy="457200"/>
          </a:xfrm>
          <a:prstGeom prst="rect">
            <a:avLst/>
          </a:prstGeom>
          <a:noFill/>
          <a:ln/>
        </p:spPr>
        <p:txBody>
          <a:bodyPr wrap="square" lIns="0" tIns="0" rIns="0" bIns="0" rtlCol="0" anchor="t"/>
          <a:lstStyle/>
          <a:p>
            <a:pPr indent="0" marL="0">
              <a:buNone/>
            </a:pPr>
            <a:r>
              <a:rPr lang="en-US" sz="1200" b="1" dirty="0">
                <a:solidFill>
                  <a:srgbClr val="173753"/>
                </a:solidFill>
                <a:latin typeface="Calibri" pitchFamily="34" charset="0"/>
                <a:ea typeface="Calibri" pitchFamily="34" charset="-122"/>
                <a:cs typeface="Calibri" pitchFamily="34" charset="-120"/>
              </a:rPr>
              <a:t>Keterlibatan orang tua</a:t>
            </a:r>
            <a:endParaRPr lang="en-US" sz="1200" dirty="0"/>
          </a:p>
        </p:txBody>
      </p:sp>
      <p:sp>
        <p:nvSpPr>
          <p:cNvPr id="44" name="Text 38"/>
          <p:cNvSpPr/>
          <p:nvPr/>
        </p:nvSpPr>
        <p:spPr>
          <a:xfrm>
            <a:off x="6419088" y="4864608"/>
            <a:ext cx="2176272" cy="457200"/>
          </a:xfrm>
          <a:prstGeom prst="rect">
            <a:avLst/>
          </a:prstGeom>
          <a:noFill/>
          <a:ln/>
        </p:spPr>
        <p:txBody>
          <a:bodyPr wrap="square" lIns="0" tIns="0" rIns="0" bIns="0" rtlCol="0" anchor="t"/>
          <a:lstStyle/>
          <a:p>
            <a:pPr indent="0" marL="0">
              <a:buNone/>
            </a:pPr>
            <a:r>
              <a:rPr lang="en-US" sz="1050" dirty="0">
                <a:solidFill>
                  <a:srgbClr val="3E5C77"/>
                </a:solidFill>
                <a:latin typeface="Calibri" pitchFamily="34" charset="0"/>
                <a:ea typeface="Calibri" pitchFamily="34" charset="-122"/>
                <a:cs typeface="Calibri" pitchFamily="34" charset="-120"/>
              </a:rPr>
              <a:t>Kehadiran kelas orang tua meningkat setiap semester.</a:t>
            </a:r>
            <a:endParaRPr lang="en-US" sz="1050" dirty="0"/>
          </a:p>
        </p:txBody>
      </p:sp>
      <p:sp>
        <p:nvSpPr>
          <p:cNvPr id="45" name="Shape 39"/>
          <p:cNvSpPr/>
          <p:nvPr/>
        </p:nvSpPr>
        <p:spPr>
          <a:xfrm>
            <a:off x="9015984" y="3840480"/>
            <a:ext cx="2615184" cy="1517904"/>
          </a:xfrm>
          <a:prstGeom prst="roundRect">
            <a:avLst>
              <a:gd name="adj" fmla="val 8434"/>
            </a:avLst>
          </a:prstGeom>
          <a:solidFill>
            <a:srgbClr val="F7FAFD"/>
          </a:solidFill>
          <a:ln w="12700">
            <a:solidFill>
              <a:srgbClr val="E1EBF3"/>
            </a:solidFill>
            <a:prstDash val="solid"/>
          </a:ln>
          <a:effectLst>
            <a:outerShdw sx="100000" sy="100000" kx="0" ky="0" algn="bl" rotWithShape="0" blurRad="177800" dist="38100" dir="5400000">
              <a:srgbClr val="0F3352">
                <a:alpha val="10000"/>
              </a:srgbClr>
            </a:outerShdw>
          </a:effectLst>
        </p:spPr>
      </p:sp>
      <p:sp>
        <p:nvSpPr>
          <p:cNvPr id="46" name="Shape 40"/>
          <p:cNvSpPr/>
          <p:nvPr/>
        </p:nvSpPr>
        <p:spPr>
          <a:xfrm>
            <a:off x="9235440" y="4023360"/>
            <a:ext cx="310896" cy="310896"/>
          </a:xfrm>
          <a:prstGeom prst="ellipse">
            <a:avLst/>
          </a:prstGeom>
          <a:solidFill>
            <a:srgbClr val="7A66B8"/>
          </a:solidFill>
          <a:ln/>
        </p:spPr>
      </p:sp>
      <p:sp>
        <p:nvSpPr>
          <p:cNvPr id="47" name="Text 41"/>
          <p:cNvSpPr/>
          <p:nvPr/>
        </p:nvSpPr>
        <p:spPr>
          <a:xfrm>
            <a:off x="9235440" y="40233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8" name="Text 42"/>
          <p:cNvSpPr/>
          <p:nvPr/>
        </p:nvSpPr>
        <p:spPr>
          <a:xfrm>
            <a:off x="9235440" y="4425696"/>
            <a:ext cx="2176272" cy="457200"/>
          </a:xfrm>
          <a:prstGeom prst="rect">
            <a:avLst/>
          </a:prstGeom>
          <a:noFill/>
          <a:ln/>
        </p:spPr>
        <p:txBody>
          <a:bodyPr wrap="square" lIns="0" tIns="0" rIns="0" bIns="0" rtlCol="0" anchor="t"/>
          <a:lstStyle/>
          <a:p>
            <a:pPr indent="0" marL="0">
              <a:buNone/>
            </a:pPr>
            <a:r>
              <a:rPr lang="en-US" sz="1200" b="1" dirty="0">
                <a:solidFill>
                  <a:srgbClr val="173753"/>
                </a:solidFill>
                <a:latin typeface="Calibri" pitchFamily="34" charset="0"/>
                <a:ea typeface="Calibri" pitchFamily="34" charset="-122"/>
                <a:cs typeface="Calibri" pitchFamily="34" charset="-120"/>
              </a:rPr>
              <a:t>Ketepatan data Dapodik</a:t>
            </a:r>
            <a:endParaRPr lang="en-US" sz="1200" dirty="0"/>
          </a:p>
        </p:txBody>
      </p:sp>
      <p:sp>
        <p:nvSpPr>
          <p:cNvPr id="49" name="Text 43"/>
          <p:cNvSpPr/>
          <p:nvPr/>
        </p:nvSpPr>
        <p:spPr>
          <a:xfrm>
            <a:off x="9235440" y="4864608"/>
            <a:ext cx="2176272" cy="457200"/>
          </a:xfrm>
          <a:prstGeom prst="rect">
            <a:avLst/>
          </a:prstGeom>
          <a:noFill/>
          <a:ln/>
        </p:spPr>
        <p:txBody>
          <a:bodyPr wrap="square" lIns="0" tIns="0" rIns="0" bIns="0" rtlCol="0" anchor="t"/>
          <a:lstStyle/>
          <a:p>
            <a:pPr indent="0" marL="0">
              <a:buNone/>
            </a:pPr>
            <a:r>
              <a:rPr lang="en-US" sz="1050" dirty="0">
                <a:solidFill>
                  <a:srgbClr val="3E5C77"/>
                </a:solidFill>
                <a:latin typeface="Calibri" pitchFamily="34" charset="0"/>
                <a:ea typeface="Calibri" pitchFamily="34" charset="-122"/>
                <a:cs typeface="Calibri" pitchFamily="34" charset="-120"/>
              </a:rPr>
              <a:t>Capaian PAUD HI diperbarui tepat waktu setiap semester.</a:t>
            </a:r>
            <a:endParaRPr lang="en-US" sz="1050" dirty="0"/>
          </a:p>
        </p:txBody>
      </p:sp>
      <p:sp>
        <p:nvSpPr>
          <p:cNvPr id="50" name="Shape 44"/>
          <p:cNvSpPr/>
          <p:nvPr/>
        </p:nvSpPr>
        <p:spPr>
          <a:xfrm>
            <a:off x="566928" y="5486400"/>
            <a:ext cx="11057839" cy="658368"/>
          </a:xfrm>
          <a:prstGeom prst="roundRect">
            <a:avLst>
              <a:gd name="adj" fmla="val 19444"/>
            </a:avLst>
          </a:prstGeom>
          <a:solidFill>
            <a:srgbClr val="DCEDFB"/>
          </a:solidFill>
          <a:ln w="12700">
            <a:solidFill>
              <a:srgbClr val="B9DBF6"/>
            </a:solidFill>
            <a:prstDash val="solid"/>
          </a:ln>
          <a:effectLst>
            <a:outerShdw sx="100000" sy="100000" kx="0" ky="0" algn="bl" rotWithShape="0" blurRad="177800" dist="38100" dir="5400000">
              <a:srgbClr val="0F3352">
                <a:alpha val="10000"/>
              </a:srgbClr>
            </a:outerShdw>
          </a:effectLst>
        </p:spPr>
      </p:sp>
      <p:sp>
        <p:nvSpPr>
          <p:cNvPr id="51" name="Text 45"/>
          <p:cNvSpPr/>
          <p:nvPr/>
        </p:nvSpPr>
        <p:spPr>
          <a:xfrm>
            <a:off x="877824" y="5541264"/>
            <a:ext cx="10436047" cy="548640"/>
          </a:xfrm>
          <a:prstGeom prst="rect">
            <a:avLst/>
          </a:prstGeom>
          <a:noFill/>
          <a:ln/>
        </p:spPr>
        <p:txBody>
          <a:bodyPr wrap="square" lIns="0" tIns="0" rIns="0" bIns="0" rtlCol="0" anchor="ctr"/>
          <a:lstStyle/>
          <a:p>
            <a:pPr algn="ctr" indent="0" marL="0">
              <a:buNone/>
            </a:pPr>
            <a:r>
              <a:rPr lang="en-US" sz="1250" dirty="0">
                <a:solidFill>
                  <a:srgbClr val="173753"/>
                </a:solidFill>
                <a:latin typeface="Calibri" pitchFamily="34" charset="0"/>
                <a:ea typeface="Calibri" pitchFamily="34" charset="-122"/>
                <a:cs typeface="Calibri" pitchFamily="34" charset="-120"/>
              </a:rPr>
              <a:t>Monitoring bukan mencari kesalahan, melainkan menjaga agar layanan yang sudah baik tidak berhenti di tengah jalan.</a:t>
            </a:r>
            <a:endParaRPr lang="en-US" sz="1250" dirty="0"/>
          </a:p>
        </p:txBody>
      </p:sp>
      <p:sp>
        <p:nvSpPr>
          <p:cNvPr id="52" name="Text 46"/>
          <p:cNvSpPr/>
          <p:nvPr/>
        </p:nvSpPr>
        <p:spPr>
          <a:xfrm>
            <a:off x="566928" y="6419088"/>
            <a:ext cx="7315200" cy="274320"/>
          </a:xfrm>
          <a:prstGeom prst="rect">
            <a:avLst/>
          </a:prstGeom>
          <a:noFill/>
          <a:ln/>
        </p:spPr>
        <p:txBody>
          <a:bodyPr wrap="square" lIns="0" tIns="0" rIns="0" bIns="0" rtlCol="0" anchor="ctr"/>
          <a:lstStyle/>
          <a:p>
            <a:pPr indent="0" marL="0">
              <a:buNone/>
            </a:pPr>
            <a:r>
              <a:rPr lang="en-US" sz="900" dirty="0">
                <a:solidFill>
                  <a:srgbClr val="7A93A8"/>
                </a:solidFill>
                <a:latin typeface="Calibri" pitchFamily="34" charset="0"/>
                <a:ea typeface="Calibri" pitchFamily="34" charset="-122"/>
                <a:cs typeface="Calibri" pitchFamily="34" charset="-120"/>
              </a:rPr>
              <a:t>Kemitraan Strategis &amp; PAUD Holistik Integratif</a:t>
            </a:r>
            <a:endParaRPr lang="en-US" sz="900" dirty="0"/>
          </a:p>
        </p:txBody>
      </p:sp>
      <p:sp>
        <p:nvSpPr>
          <p:cNvPr id="53" name="Text 47"/>
          <p:cNvSpPr/>
          <p:nvPr/>
        </p:nvSpPr>
        <p:spPr>
          <a:xfrm>
            <a:off x="11185855" y="6419088"/>
            <a:ext cx="457200" cy="274320"/>
          </a:xfrm>
          <a:prstGeom prst="rect">
            <a:avLst/>
          </a:prstGeom>
          <a:noFill/>
          <a:ln/>
        </p:spPr>
        <p:txBody>
          <a:bodyPr wrap="square" lIns="0" tIns="0" rIns="0" bIns="0" rtlCol="0" anchor="ctr"/>
          <a:lstStyle/>
          <a:p>
            <a:pPr algn="r" indent="0" marL="0">
              <a:buNone/>
            </a:pPr>
            <a:r>
              <a:rPr lang="en-US" sz="1000" b="1" dirty="0">
                <a:solidFill>
                  <a:srgbClr val="7A93A8"/>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B355F"/>
        </a:solidFill>
      </p:bgPr>
    </p:bg>
    <p:spTree>
      <p:nvGrpSpPr>
        <p:cNvPr id="1" name=""/>
        <p:cNvGrpSpPr/>
        <p:nvPr/>
      </p:nvGrpSpPr>
      <p:grpSpPr>
        <a:xfrm>
          <a:off x="0" y="0"/>
          <a:ext cx="0" cy="0"/>
          <a:chOff x="0" y="0"/>
          <a:chExt cx="0" cy="0"/>
        </a:xfrm>
      </p:grpSpPr>
      <p:sp>
        <p:nvSpPr>
          <p:cNvPr id="2" name="Shape 0"/>
          <p:cNvSpPr/>
          <p:nvPr/>
        </p:nvSpPr>
        <p:spPr>
          <a:xfrm>
            <a:off x="7680960" y="-2194560"/>
            <a:ext cx="6949440" cy="6949440"/>
          </a:xfrm>
          <a:prstGeom prst="ellipse">
            <a:avLst/>
          </a:prstGeom>
          <a:solidFill>
            <a:srgbClr val="2FA36B">
              <a:alpha val="38000"/>
            </a:srgbClr>
          </a:solidFill>
          <a:ln/>
        </p:spPr>
      </p:sp>
      <p:sp>
        <p:nvSpPr>
          <p:cNvPr id="3" name="Shape 1"/>
          <p:cNvSpPr/>
          <p:nvPr/>
        </p:nvSpPr>
        <p:spPr>
          <a:xfrm>
            <a:off x="-2011680" y="3108960"/>
            <a:ext cx="4023360" cy="4023360"/>
          </a:xfrm>
          <a:prstGeom prst="ellipse">
            <a:avLst/>
          </a:prstGeom>
          <a:solidFill>
            <a:srgbClr val="F5871F">
              <a:alpha val="32000"/>
            </a:srgbClr>
          </a:solidFill>
          <a:ln/>
        </p:spPr>
      </p:sp>
      <p:sp>
        <p:nvSpPr>
          <p:cNvPr id="4" name="Shape 2"/>
          <p:cNvSpPr/>
          <p:nvPr/>
        </p:nvSpPr>
        <p:spPr>
          <a:xfrm>
            <a:off x="6378801" y="1655064"/>
            <a:ext cx="5328263" cy="3456432"/>
          </a:xfrm>
          <a:prstGeom prst="roundRect">
            <a:avLst>
              <a:gd name="adj" fmla="val 3704"/>
            </a:avLst>
          </a:prstGeom>
          <a:solidFill>
            <a:srgbClr val="FFFFFF"/>
          </a:solidFill>
          <a:ln w="12700">
            <a:solidFill>
              <a:srgbClr val="333333"/>
            </a:solidFill>
            <a:prstDash val="solid"/>
          </a:ln>
          <a:effectLst>
            <a:outerShdw sx="100000" sy="100000" kx="0" ky="0" algn="bl" rotWithShape="0" blurRad="177800" dist="38100" dir="5400000">
              <a:srgbClr val="0F3352">
                <a:alpha val="10000"/>
              </a:srgbClr>
            </a:outerShdw>
          </a:effectLst>
        </p:spPr>
      </p:sp>
      <p:pic>
        <p:nvPicPr>
          <p:cNvPr id="5" name="Image 0" descr="preencoded.png">    </p:cNvPr>
          <p:cNvPicPr>
            <a:picLocks noChangeAspect="1"/>
          </p:cNvPicPr>
          <p:nvPr/>
        </p:nvPicPr>
        <p:blipFill>
          <a:blip r:embed="rId1"/>
          <a:stretch>
            <a:fillRect/>
          </a:stretch>
        </p:blipFill>
        <p:spPr>
          <a:xfrm>
            <a:off x="6461097" y="1737360"/>
            <a:ext cx="5163671" cy="3291840"/>
          </a:xfrm>
          <a:prstGeom prst="rect">
            <a:avLst/>
          </a:prstGeom>
        </p:spPr>
      </p:pic>
      <p:sp>
        <p:nvSpPr>
          <p:cNvPr id="6" name="Text 3"/>
          <p:cNvSpPr/>
          <p:nvPr/>
        </p:nvSpPr>
        <p:spPr>
          <a:xfrm>
            <a:off x="566928" y="1005840"/>
            <a:ext cx="6400800" cy="384048"/>
          </a:xfrm>
          <a:prstGeom prst="rect">
            <a:avLst/>
          </a:prstGeom>
          <a:noFill/>
          <a:ln/>
        </p:spPr>
        <p:txBody>
          <a:bodyPr wrap="square" lIns="0" tIns="0" rIns="0" bIns="0" rtlCol="0" anchor="ctr"/>
          <a:lstStyle/>
          <a:p>
            <a:pPr indent="0" marL="0">
              <a:buNone/>
            </a:pPr>
            <a:r>
              <a:rPr lang="en-US" sz="1400" b="1" spc="100" kern="0" dirty="0">
                <a:solidFill>
                  <a:srgbClr val="FFD9B3"/>
                </a:solidFill>
                <a:latin typeface="Calibri" pitchFamily="34" charset="0"/>
                <a:ea typeface="Calibri" pitchFamily="34" charset="-122"/>
                <a:cs typeface="Calibri" pitchFamily="34" charset="-120"/>
              </a:rPr>
              <a:t>Mari Wujudkan Bersama</a:t>
            </a:r>
            <a:endParaRPr lang="en-US" sz="1400" dirty="0"/>
          </a:p>
        </p:txBody>
      </p:sp>
      <p:sp>
        <p:nvSpPr>
          <p:cNvPr id="7" name="Text 4"/>
          <p:cNvSpPr/>
          <p:nvPr/>
        </p:nvSpPr>
        <p:spPr>
          <a:xfrm>
            <a:off x="566928" y="1426464"/>
            <a:ext cx="5806440" cy="1554480"/>
          </a:xfrm>
          <a:prstGeom prst="rect">
            <a:avLst/>
          </a:prstGeom>
          <a:noFill/>
          <a:ln/>
        </p:spPr>
        <p:txBody>
          <a:bodyPr wrap="square" lIns="0" tIns="0" rIns="0" bIns="0" rtlCol="0" anchor="ctr"/>
          <a:lstStyle/>
          <a:p>
            <a:pPr indent="0" marL="0">
              <a:lnSpc>
                <a:spcPts val="3100"/>
              </a:lnSpc>
              <a:buNone/>
            </a:pPr>
            <a:r>
              <a:rPr lang="en-US" sz="2700" b="1" dirty="0">
                <a:solidFill>
                  <a:srgbClr val="FFFFFF"/>
                </a:solidFill>
                <a:latin typeface="Calibri" pitchFamily="34" charset="0"/>
                <a:ea typeface="Calibri" pitchFamily="34" charset="-122"/>
                <a:cs typeface="Calibri" pitchFamily="34" charset="-120"/>
              </a:rPr>
              <a:t>Anak Indonesia Tumbuh Utuh,</a:t>
            </a:r>
            <a:endParaRPr lang="en-US" sz="2700" dirty="0"/>
          </a:p>
          <a:p>
            <a:pPr indent="0" marL="0">
              <a:lnSpc>
                <a:spcPts val="3100"/>
              </a:lnSpc>
              <a:buNone/>
            </a:pPr>
            <a:r>
              <a:rPr lang="en-US" sz="2700" b="1" dirty="0">
                <a:solidFill>
                  <a:srgbClr val="FFFFFF"/>
                </a:solidFill>
                <a:latin typeface="Calibri" pitchFamily="34" charset="0"/>
                <a:ea typeface="Calibri" pitchFamily="34" charset="-122"/>
                <a:cs typeface="Calibri" pitchFamily="34" charset="-120"/>
              </a:rPr>
              <a:t>Layanan PAUD Bermutu</a:t>
            </a:r>
            <a:endParaRPr lang="en-US" sz="2700" dirty="0"/>
          </a:p>
        </p:txBody>
      </p:sp>
      <p:sp>
        <p:nvSpPr>
          <p:cNvPr id="8" name="Text 5"/>
          <p:cNvSpPr/>
          <p:nvPr/>
        </p:nvSpPr>
        <p:spPr>
          <a:xfrm>
            <a:off x="566928" y="3127248"/>
            <a:ext cx="5577840" cy="914400"/>
          </a:xfrm>
          <a:prstGeom prst="rect">
            <a:avLst/>
          </a:prstGeom>
          <a:noFill/>
          <a:ln/>
        </p:spPr>
        <p:txBody>
          <a:bodyPr wrap="square" lIns="0" tIns="0" rIns="0" bIns="0" rtlCol="0" anchor="t"/>
          <a:lstStyle/>
          <a:p>
            <a:pPr indent="0" marL="0">
              <a:buNone/>
            </a:pPr>
            <a:r>
              <a:rPr lang="en-US" sz="1300" dirty="0">
                <a:solidFill>
                  <a:srgbClr val="B9DBF6"/>
                </a:solidFill>
                <a:latin typeface="Calibri" pitchFamily="34" charset="0"/>
                <a:ea typeface="Calibri" pitchFamily="34" charset="-122"/>
                <a:cs typeface="Calibri" pitchFamily="34" charset="-120"/>
              </a:rPr>
              <a:t>Kemitraan strategis bukan menambah pekerjaan satuan PAUD — ia membagi beban, memperluas dukungan, dan memastikan tidak ada satu pun kebutuhan anak yang terlewat.</a:t>
            </a:r>
            <a:endParaRPr lang="en-US" sz="1300" dirty="0"/>
          </a:p>
        </p:txBody>
      </p:sp>
      <p:sp>
        <p:nvSpPr>
          <p:cNvPr id="9" name="Shape 6"/>
          <p:cNvSpPr/>
          <p:nvPr/>
        </p:nvSpPr>
        <p:spPr>
          <a:xfrm>
            <a:off x="566928" y="4059936"/>
            <a:ext cx="2461565" cy="402336"/>
          </a:xfrm>
          <a:prstGeom prst="roundRect">
            <a:avLst>
              <a:gd name="adj" fmla="val 50000"/>
            </a:avLst>
          </a:prstGeom>
          <a:solidFill>
            <a:srgbClr val="F5871F"/>
          </a:solidFill>
          <a:ln/>
        </p:spPr>
      </p:sp>
      <p:sp>
        <p:nvSpPr>
          <p:cNvPr id="10" name="Text 7"/>
          <p:cNvSpPr/>
          <p:nvPr/>
        </p:nvSpPr>
        <p:spPr>
          <a:xfrm>
            <a:off x="566928" y="4059936"/>
            <a:ext cx="2461565"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Petakan mitra minggu ini</a:t>
            </a:r>
            <a:endParaRPr lang="en-US" sz="1150" dirty="0"/>
          </a:p>
        </p:txBody>
      </p:sp>
      <p:sp>
        <p:nvSpPr>
          <p:cNvPr id="11" name="Shape 8"/>
          <p:cNvSpPr/>
          <p:nvPr/>
        </p:nvSpPr>
        <p:spPr>
          <a:xfrm>
            <a:off x="3193085" y="4059936"/>
            <a:ext cx="2551176" cy="402336"/>
          </a:xfrm>
          <a:prstGeom prst="roundRect">
            <a:avLst>
              <a:gd name="adj" fmla="val 50000"/>
            </a:avLst>
          </a:prstGeom>
          <a:solidFill>
            <a:srgbClr val="2FA36B"/>
          </a:solidFill>
          <a:ln/>
        </p:spPr>
      </p:sp>
      <p:sp>
        <p:nvSpPr>
          <p:cNvPr id="12" name="Text 9"/>
          <p:cNvSpPr/>
          <p:nvPr/>
        </p:nvSpPr>
        <p:spPr>
          <a:xfrm>
            <a:off x="3193085" y="4059936"/>
            <a:ext cx="2551176"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Mulai dari satu indikator</a:t>
            </a:r>
            <a:endParaRPr lang="en-US" sz="1150" dirty="0"/>
          </a:p>
        </p:txBody>
      </p:sp>
      <p:sp>
        <p:nvSpPr>
          <p:cNvPr id="13" name="Shape 10"/>
          <p:cNvSpPr/>
          <p:nvPr/>
        </p:nvSpPr>
        <p:spPr>
          <a:xfrm>
            <a:off x="566928" y="4572000"/>
            <a:ext cx="2640787" cy="402336"/>
          </a:xfrm>
          <a:prstGeom prst="roundRect">
            <a:avLst>
              <a:gd name="adj" fmla="val 50000"/>
            </a:avLst>
          </a:prstGeom>
          <a:solidFill>
            <a:srgbClr val="1F9C9C"/>
          </a:solidFill>
          <a:ln/>
        </p:spPr>
      </p:sp>
      <p:sp>
        <p:nvSpPr>
          <p:cNvPr id="14" name="Text 11"/>
          <p:cNvSpPr/>
          <p:nvPr/>
        </p:nvSpPr>
        <p:spPr>
          <a:xfrm>
            <a:off x="566928" y="4572000"/>
            <a:ext cx="2640787" cy="402336"/>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Catat, laporkan, apresiasi</a:t>
            </a:r>
            <a:endParaRPr lang="en-US" sz="1150" dirty="0"/>
          </a:p>
        </p:txBody>
      </p:sp>
      <p:sp>
        <p:nvSpPr>
          <p:cNvPr id="15" name="Text 12"/>
          <p:cNvSpPr/>
          <p:nvPr/>
        </p:nvSpPr>
        <p:spPr>
          <a:xfrm>
            <a:off x="566928" y="5212080"/>
            <a:ext cx="548640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Terima kasih</a:t>
            </a:r>
            <a:endParaRPr lang="en-US" sz="2600" dirty="0"/>
          </a:p>
        </p:txBody>
      </p:sp>
      <p:sp>
        <p:nvSpPr>
          <p:cNvPr id="16" name="Text 13"/>
          <p:cNvSpPr/>
          <p:nvPr/>
        </p:nvSpPr>
        <p:spPr>
          <a:xfrm>
            <a:off x="566928" y="5669280"/>
            <a:ext cx="5486400" cy="292608"/>
          </a:xfrm>
          <a:prstGeom prst="rect">
            <a:avLst/>
          </a:prstGeom>
          <a:noFill/>
          <a:ln/>
        </p:spPr>
        <p:txBody>
          <a:bodyPr wrap="square" lIns="0" tIns="0" rIns="0" bIns="0" rtlCol="0" anchor="ctr"/>
          <a:lstStyle/>
          <a:p>
            <a:pPr indent="0" marL="0">
              <a:buNone/>
            </a:pPr>
            <a:r>
              <a:rPr lang="en-US" sz="1200" dirty="0">
                <a:solidFill>
                  <a:srgbClr val="B9DBF6"/>
                </a:solidFill>
                <a:latin typeface="Calibri" pitchFamily="34" charset="0"/>
                <a:ea typeface="Calibri" pitchFamily="34" charset="-122"/>
                <a:cs typeface="Calibri" pitchFamily="34" charset="-120"/>
              </a:rPr>
              <a:t>Direktorat Pendidikan Anak Usia Dini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Penguatan Kemitraan Strategis dan PAUD Holistik Integratif</dc:title>
  <dc:subject>PptxGenJS Presentation</dc:subject>
  <dc:creator>Direktorat Pendidikan Anak Usia Dini</dc:creator>
  <cp:lastModifiedBy>Direktorat Pendidikan Anak Usia Dini</cp:lastModifiedBy>
  <cp:revision>1</cp:revision>
  <dcterms:created xsi:type="dcterms:W3CDTF">2026-07-28T11:01:26Z</dcterms:created>
  <dcterms:modified xsi:type="dcterms:W3CDTF">2026-07-28T11:01:26Z</dcterms:modified>
</cp:coreProperties>
</file>